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09"/>
  </p:notesMasterIdLst>
  <p:sldIdLst>
    <p:sldId id="256" r:id="rId3"/>
    <p:sldId id="525" r:id="rId4"/>
    <p:sldId id="257" r:id="rId5"/>
    <p:sldId id="526" r:id="rId6"/>
    <p:sldId id="258" r:id="rId7"/>
    <p:sldId id="354" r:id="rId8"/>
    <p:sldId id="356" r:id="rId9"/>
    <p:sldId id="340" r:id="rId10"/>
    <p:sldId id="341" r:id="rId11"/>
    <p:sldId id="357" r:id="rId12"/>
    <p:sldId id="343" r:id="rId13"/>
    <p:sldId id="345" r:id="rId14"/>
    <p:sldId id="344" r:id="rId15"/>
    <p:sldId id="380" r:id="rId16"/>
    <p:sldId id="382" r:id="rId17"/>
    <p:sldId id="527" r:id="rId18"/>
    <p:sldId id="346" r:id="rId19"/>
    <p:sldId id="359" r:id="rId20"/>
    <p:sldId id="347" r:id="rId21"/>
    <p:sldId id="361" r:id="rId22"/>
    <p:sldId id="529" r:id="rId23"/>
    <p:sldId id="528" r:id="rId24"/>
    <p:sldId id="351" r:id="rId25"/>
    <p:sldId id="363" r:id="rId26"/>
    <p:sldId id="352" r:id="rId27"/>
    <p:sldId id="364" r:id="rId28"/>
    <p:sldId id="365" r:id="rId29"/>
    <p:sldId id="366" r:id="rId30"/>
    <p:sldId id="367" r:id="rId31"/>
    <p:sldId id="458" r:id="rId32"/>
    <p:sldId id="459" r:id="rId33"/>
    <p:sldId id="460" r:id="rId34"/>
    <p:sldId id="461" r:id="rId35"/>
    <p:sldId id="514" r:id="rId36"/>
    <p:sldId id="462" r:id="rId37"/>
    <p:sldId id="477" r:id="rId38"/>
    <p:sldId id="463" r:id="rId39"/>
    <p:sldId id="515" r:id="rId40"/>
    <p:sldId id="516" r:id="rId41"/>
    <p:sldId id="517" r:id="rId42"/>
    <p:sldId id="259" r:id="rId43"/>
    <p:sldId id="368" r:id="rId44"/>
    <p:sldId id="261" r:id="rId45"/>
    <p:sldId id="369" r:id="rId46"/>
    <p:sldId id="266" r:id="rId47"/>
    <p:sldId id="267" r:id="rId48"/>
    <p:sldId id="268" r:id="rId49"/>
    <p:sldId id="269" r:id="rId50"/>
    <p:sldId id="270" r:id="rId51"/>
    <p:sldId id="271" r:id="rId52"/>
    <p:sldId id="272" r:id="rId53"/>
    <p:sldId id="519" r:id="rId54"/>
    <p:sldId id="348" r:id="rId55"/>
    <p:sldId id="349" r:id="rId56"/>
    <p:sldId id="381" r:id="rId57"/>
    <p:sldId id="520" r:id="rId58"/>
    <p:sldId id="521" r:id="rId59"/>
    <p:sldId id="353" r:id="rId60"/>
    <p:sldId id="522" r:id="rId61"/>
    <p:sldId id="523" r:id="rId62"/>
    <p:sldId id="383" r:id="rId63"/>
    <p:sldId id="384" r:id="rId64"/>
    <p:sldId id="524" r:id="rId65"/>
    <p:sldId id="274" r:id="rId66"/>
    <p:sldId id="370" r:id="rId67"/>
    <p:sldId id="276" r:id="rId68"/>
    <p:sldId id="277" r:id="rId69"/>
    <p:sldId id="278" r:id="rId70"/>
    <p:sldId id="279" r:id="rId71"/>
    <p:sldId id="281" r:id="rId72"/>
    <p:sldId id="371" r:id="rId73"/>
    <p:sldId id="287" r:id="rId74"/>
    <p:sldId id="288" r:id="rId75"/>
    <p:sldId id="291" r:id="rId76"/>
    <p:sldId id="293" r:id="rId77"/>
    <p:sldId id="372" r:id="rId78"/>
    <p:sldId id="296" r:id="rId79"/>
    <p:sldId id="297" r:id="rId80"/>
    <p:sldId id="298" r:id="rId81"/>
    <p:sldId id="299" r:id="rId82"/>
    <p:sldId id="374" r:id="rId83"/>
    <p:sldId id="301" r:id="rId84"/>
    <p:sldId id="302" r:id="rId85"/>
    <p:sldId id="303" r:id="rId86"/>
    <p:sldId id="304" r:id="rId87"/>
    <p:sldId id="306" r:id="rId88"/>
    <p:sldId id="307" r:id="rId89"/>
    <p:sldId id="308" r:id="rId90"/>
    <p:sldId id="375" r:id="rId91"/>
    <p:sldId id="309" r:id="rId92"/>
    <p:sldId id="311" r:id="rId93"/>
    <p:sldId id="312" r:id="rId94"/>
    <p:sldId id="313" r:id="rId95"/>
    <p:sldId id="316" r:id="rId96"/>
    <p:sldId id="317" r:id="rId97"/>
    <p:sldId id="318" r:id="rId98"/>
    <p:sldId id="320" r:id="rId99"/>
    <p:sldId id="321" r:id="rId100"/>
    <p:sldId id="323" r:id="rId101"/>
    <p:sldId id="324" r:id="rId102"/>
    <p:sldId id="326" r:id="rId103"/>
    <p:sldId id="327" r:id="rId104"/>
    <p:sldId id="328" r:id="rId105"/>
    <p:sldId id="329" r:id="rId106"/>
    <p:sldId id="530" r:id="rId107"/>
    <p:sldId id="339" r:id="rId10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79" d="100"/>
          <a:sy n="79" d="100"/>
        </p:scale>
        <p:origin x="-715" y="-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A2793-43AC-4336-86A1-0D4B2D0C5A7A}" type="datetimeFigureOut">
              <a:rPr lang="en-IN" smtClean="0"/>
              <a:pPr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C1B4-A66D-4130-804F-4F6AE04C0A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7240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xmlns="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xmlns="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xmlns="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xmlns="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xmlns="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xmlns="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xmlns="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xmlns="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xmlns="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xmlns="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xmlns="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xmlns="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xmlns="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xmlns="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0BE113-4F3E-D973-E41D-554DF08E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xmlns="" id="{3A820074-A5B1-7CFB-12EC-6968CC3DCB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xmlns="" id="{FB1C2667-D4BA-9B0E-ED89-BF8744EAE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9179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4511B9-4F08-5044-D1D8-59A8CAAD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xmlns="" id="{4FBAA2F5-9B33-D7B0-A0DD-5B56E1B86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xmlns="" id="{B4283CA4-155D-03F3-CF17-623B0F1A4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1081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B32B62-8F4E-1AFC-7097-1C27E34BA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xmlns="" id="{52A12F4A-10CF-9720-A822-CF9391DBF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xmlns="" id="{B27E9E30-6FD5-79FE-24A3-9790A6C2E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79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spc="-5" dirty="0">
                <a:latin typeface="Carlito"/>
                <a:cs typeface="Carlito"/>
              </a:rPr>
              <a:t>Green </a:t>
            </a:r>
            <a:r>
              <a:rPr lang="en-GB" sz="2000" spc="-10" dirty="0">
                <a:latin typeface="Carlito"/>
                <a:cs typeface="Carlito"/>
              </a:rPr>
              <a:t>Threads</a:t>
            </a:r>
            <a:r>
              <a:rPr lang="en-IN" sz="1200" spc="0" baseline="0" dirty="0">
                <a:latin typeface="+mn-lt"/>
                <a:cs typeface="+mn-cs"/>
              </a:rPr>
              <a:t> – special threads that are managed by thread libraries or by virtual machine, instead of OS.</a:t>
            </a:r>
            <a:endParaRPr lang="en-GB" sz="2000" dirty="0">
              <a:latin typeface="Carlito"/>
              <a:cs typeface="Carli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96C1B4-A66D-4130-804F-4F6AE04C0A72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84134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xmlns="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xmlns="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xmlns="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xmlns="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xmlns="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xmlns="" id="{95FB8F64-88BB-4559-9134-E35CDEC20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xmlns="" id="{E7CC628D-83F5-4EEA-8C50-0B294DCF1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xmlns="" id="{4F97B3F5-0425-41C0-BA0E-2A5645F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64126" y="2490927"/>
            <a:ext cx="3063747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1F3863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4536A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4"/>
            <a:ext cx="9144000" cy="2387600"/>
          </a:xfrm>
        </p:spPr>
        <p:txBody>
          <a:bodyPr anchor="b"/>
          <a:lstStyle>
            <a:lvl1pPr algn="ctr">
              <a:defRPr sz="7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900"/>
            </a:lvl1pPr>
            <a:lvl2pPr marL="544251" indent="0" algn="ctr">
              <a:buNone/>
              <a:defRPr sz="2400"/>
            </a:lvl2pPr>
            <a:lvl3pPr marL="1088502" indent="0" algn="ctr">
              <a:buNone/>
              <a:defRPr sz="2100"/>
            </a:lvl3pPr>
            <a:lvl4pPr marL="1632753" indent="0" algn="ctr">
              <a:buNone/>
              <a:defRPr sz="1900"/>
            </a:lvl4pPr>
            <a:lvl5pPr marL="2177004" indent="0" algn="ctr">
              <a:buNone/>
              <a:defRPr sz="1900"/>
            </a:lvl5pPr>
            <a:lvl6pPr marL="2721254" indent="0" algn="ctr">
              <a:buNone/>
              <a:defRPr sz="1900"/>
            </a:lvl6pPr>
            <a:lvl7pPr marL="3265505" indent="0" algn="ctr">
              <a:buNone/>
              <a:defRPr sz="1900"/>
            </a:lvl7pPr>
            <a:lvl8pPr marL="3809756" indent="0" algn="ctr">
              <a:buNone/>
              <a:defRPr sz="1900"/>
            </a:lvl8pPr>
            <a:lvl9pPr marL="4354007" indent="0" algn="ctr">
              <a:buNone/>
              <a:defRPr sz="19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9659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3367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6" y="1709751"/>
            <a:ext cx="10515600" cy="2852737"/>
          </a:xfrm>
        </p:spPr>
        <p:txBody>
          <a:bodyPr anchor="b"/>
          <a:lstStyle>
            <a:lvl1pPr>
              <a:defRPr sz="7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6" y="4589476"/>
            <a:ext cx="10515600" cy="1500187"/>
          </a:xfrm>
        </p:spPr>
        <p:txBody>
          <a:bodyPr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54425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8850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6327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17700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272125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26550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38097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35400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1115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4598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4" y="365129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251" indent="0">
              <a:buNone/>
              <a:defRPr sz="2400" b="1"/>
            </a:lvl2pPr>
            <a:lvl3pPr marL="1088502" indent="0">
              <a:buNone/>
              <a:defRPr sz="2100" b="1"/>
            </a:lvl3pPr>
            <a:lvl4pPr marL="1632753" indent="0">
              <a:buNone/>
              <a:defRPr sz="1900" b="1"/>
            </a:lvl4pPr>
            <a:lvl5pPr marL="2177004" indent="0">
              <a:buNone/>
              <a:defRPr sz="1900" b="1"/>
            </a:lvl5pPr>
            <a:lvl6pPr marL="2721254" indent="0">
              <a:buNone/>
              <a:defRPr sz="1900" b="1"/>
            </a:lvl6pPr>
            <a:lvl7pPr marL="3265505" indent="0">
              <a:buNone/>
              <a:defRPr sz="1900" b="1"/>
            </a:lvl7pPr>
            <a:lvl8pPr marL="3809756" indent="0">
              <a:buNone/>
              <a:defRPr sz="1900" b="1"/>
            </a:lvl8pPr>
            <a:lvl9pPr marL="4354007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8" y="1681163"/>
            <a:ext cx="5183188" cy="82391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251" indent="0">
              <a:buNone/>
              <a:defRPr sz="2400" b="1"/>
            </a:lvl2pPr>
            <a:lvl3pPr marL="1088502" indent="0">
              <a:buNone/>
              <a:defRPr sz="2100" b="1"/>
            </a:lvl3pPr>
            <a:lvl4pPr marL="1632753" indent="0">
              <a:buNone/>
              <a:defRPr sz="1900" b="1"/>
            </a:lvl4pPr>
            <a:lvl5pPr marL="2177004" indent="0">
              <a:buNone/>
              <a:defRPr sz="1900" b="1"/>
            </a:lvl5pPr>
            <a:lvl6pPr marL="2721254" indent="0">
              <a:buNone/>
              <a:defRPr sz="1900" b="1"/>
            </a:lvl6pPr>
            <a:lvl7pPr marL="3265505" indent="0">
              <a:buNone/>
              <a:defRPr sz="1900" b="1"/>
            </a:lvl7pPr>
            <a:lvl8pPr marL="3809756" indent="0">
              <a:buNone/>
              <a:defRPr sz="1900" b="1"/>
            </a:lvl8pPr>
            <a:lvl9pPr marL="4354007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8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7007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84130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11905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4" y="457201"/>
            <a:ext cx="3932237" cy="160020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9"/>
            <a:ext cx="6172200" cy="4873625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2057400"/>
            <a:ext cx="3932237" cy="3811588"/>
          </a:xfrm>
        </p:spPr>
        <p:txBody>
          <a:bodyPr/>
          <a:lstStyle>
            <a:lvl1pPr marL="0" indent="0">
              <a:buNone/>
              <a:defRPr sz="1900"/>
            </a:lvl1pPr>
            <a:lvl2pPr marL="544251" indent="0">
              <a:buNone/>
              <a:defRPr sz="1700"/>
            </a:lvl2pPr>
            <a:lvl3pPr marL="1088502" indent="0">
              <a:buNone/>
              <a:defRPr sz="1400"/>
            </a:lvl3pPr>
            <a:lvl4pPr marL="1632753" indent="0">
              <a:buNone/>
              <a:defRPr sz="1200"/>
            </a:lvl4pPr>
            <a:lvl5pPr marL="2177004" indent="0">
              <a:buNone/>
              <a:defRPr sz="1200"/>
            </a:lvl5pPr>
            <a:lvl6pPr marL="2721254" indent="0">
              <a:buNone/>
              <a:defRPr sz="1200"/>
            </a:lvl6pPr>
            <a:lvl7pPr marL="3265505" indent="0">
              <a:buNone/>
              <a:defRPr sz="1200"/>
            </a:lvl7pPr>
            <a:lvl8pPr marL="3809756" indent="0">
              <a:buNone/>
              <a:defRPr sz="1200"/>
            </a:lvl8pPr>
            <a:lvl9pPr marL="435400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98914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4" y="457201"/>
            <a:ext cx="3932237" cy="160020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9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800"/>
            </a:lvl1pPr>
            <a:lvl2pPr marL="544251" indent="0">
              <a:buNone/>
              <a:defRPr sz="3300"/>
            </a:lvl2pPr>
            <a:lvl3pPr marL="1088502" indent="0">
              <a:buNone/>
              <a:defRPr sz="2900"/>
            </a:lvl3pPr>
            <a:lvl4pPr marL="1632753" indent="0">
              <a:buNone/>
              <a:defRPr sz="2400"/>
            </a:lvl4pPr>
            <a:lvl5pPr marL="2177004" indent="0">
              <a:buNone/>
              <a:defRPr sz="2400"/>
            </a:lvl5pPr>
            <a:lvl6pPr marL="2721254" indent="0">
              <a:buNone/>
              <a:defRPr sz="2400"/>
            </a:lvl6pPr>
            <a:lvl7pPr marL="3265505" indent="0">
              <a:buNone/>
              <a:defRPr sz="2400"/>
            </a:lvl7pPr>
            <a:lvl8pPr marL="3809756" indent="0">
              <a:buNone/>
              <a:defRPr sz="2400"/>
            </a:lvl8pPr>
            <a:lvl9pPr marL="4354007" indent="0">
              <a:buNone/>
              <a:defRPr sz="24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2057400"/>
            <a:ext cx="3932237" cy="3811588"/>
          </a:xfrm>
        </p:spPr>
        <p:txBody>
          <a:bodyPr/>
          <a:lstStyle>
            <a:lvl1pPr marL="0" indent="0">
              <a:buNone/>
              <a:defRPr sz="1900"/>
            </a:lvl1pPr>
            <a:lvl2pPr marL="544251" indent="0">
              <a:buNone/>
              <a:defRPr sz="1700"/>
            </a:lvl2pPr>
            <a:lvl3pPr marL="1088502" indent="0">
              <a:buNone/>
              <a:defRPr sz="1400"/>
            </a:lvl3pPr>
            <a:lvl4pPr marL="1632753" indent="0">
              <a:buNone/>
              <a:defRPr sz="1200"/>
            </a:lvl4pPr>
            <a:lvl5pPr marL="2177004" indent="0">
              <a:buNone/>
              <a:defRPr sz="1200"/>
            </a:lvl5pPr>
            <a:lvl6pPr marL="2721254" indent="0">
              <a:buNone/>
              <a:defRPr sz="1200"/>
            </a:lvl6pPr>
            <a:lvl7pPr marL="3265505" indent="0">
              <a:buNone/>
              <a:defRPr sz="1200"/>
            </a:lvl7pPr>
            <a:lvl8pPr marL="3809756" indent="0">
              <a:buNone/>
              <a:defRPr sz="1200"/>
            </a:lvl8pPr>
            <a:lvl9pPr marL="435400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4938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14918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15118">
              <a:lnSpc>
                <a:spcPct val="100000"/>
              </a:lnSpc>
              <a:spcBef>
                <a:spcPts val="131"/>
              </a:spcBef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4401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173204"/>
            <a:ext cx="12192000" cy="16847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1747" y="31191"/>
            <a:ext cx="469709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1575" y="3108451"/>
            <a:ext cx="6660515" cy="210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4536A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54560" y="6530213"/>
            <a:ext cx="253365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6" y="365129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8850" tIns="54425" rIns="108850" bIns="544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6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8850" tIns="54425" rIns="108850" bIns="54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6" y="6356363"/>
            <a:ext cx="27432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l">
              <a:defRPr sz="14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63"/>
            <a:ext cx="41148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marL="15118" algn="ctr">
              <a:lnSpc>
                <a:spcPct val="100000"/>
              </a:lnSpc>
              <a:spcBef>
                <a:spcPts val="131"/>
              </a:spcBef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53975">
              <a:lnSpc>
                <a:spcPts val="955"/>
              </a:lnSpc>
            </a:pPr>
            <a:r>
              <a:rPr lang="en-US" spc="-20" dirty="0" smtClean="0"/>
              <a:t>©3G4G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63"/>
            <a:ext cx="27432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marL="15118" algn="r">
              <a:lnSpc>
                <a:spcPct val="100000"/>
              </a:lnSpc>
              <a:spcBef>
                <a:spcPts val="131"/>
              </a:spcBef>
              <a:defRPr sz="14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" y="5153039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5pPr>
      <a:lvl6pPr marL="54425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6pPr>
      <a:lvl7pPr marL="108850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7pPr>
      <a:lvl8pPr marL="16327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8pPr>
      <a:lvl9pPr marL="21770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72125" indent="-272125" algn="l" rtl="0" eaLnBrk="1" fontAlgn="base" hangingPunct="1">
        <a:lnSpc>
          <a:spcPct val="90000"/>
        </a:lnSpc>
        <a:spcBef>
          <a:spcPts val="1190"/>
        </a:spcBef>
        <a:spcAft>
          <a:spcPct val="0"/>
        </a:spcAft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indent="-272125" algn="l" rtl="0" eaLnBrk="1" fontAlgn="base" hangingPunct="1">
        <a:lnSpc>
          <a:spcPct val="90000"/>
        </a:lnSpc>
        <a:spcBef>
          <a:spcPts val="595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627" indent="-272125" algn="l" rtl="0" eaLnBrk="1" fontAlgn="base" hangingPunct="1">
        <a:lnSpc>
          <a:spcPct val="90000"/>
        </a:lnSpc>
        <a:spcBef>
          <a:spcPts val="59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4878" indent="-272125" algn="l" rtl="0" eaLnBrk="1" fontAlgn="base" hangingPunct="1">
        <a:lnSpc>
          <a:spcPct val="90000"/>
        </a:lnSpc>
        <a:spcBef>
          <a:spcPts val="59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49129" indent="-272125" algn="l" rtl="0" eaLnBrk="1" fontAlgn="base" hangingPunct="1">
        <a:lnSpc>
          <a:spcPct val="90000"/>
        </a:lnSpc>
        <a:spcBef>
          <a:spcPts val="59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993380" indent="-272125" algn="l" defTabSz="1088502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631" indent="-272125" algn="l" defTabSz="1088502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882" indent="-272125" algn="l" defTabSz="1088502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132" indent="-272125" algn="l" defTabSz="1088502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51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02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53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00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5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505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56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007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jpe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881158" y="642918"/>
            <a:ext cx="7924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00"/>
              </a:spcBef>
            </a:pPr>
            <a:r>
              <a:rPr u="sng" spc="-10" dirty="0"/>
              <a:t>Module</a:t>
            </a:r>
            <a:r>
              <a:rPr lang="en-GB" u="sng" spc="-75" dirty="0"/>
              <a:t>-</a:t>
            </a:r>
            <a:r>
              <a:rPr u="sng" spc="-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66575" y="6426504"/>
            <a:ext cx="1466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5" dirty="0">
                <a:solidFill>
                  <a:srgbClr val="FFFFFF"/>
                </a:solidFill>
                <a:latin typeface="Caladea"/>
                <a:cs typeface="Caladea"/>
              </a:rPr>
              <a:t>1</a:t>
            </a:r>
            <a:endParaRPr sz="1600">
              <a:latin typeface="Caladea"/>
              <a:cs typeface="Calade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2596" y="1714488"/>
            <a:ext cx="86868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6000" b="1" spc="-5" dirty="0">
                <a:solidFill>
                  <a:srgbClr val="FF0000"/>
                </a:solidFill>
                <a:latin typeface="Carlito"/>
                <a:cs typeface="Carlito"/>
              </a:rPr>
              <a:t>Process Management</a:t>
            </a:r>
            <a:endParaRPr sz="6000" dirty="0">
              <a:solidFill>
                <a:srgbClr val="FF0000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228614"/>
            <a:ext cx="11125200" cy="2163763"/>
          </a:xfr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en-US" b="1" dirty="0" smtClean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Module 2</a:t>
            </a:r>
            <a:br>
              <a:rPr lang="en-US" b="1" dirty="0" smtClean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Process Management</a:t>
            </a:r>
            <a:endParaRPr lang="en-US" dirty="0">
              <a:solidFill>
                <a:srgbClr val="FF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2590800"/>
            <a:ext cx="11125200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200" b="1" dirty="0" smtClean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Process Concept, Operations on Processes, Inter Process Communication, Communication in client-server systems (sockets, RPC, Pipes), Introduction to threads - Multithreading Models, Thread Libraries, Threading Issues, Process Scheduling– Basic concepts, Scheduling Criteria, Scheduling Algorithms: FCFS, SJF, SRTF, RR and Priority.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332308"/>
            <a:ext cx="327375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sng" spc="-5">
                <a:solidFill>
                  <a:srgbClr val="1F3863"/>
                </a:solidFill>
              </a:rPr>
              <a:t>Con</a:t>
            </a:r>
            <a:r>
              <a:rPr sz="3200" b="1" u="sng" spc="-60">
                <a:solidFill>
                  <a:srgbClr val="1F3863"/>
                </a:solidFill>
              </a:rPr>
              <a:t>t</a:t>
            </a:r>
            <a:r>
              <a:rPr sz="3200" b="1" u="sng" spc="-5">
                <a:solidFill>
                  <a:srgbClr val="1F3863"/>
                </a:solidFill>
              </a:rPr>
              <a:t>ents</a:t>
            </a:r>
            <a:r>
              <a:rPr lang="en-GB" sz="3200" b="1" spc="-5" dirty="0">
                <a:solidFill>
                  <a:srgbClr val="1F3863"/>
                </a:solidFill>
              </a:rPr>
              <a:t> :</a:t>
            </a:r>
            <a:endParaRPr sz="3200" b="1"/>
          </a:p>
        </p:txBody>
      </p:sp>
      <p:sp>
        <p:nvSpPr>
          <p:cNvPr id="4" name="object 4"/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274" y="990600"/>
            <a:ext cx="5214974" cy="43595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GB" dirty="0">
                <a:latin typeface="Bahnschrift SemiBold" pitchFamily="34" charset="0"/>
                <a:cs typeface="Caladea"/>
              </a:rPr>
              <a:t>Process Concepts</a:t>
            </a: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GB" dirty="0">
                <a:latin typeface="Bahnschrift SemiBold" pitchFamily="34" charset="0"/>
                <a:cs typeface="Caladea"/>
              </a:rPr>
              <a:t>Operations on Processes</a:t>
            </a: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GB" dirty="0">
                <a:latin typeface="Bahnschrift SemiBold" pitchFamily="34" charset="0"/>
                <a:cs typeface="Caladea"/>
              </a:rPr>
              <a:t>Inter Process Communication- IPC</a:t>
            </a: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GB" dirty="0">
                <a:latin typeface="Bahnschrift SemiBold" pitchFamily="34" charset="0"/>
                <a:cs typeface="Caladea"/>
              </a:rPr>
              <a:t>Communication in client-server systems (sockets, RPC, Pipes)</a:t>
            </a: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dirty="0">
                <a:latin typeface="Bahnschrift SemiBold" pitchFamily="34" charset="0"/>
                <a:cs typeface="Caladea"/>
              </a:rPr>
              <a:t>Introduction </a:t>
            </a:r>
            <a:r>
              <a:rPr spc="-10" dirty="0">
                <a:latin typeface="Bahnschrift SemiBold" pitchFamily="34" charset="0"/>
                <a:cs typeface="Caladea"/>
              </a:rPr>
              <a:t>to</a:t>
            </a:r>
            <a:r>
              <a:rPr spc="-80" dirty="0">
                <a:latin typeface="Bahnschrift SemiBold" pitchFamily="34" charset="0"/>
                <a:cs typeface="Caladea"/>
              </a:rPr>
              <a:t> </a:t>
            </a:r>
            <a:r>
              <a:rPr spc="-5" dirty="0">
                <a:latin typeface="Bahnschrift SemiBold" pitchFamily="34" charset="0"/>
                <a:cs typeface="Caladea"/>
              </a:rPr>
              <a:t>threads</a:t>
            </a:r>
            <a:endParaRPr dirty="0">
              <a:latin typeface="Bahnschrift SemiBold" pitchFamily="34" charset="0"/>
              <a:cs typeface="Calade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dirty="0">
                <a:latin typeface="Bahnschrift SemiBold" pitchFamily="34" charset="0"/>
                <a:cs typeface="Caladea"/>
              </a:rPr>
              <a:t>Multithreading</a:t>
            </a:r>
            <a:r>
              <a:rPr spc="-75" dirty="0">
                <a:latin typeface="Bahnschrift SemiBold" pitchFamily="34" charset="0"/>
                <a:cs typeface="Caladea"/>
              </a:rPr>
              <a:t> </a:t>
            </a:r>
            <a:r>
              <a:rPr dirty="0">
                <a:latin typeface="Bahnschrift SemiBold" pitchFamily="34" charset="0"/>
                <a:cs typeface="Caladea"/>
              </a:rPr>
              <a:t>Models</a:t>
            </a:r>
            <a:endParaRPr lang="en-US" dirty="0">
              <a:latin typeface="Bahnschrift SemiBold" pitchFamily="34" charset="0"/>
              <a:cs typeface="Calade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Bahnschrift SemiBold" pitchFamily="34" charset="0"/>
                <a:cs typeface="Caladea"/>
              </a:rPr>
              <a:t>Thread Libraries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Bahnschrift SemiBold" pitchFamily="34" charset="0"/>
                <a:cs typeface="Caladea"/>
              </a:rPr>
              <a:t>Threading Issues</a:t>
            </a:r>
            <a:endParaRPr dirty="0">
              <a:latin typeface="Bahnschrift SemiBold" pitchFamily="34" charset="0"/>
              <a:cs typeface="Calade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dirty="0">
                <a:latin typeface="Bahnschrift SemiBold" pitchFamily="34" charset="0"/>
                <a:cs typeface="Caladea"/>
              </a:rPr>
              <a:t>Basic Concepts of </a:t>
            </a:r>
            <a:r>
              <a:rPr lang="en-GB" dirty="0">
                <a:latin typeface="Bahnschrift SemiBold" pitchFamily="34" charset="0"/>
                <a:cs typeface="Caladea"/>
              </a:rPr>
              <a:t>Process(</a:t>
            </a:r>
            <a:r>
              <a:rPr dirty="0">
                <a:latin typeface="Bahnschrift SemiBold" pitchFamily="34" charset="0"/>
                <a:cs typeface="Caladea"/>
              </a:rPr>
              <a:t>CPU</a:t>
            </a:r>
            <a:r>
              <a:rPr lang="en-GB" dirty="0">
                <a:latin typeface="Bahnschrift SemiBold" pitchFamily="34" charset="0"/>
                <a:cs typeface="Caladea"/>
              </a:rPr>
              <a:t>)</a:t>
            </a:r>
            <a:r>
              <a:rPr spc="-125" dirty="0">
                <a:latin typeface="Bahnschrift SemiBold" pitchFamily="34" charset="0"/>
                <a:cs typeface="Caladea"/>
              </a:rPr>
              <a:t> </a:t>
            </a:r>
            <a:r>
              <a:rPr dirty="0">
                <a:latin typeface="Bahnschrift SemiBold" pitchFamily="34" charset="0"/>
                <a:cs typeface="Caladea"/>
              </a:rPr>
              <a:t>Scheduling</a:t>
            </a:r>
            <a:endParaRPr lang="en-GB" dirty="0">
              <a:latin typeface="Bahnschrift SemiBold" pitchFamily="34" charset="0"/>
              <a:cs typeface="Calade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GB" dirty="0">
                <a:latin typeface="Bahnschrift SemiBold" pitchFamily="34" charset="0"/>
                <a:cs typeface="Caladea"/>
              </a:rPr>
              <a:t>Scheduling Criterions</a:t>
            </a:r>
            <a:endParaRPr dirty="0">
              <a:latin typeface="Bahnschrift SemiBold" pitchFamily="34" charset="0"/>
              <a:cs typeface="Calade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41300" algn="l"/>
              </a:tabLst>
            </a:pPr>
            <a:r>
              <a:rPr dirty="0">
                <a:latin typeface="Bahnschrift SemiBold" pitchFamily="34" charset="0"/>
                <a:cs typeface="Calad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40F546A-5827-4A4F-A7A6-5D9D3BE9BC98}"/>
              </a:ext>
            </a:extLst>
          </p:cNvPr>
          <p:cNvSpPr txBox="1"/>
          <p:nvPr/>
        </p:nvSpPr>
        <p:spPr>
          <a:xfrm>
            <a:off x="6381752" y="1714488"/>
            <a:ext cx="4114800" cy="28469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41300" algn="l"/>
              </a:tabLst>
            </a:pPr>
            <a:r>
              <a:rPr lang="en-IN" sz="1800" spc="5" dirty="0">
                <a:latin typeface="Bahnschrift SemiBold" pitchFamily="34" charset="0"/>
                <a:cs typeface="Caladea"/>
              </a:rPr>
              <a:t>11. Scheduling </a:t>
            </a:r>
            <a:r>
              <a:rPr lang="en-IN" sz="1800" dirty="0">
                <a:latin typeface="Bahnschrift SemiBold" pitchFamily="34" charset="0"/>
                <a:cs typeface="Caladea"/>
              </a:rPr>
              <a:t>Algorithms:</a:t>
            </a: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IN" spc="-5" dirty="0">
                <a:latin typeface="Bahnschrift SemiBold" pitchFamily="34" charset="0"/>
                <a:cs typeface="Caladea"/>
              </a:rPr>
              <a:t>FCFS</a:t>
            </a: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IN" spc="-75" dirty="0">
                <a:latin typeface="Bahnschrift SemiBold" pitchFamily="34" charset="0"/>
                <a:cs typeface="Caladea"/>
              </a:rPr>
              <a:t>SJF</a:t>
            </a: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spc="-75" dirty="0">
                <a:latin typeface="Bahnschrift SemiBold" pitchFamily="34" charset="0"/>
                <a:cs typeface="Caladea"/>
              </a:rPr>
              <a:t>SRTF</a:t>
            </a:r>
            <a:endParaRPr lang="en-IN" spc="-75" dirty="0">
              <a:latin typeface="Bahnschrift SemiBold" pitchFamily="34" charset="0"/>
              <a:cs typeface="Caladea"/>
            </a:endParaRP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IN" spc="5" dirty="0">
                <a:latin typeface="Bahnschrift SemiBold" pitchFamily="34" charset="0"/>
                <a:cs typeface="Caladea"/>
              </a:rPr>
              <a:t>RR</a:t>
            </a: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IN" spc="-30" dirty="0">
                <a:latin typeface="Bahnschrift SemiBold" pitchFamily="34" charset="0"/>
                <a:cs typeface="Caladea"/>
              </a:rPr>
              <a:t>Priority</a:t>
            </a: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IN" spc="-5" dirty="0">
                <a:latin typeface="Bahnschrift SemiBold" pitchFamily="34" charset="0"/>
                <a:cs typeface="Caladea"/>
              </a:rPr>
              <a:t>Multilevel </a:t>
            </a:r>
            <a:r>
              <a:rPr lang="en-IN" dirty="0">
                <a:latin typeface="Bahnschrift SemiBold" pitchFamily="34" charset="0"/>
                <a:cs typeface="Caladea"/>
              </a:rPr>
              <a:t>Queue</a:t>
            </a:r>
          </a:p>
          <a:p>
            <a:pPr marL="812800" lvl="1" indent="-342900">
              <a:spcBef>
                <a:spcPts val="64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IN" spc="-5" dirty="0">
                <a:latin typeface="Bahnschrift SemiBold" pitchFamily="34" charset="0"/>
                <a:cs typeface="Caladea"/>
              </a:rPr>
              <a:t>Multilevel </a:t>
            </a:r>
            <a:r>
              <a:rPr lang="en-IN" spc="-15" dirty="0">
                <a:latin typeface="Bahnschrift SemiBold" pitchFamily="34" charset="0"/>
                <a:cs typeface="Caladea"/>
              </a:rPr>
              <a:t>Feedback</a:t>
            </a:r>
            <a:r>
              <a:rPr lang="en-IN" spc="-220" dirty="0">
                <a:latin typeface="Bahnschrift SemiBold" pitchFamily="34" charset="0"/>
                <a:cs typeface="Caladea"/>
              </a:rPr>
              <a:t> </a:t>
            </a:r>
            <a:r>
              <a:rPr lang="en-IN" dirty="0">
                <a:latin typeface="Bahnschrift SemiBold" pitchFamily="34" charset="0"/>
                <a:cs typeface="Caladea"/>
              </a:rPr>
              <a:t>Queue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2819400" cy="492443"/>
          </a:xfrm>
        </p:spPr>
        <p:txBody>
          <a:bodyPr/>
          <a:lstStyle/>
          <a:p>
            <a:r>
              <a:rPr lang="en-US" sz="32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Lecture 11</a:t>
            </a:r>
            <a:endParaRPr lang="en-US" sz="3200" b="1" dirty="0">
              <a:solidFill>
                <a:srgbClr val="FF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51663" y="1214422"/>
            <a:ext cx="10931437" cy="1938992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latin typeface="Cambria" pitchFamily="18" charset="0"/>
                <a:ea typeface="Cambria" pitchFamily="18" charset="0"/>
                <a:cs typeface="Arial" pitchFamily="34" charset="0"/>
              </a:rPr>
              <a:t>Process Concept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3200" b="1" dirty="0" smtClean="0">
              <a:latin typeface="Cambria" pitchFamily="18" charset="0"/>
              <a:ea typeface="Cambria" pitchFamily="18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LO1: Compare between program and process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LO2: Explain process states, PCB and context switching</a:t>
            </a:r>
            <a:endParaRPr lang="en-US" sz="3600" b="1" dirty="0" smtClean="0"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01" y="0"/>
            <a:ext cx="55164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1. Process Concepts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1496" y="838201"/>
            <a:ext cx="11629008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365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800" dirty="0"/>
              <a:t>In the early computer systems, only one program is executing at a time. So, that one program had complete control over the system &amp; its resources.</a:t>
            </a:r>
          </a:p>
          <a:p>
            <a:pPr marL="469900" indent="-457200" algn="just">
              <a:lnSpc>
                <a:spcPct val="100000"/>
              </a:lnSpc>
              <a:spcBef>
                <a:spcPts val="365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800" dirty="0"/>
              <a:t>But, today’s computer systems allow </a:t>
            </a:r>
            <a:r>
              <a:rPr lang="en-US" sz="2800" b="1" dirty="0"/>
              <a:t>multiple programs to execute</a:t>
            </a:r>
            <a:r>
              <a:rPr lang="en-US" sz="2800" dirty="0"/>
              <a:t> at a time (parallely).</a:t>
            </a:r>
          </a:p>
          <a:p>
            <a:pPr marL="469900" indent="-457200" algn="just">
              <a:lnSpc>
                <a:spcPct val="100000"/>
              </a:lnSpc>
              <a:spcBef>
                <a:spcPts val="365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800" dirty="0"/>
              <a:t>So, some sort of mechanism is needed to </a:t>
            </a:r>
            <a:r>
              <a:rPr lang="en-US" sz="2800" b="1" dirty="0"/>
              <a:t>create, execute &amp; manage </a:t>
            </a:r>
            <a:r>
              <a:rPr lang="en-US" sz="2800" dirty="0"/>
              <a:t>those programs which are running parallely.</a:t>
            </a:r>
          </a:p>
          <a:p>
            <a:pPr marL="469900" indent="-457200" algn="just">
              <a:lnSpc>
                <a:spcPct val="100000"/>
              </a:lnSpc>
              <a:spcBef>
                <a:spcPts val="365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800" dirty="0"/>
              <a:t>This is done by </a:t>
            </a:r>
            <a:r>
              <a:rPr lang="en-US" sz="2800" b="1" dirty="0"/>
              <a:t>process manager </a:t>
            </a:r>
            <a:r>
              <a:rPr lang="en-US" sz="2800" dirty="0"/>
              <a:t>(part of OS)</a:t>
            </a:r>
          </a:p>
          <a:p>
            <a:pPr marL="469900" indent="-457200" algn="ctr">
              <a:lnSpc>
                <a:spcPct val="100000"/>
              </a:lnSpc>
              <a:spcBef>
                <a:spcPts val="365"/>
              </a:spcBef>
              <a:tabLst>
                <a:tab pos="240665" algn="l"/>
                <a:tab pos="241300" algn="l"/>
              </a:tabLst>
            </a:pPr>
            <a:r>
              <a:rPr lang="en-US" sz="3600" dirty="0"/>
              <a:t>“</a:t>
            </a:r>
            <a:r>
              <a:rPr lang="en-US" sz="3600" b="1" dirty="0"/>
              <a:t>A running program is called as </a:t>
            </a:r>
            <a:r>
              <a:rPr lang="en-US" sz="3600" b="1" dirty="0">
                <a:solidFill>
                  <a:srgbClr val="FF0000"/>
                </a:solidFill>
              </a:rPr>
              <a:t>process</a:t>
            </a:r>
            <a:r>
              <a:rPr lang="en-US" sz="3600" dirty="0"/>
              <a:t>”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800" dirty="0" smtClean="0">
                <a:solidFill>
                  <a:srgbClr val="FF0000"/>
                </a:solidFill>
              </a:rPr>
              <a:t>OR </a:t>
            </a:r>
          </a:p>
          <a:p>
            <a:pPr marL="469900" indent="-457200" algn="ctr">
              <a:lnSpc>
                <a:spcPct val="100000"/>
              </a:lnSpc>
              <a:spcBef>
                <a:spcPts val="365"/>
              </a:spcBef>
              <a:tabLst>
                <a:tab pos="240665" algn="l"/>
                <a:tab pos="241300" algn="l"/>
              </a:tabLst>
            </a:pPr>
            <a:r>
              <a:rPr lang="en-US" sz="3600" dirty="0" smtClean="0"/>
              <a:t>“</a:t>
            </a:r>
            <a:r>
              <a:rPr lang="en-US" sz="3600" b="1" dirty="0" smtClean="0"/>
              <a:t>A </a:t>
            </a:r>
            <a:r>
              <a:rPr lang="en-US" sz="3600" b="1" dirty="0"/>
              <a:t>program in execution is called as </a:t>
            </a:r>
            <a:r>
              <a:rPr lang="en-US" sz="3600" b="1" dirty="0">
                <a:solidFill>
                  <a:srgbClr val="FF0000"/>
                </a:solidFill>
              </a:rPr>
              <a:t>process</a:t>
            </a:r>
            <a:r>
              <a:rPr lang="en-US" sz="3600" dirty="0"/>
              <a:t>”</a:t>
            </a:r>
          </a:p>
          <a:p>
            <a:pPr marL="241300" indent="-228600">
              <a:lnSpc>
                <a:spcPct val="100000"/>
              </a:lnSpc>
              <a:spcBef>
                <a:spcPts val="365"/>
              </a:spcBef>
              <a:tabLst>
                <a:tab pos="240665" algn="l"/>
                <a:tab pos="241300" algn="l"/>
              </a:tabLst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01" y="0"/>
            <a:ext cx="55164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Process Concepts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6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10496584" cy="51321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5"/>
              </a:spcBef>
              <a:tabLst>
                <a:tab pos="240665" algn="l"/>
                <a:tab pos="241300" algn="l"/>
              </a:tabLst>
            </a:pPr>
            <a:r>
              <a:rPr lang="en-GB" sz="2000" spc="-5" dirty="0">
                <a:solidFill>
                  <a:srgbClr val="FF0000"/>
                </a:solidFill>
                <a:cs typeface="Carlito"/>
              </a:rPr>
              <a:t>An </a:t>
            </a:r>
            <a:r>
              <a:rPr lang="en-GB" sz="2000" spc="-15" dirty="0">
                <a:solidFill>
                  <a:srgbClr val="FF0000"/>
                </a:solidFill>
                <a:cs typeface="Carlito"/>
              </a:rPr>
              <a:t>operating </a:t>
            </a:r>
            <a:r>
              <a:rPr lang="en-GB" sz="2000" spc="-30" dirty="0">
                <a:solidFill>
                  <a:srgbClr val="FF0000"/>
                </a:solidFill>
                <a:cs typeface="Carlito"/>
              </a:rPr>
              <a:t>system </a:t>
            </a:r>
            <a:r>
              <a:rPr lang="en-GB" sz="2000" spc="-20" dirty="0">
                <a:solidFill>
                  <a:srgbClr val="FF0000"/>
                </a:solidFill>
                <a:cs typeface="Carlito"/>
              </a:rPr>
              <a:t>executes </a:t>
            </a:r>
            <a:r>
              <a:rPr lang="en-GB" sz="2000" spc="-5" dirty="0">
                <a:solidFill>
                  <a:srgbClr val="FF0000"/>
                </a:solidFill>
                <a:cs typeface="Carlito"/>
              </a:rPr>
              <a:t>a </a:t>
            </a:r>
            <a:r>
              <a:rPr lang="en-GB" sz="2000" spc="-15" dirty="0">
                <a:solidFill>
                  <a:srgbClr val="FF0000"/>
                </a:solidFill>
                <a:cs typeface="Carlito"/>
              </a:rPr>
              <a:t>variety </a:t>
            </a:r>
            <a:r>
              <a:rPr lang="en-GB" sz="2000" spc="-5" dirty="0">
                <a:solidFill>
                  <a:srgbClr val="FF0000"/>
                </a:solidFill>
                <a:cs typeface="Carlito"/>
              </a:rPr>
              <a:t>of</a:t>
            </a:r>
            <a:r>
              <a:rPr lang="en-GB" sz="2000" spc="250" dirty="0">
                <a:solidFill>
                  <a:srgbClr val="FF0000"/>
                </a:solidFill>
                <a:cs typeface="Carlito"/>
              </a:rPr>
              <a:t> </a:t>
            </a:r>
            <a:r>
              <a:rPr lang="en-GB" sz="2000" spc="-15" dirty="0">
                <a:solidFill>
                  <a:srgbClr val="FF0000"/>
                </a:solidFill>
                <a:cs typeface="Carlito"/>
              </a:rPr>
              <a:t>programs:</a:t>
            </a:r>
            <a:endParaRPr lang="en-GB" sz="2000" dirty="0">
              <a:solidFill>
                <a:srgbClr val="FF0000"/>
              </a:solidFill>
              <a:cs typeface="Carlito"/>
            </a:endParaRPr>
          </a:p>
          <a:p>
            <a:pPr marL="698500" lvl="1" indent="-22987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GB" sz="2000" spc="-15" dirty="0">
                <a:cs typeface="Carlito"/>
              </a:rPr>
              <a:t>In </a:t>
            </a:r>
            <a:r>
              <a:rPr lang="en-GB" sz="2000" b="1" spc="-15" dirty="0">
                <a:cs typeface="Carlito"/>
              </a:rPr>
              <a:t>Batch </a:t>
            </a:r>
            <a:r>
              <a:rPr lang="en-GB" sz="2000" b="1" spc="-30" dirty="0">
                <a:cs typeface="Carlito"/>
              </a:rPr>
              <a:t>systems, </a:t>
            </a:r>
            <a:r>
              <a:rPr lang="en-GB" sz="2000" spc="-30" dirty="0">
                <a:cs typeface="Carlito"/>
              </a:rPr>
              <a:t>we use the term </a:t>
            </a:r>
            <a:r>
              <a:rPr lang="en-GB" sz="2000" b="1" spc="-5" dirty="0" smtClean="0">
                <a:solidFill>
                  <a:srgbClr val="3366FF"/>
                </a:solidFill>
                <a:cs typeface="Carlito"/>
              </a:rPr>
              <a:t>jobs &amp; </a:t>
            </a:r>
            <a:r>
              <a:rPr lang="en-GB" sz="2000" spc="-15" dirty="0" smtClean="0">
                <a:cs typeface="Carlito"/>
              </a:rPr>
              <a:t>In </a:t>
            </a:r>
            <a:r>
              <a:rPr lang="en-GB" sz="2000" b="1" spc="-15" dirty="0">
                <a:cs typeface="Carlito"/>
              </a:rPr>
              <a:t>Time-shared </a:t>
            </a:r>
            <a:r>
              <a:rPr lang="en-GB" sz="2000" b="1" spc="-25" dirty="0">
                <a:cs typeface="Carlito"/>
              </a:rPr>
              <a:t>systems, </a:t>
            </a:r>
            <a:r>
              <a:rPr lang="en-GB" sz="2000" spc="-25" dirty="0">
                <a:cs typeface="Carlito"/>
              </a:rPr>
              <a:t>we use the term </a:t>
            </a:r>
            <a:r>
              <a:rPr lang="en-GB" sz="2000" spc="-5" dirty="0">
                <a:cs typeface="Carlito"/>
              </a:rPr>
              <a:t> </a:t>
            </a:r>
            <a:r>
              <a:rPr lang="en-GB" sz="2000" b="1" spc="-15" dirty="0">
                <a:solidFill>
                  <a:srgbClr val="3366FF"/>
                </a:solidFill>
                <a:cs typeface="Carlito"/>
              </a:rPr>
              <a:t>tasks</a:t>
            </a:r>
          </a:p>
          <a:p>
            <a:pPr marL="698500" lvl="1" indent="-22987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GB" sz="2000" spc="-15" dirty="0">
                <a:cs typeface="Carlito"/>
              </a:rPr>
              <a:t>In many respects, all these activities are similar &amp; hence we call them as </a:t>
            </a:r>
            <a:r>
              <a:rPr lang="en-GB" sz="2000" spc="-15" dirty="0" smtClean="0">
                <a:cs typeface="Carlito"/>
              </a:rPr>
              <a:t>“</a:t>
            </a:r>
            <a:r>
              <a:rPr lang="en-GB" sz="2000" b="1" spc="-15" dirty="0" smtClean="0">
                <a:solidFill>
                  <a:srgbClr val="FF0000"/>
                </a:solidFill>
                <a:cs typeface="Carlito"/>
              </a:rPr>
              <a:t>processes”</a:t>
            </a:r>
            <a:endParaRPr lang="en-US" sz="2000" b="1" dirty="0"/>
          </a:p>
          <a:p>
            <a:pPr marL="0" lvl="1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0" algn="l"/>
              </a:tabLst>
            </a:pPr>
            <a:r>
              <a:rPr lang="en-GB" sz="2000" b="1" spc="-15" dirty="0" smtClean="0">
                <a:cs typeface="Carlito"/>
              </a:rPr>
              <a:t>Text </a:t>
            </a:r>
            <a:r>
              <a:rPr lang="en-GB" sz="2000" b="1" spc="-15" dirty="0">
                <a:cs typeface="Carlito"/>
              </a:rPr>
              <a:t>section </a:t>
            </a:r>
            <a:r>
              <a:rPr lang="en-GB" sz="2000" spc="-15" dirty="0">
                <a:cs typeface="Carlito"/>
              </a:rPr>
              <a:t>includes </a:t>
            </a:r>
            <a:r>
              <a:rPr lang="en-GB" sz="2000" spc="-15" dirty="0">
                <a:solidFill>
                  <a:srgbClr val="FF0000"/>
                </a:solidFill>
                <a:cs typeface="Carlito"/>
              </a:rPr>
              <a:t>compiled program code</a:t>
            </a:r>
            <a:r>
              <a:rPr lang="en-GB" sz="2000" spc="-15" dirty="0">
                <a:cs typeface="Carlito"/>
              </a:rPr>
              <a:t> which is read from secondary storage when program is</a:t>
            </a:r>
          </a:p>
          <a:p>
            <a:pPr marL="0" lvl="1">
              <a:lnSpc>
                <a:spcPct val="100000"/>
              </a:lnSpc>
              <a:spcBef>
                <a:spcPts val="265"/>
              </a:spcBef>
              <a:tabLst>
                <a:tab pos="0" algn="l"/>
              </a:tabLst>
            </a:pPr>
            <a:r>
              <a:rPr lang="en-GB" sz="2000" spc="-15" dirty="0">
                <a:cs typeface="Carlito"/>
              </a:rPr>
              <a:t>   </a:t>
            </a:r>
            <a:r>
              <a:rPr lang="en-GB" sz="2000" spc="-15" dirty="0" smtClean="0">
                <a:cs typeface="Carlito"/>
              </a:rPr>
              <a:t>launched, Text </a:t>
            </a:r>
            <a:r>
              <a:rPr lang="en-GB" sz="2000" spc="-15" dirty="0">
                <a:cs typeface="Carlito"/>
              </a:rPr>
              <a:t>section also includes information like  </a:t>
            </a:r>
            <a:endParaRPr lang="en-GB" sz="2000" spc="-15" dirty="0" smtClean="0">
              <a:cs typeface="Carlito"/>
            </a:endParaRPr>
          </a:p>
          <a:p>
            <a:pPr marL="0" lvl="1">
              <a:lnSpc>
                <a:spcPct val="100000"/>
              </a:lnSpc>
              <a:spcBef>
                <a:spcPts val="265"/>
              </a:spcBef>
              <a:tabLst>
                <a:tab pos="0" algn="l"/>
              </a:tabLst>
            </a:pPr>
            <a:r>
              <a:rPr lang="en-GB" sz="2000" spc="-15" dirty="0" smtClean="0">
                <a:cs typeface="Carlito"/>
              </a:rPr>
              <a:t>					      a</a:t>
            </a:r>
            <a:r>
              <a:rPr lang="en-GB" sz="2000" spc="-15" dirty="0">
                <a:cs typeface="Carlito"/>
              </a:rPr>
              <a:t>) which part of the program is currently executing</a:t>
            </a:r>
          </a:p>
          <a:p>
            <a:pPr marL="3200400" lvl="8">
              <a:spcBef>
                <a:spcPts val="265"/>
              </a:spcBef>
              <a:tabLst>
                <a:tab pos="0" algn="l"/>
              </a:tabLst>
            </a:pPr>
            <a:r>
              <a:rPr lang="en-GB" sz="2000" spc="-15" dirty="0">
                <a:cs typeface="Carlito"/>
              </a:rPr>
              <a:t>               b) which is next statement to be executed(i.e., content of PC)</a:t>
            </a:r>
          </a:p>
          <a:p>
            <a:pPr marL="3200400" lvl="8">
              <a:spcBef>
                <a:spcPts val="265"/>
              </a:spcBef>
              <a:tabLst>
                <a:tab pos="0" algn="l"/>
              </a:tabLst>
            </a:pPr>
            <a:r>
              <a:rPr lang="en-GB" sz="2000" spc="-15" dirty="0">
                <a:cs typeface="Carlito"/>
              </a:rPr>
              <a:t>               c) contents of other processor’s registers</a:t>
            </a:r>
          </a:p>
          <a:p>
            <a:pPr marL="285750" lvl="8" indent="-285750"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000" b="1" spc="-15" dirty="0" smtClean="0">
                <a:cs typeface="Carlito"/>
              </a:rPr>
              <a:t>Data </a:t>
            </a:r>
            <a:r>
              <a:rPr lang="en-GB" sz="2000" b="1" spc="-15" dirty="0">
                <a:cs typeface="Carlito"/>
              </a:rPr>
              <a:t>Section </a:t>
            </a:r>
            <a:r>
              <a:rPr lang="en-GB" sz="2000" spc="-15" dirty="0">
                <a:cs typeface="Carlito"/>
              </a:rPr>
              <a:t>contains </a:t>
            </a:r>
            <a:r>
              <a:rPr lang="en-GB" sz="2000" b="1" spc="-15" dirty="0">
                <a:solidFill>
                  <a:srgbClr val="FF0000"/>
                </a:solidFill>
                <a:cs typeface="Carlito"/>
              </a:rPr>
              <a:t>global variables &amp; static variables </a:t>
            </a:r>
            <a:r>
              <a:rPr lang="en-GB" sz="2000" spc="-15" dirty="0">
                <a:cs typeface="Carlito"/>
              </a:rPr>
              <a:t>which are allocated &amp; initialized before executing the program</a:t>
            </a:r>
          </a:p>
          <a:p>
            <a:pPr marL="285750" lvl="8" indent="-285750"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000" b="1" spc="-15" dirty="0">
                <a:cs typeface="Carlito"/>
              </a:rPr>
              <a:t>Heap </a:t>
            </a:r>
            <a:r>
              <a:rPr lang="en-GB" sz="2000" spc="-15" dirty="0">
                <a:cs typeface="Carlito"/>
              </a:rPr>
              <a:t>is used for </a:t>
            </a:r>
            <a:r>
              <a:rPr lang="en-GB" sz="2000" b="1" spc="-15" dirty="0">
                <a:solidFill>
                  <a:srgbClr val="FF0000"/>
                </a:solidFill>
                <a:cs typeface="Carlito"/>
              </a:rPr>
              <a:t>dynamic memory allocation </a:t>
            </a:r>
            <a:r>
              <a:rPr lang="en-GB" sz="2000" spc="-15" dirty="0">
                <a:cs typeface="Carlito"/>
              </a:rPr>
              <a:t>&amp; is managed via calls to new, delete, malloc, free, etc</a:t>
            </a:r>
            <a:r>
              <a:rPr lang="en-GB" sz="2000" spc="-15" dirty="0" smtClean="0">
                <a:cs typeface="Carlito"/>
              </a:rPr>
              <a:t>.</a:t>
            </a:r>
          </a:p>
          <a:p>
            <a:pPr marL="285750" lvl="8" indent="-285750"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000" spc="-15" dirty="0" smtClean="0">
                <a:cs typeface="Carlito"/>
              </a:rPr>
              <a:t>Each &amp; every process has its own stack called </a:t>
            </a:r>
            <a:r>
              <a:rPr lang="en-GB" sz="2000" b="1" spc="-15" dirty="0" smtClean="0">
                <a:cs typeface="Carlito"/>
              </a:rPr>
              <a:t>process stack </a:t>
            </a:r>
            <a:r>
              <a:rPr lang="en-GB" sz="2000" spc="-15" dirty="0" smtClean="0">
                <a:cs typeface="Carlito"/>
              </a:rPr>
              <a:t>consists of </a:t>
            </a:r>
            <a:r>
              <a:rPr lang="en-GB" sz="2000" spc="-15" dirty="0" smtClean="0">
                <a:solidFill>
                  <a:srgbClr val="FF0000"/>
                </a:solidFill>
                <a:cs typeface="Carlito"/>
              </a:rPr>
              <a:t>temporary data </a:t>
            </a:r>
            <a:r>
              <a:rPr lang="en-GB" sz="2000" spc="-15" dirty="0" smtClean="0">
                <a:cs typeface="Carlito"/>
              </a:rPr>
              <a:t>such as </a:t>
            </a:r>
            <a:r>
              <a:rPr lang="en-GB" sz="2000" b="1" spc="-15" dirty="0" smtClean="0">
                <a:solidFill>
                  <a:srgbClr val="FF0000"/>
                </a:solidFill>
                <a:cs typeface="Carlito"/>
              </a:rPr>
              <a:t>function parameters</a:t>
            </a:r>
            <a:r>
              <a:rPr lang="en-GB" sz="2000" spc="-15" dirty="0" smtClean="0">
                <a:cs typeface="Carlito"/>
              </a:rPr>
              <a:t>, </a:t>
            </a:r>
            <a:r>
              <a:rPr lang="en-GB" sz="2000" b="1" spc="-15" dirty="0" smtClean="0">
                <a:solidFill>
                  <a:srgbClr val="FF0000"/>
                </a:solidFill>
                <a:cs typeface="Carlito"/>
              </a:rPr>
              <a:t>return address/values &amp; local variables</a:t>
            </a:r>
            <a:r>
              <a:rPr lang="en-GB" sz="2000" spc="-15" dirty="0" smtClean="0">
                <a:cs typeface="Carlito"/>
              </a:rPr>
              <a:t>.</a:t>
            </a:r>
          </a:p>
          <a:p>
            <a:pPr marL="285750" lvl="8" indent="-285750"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2000" b="1" spc="-15" dirty="0">
              <a:cs typeface="Carlito"/>
            </a:endParaRPr>
          </a:p>
        </p:txBody>
      </p:sp>
      <p:pic>
        <p:nvPicPr>
          <p:cNvPr id="129026" name="Picture 2" descr="Process in Operating System - GeeksforGeeks"/>
          <p:cNvPicPr>
            <a:picLocks noChangeAspect="1" noChangeArrowheads="1"/>
          </p:cNvPicPr>
          <p:nvPr/>
        </p:nvPicPr>
        <p:blipFill>
          <a:blip r:embed="rId2"/>
          <a:srcRect l="34044" t="17046" r="37070" b="16083"/>
          <a:stretch>
            <a:fillRect/>
          </a:stretch>
        </p:blipFill>
        <p:spPr bwMode="auto">
          <a:xfrm>
            <a:off x="10882346" y="1071546"/>
            <a:ext cx="1309654" cy="3643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25927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747" y="31191"/>
            <a:ext cx="8069453" cy="654609"/>
          </a:xfrm>
        </p:spPr>
        <p:txBody>
          <a:bodyPr/>
          <a:lstStyle/>
          <a:p>
            <a:r>
              <a:rPr lang="en-GB" spc="-5" dirty="0"/>
              <a:t>Process Concepts----</a:t>
            </a:r>
            <a:r>
              <a:rPr lang="en-US" sz="2800" b="1" dirty="0"/>
              <a:t>Program </a:t>
            </a:r>
            <a:r>
              <a:rPr lang="en-US" sz="2800" b="1" dirty="0" err="1"/>
              <a:t>vs</a:t>
            </a:r>
            <a:r>
              <a:rPr lang="en-US" sz="2800" b="1" dirty="0"/>
              <a:t> Process: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04800" y="1373391"/>
            <a:ext cx="5595048" cy="2769989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PROGRAM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Set of instructions to perform a specific task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Passive entity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Program is stored generally in the form of file (executable)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Program doesn’t require any resources other than storage space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Program has longer life span. It is stored on disc forever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310314" y="1142984"/>
            <a:ext cx="5303520" cy="3385542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PROCESS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Program in execution</a:t>
            </a:r>
          </a:p>
          <a:p>
            <a:pPr marL="457200" indent="-457200" algn="l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Active entity</a:t>
            </a:r>
          </a:p>
          <a:p>
            <a:pPr marL="457200" indent="-457200" algn="l">
              <a:buFontTx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Program become process only when an </a:t>
            </a:r>
            <a:r>
              <a:rPr lang="en-US" b="1" dirty="0">
                <a:solidFill>
                  <a:schemeClr val="tx1"/>
                </a:solidFill>
              </a:rPr>
              <a:t>executable file is loaded into main memory</a:t>
            </a:r>
          </a:p>
          <a:p>
            <a:pPr marL="457200" indent="-457200" algn="l">
              <a:buFontTx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Process holds resources such as </a:t>
            </a:r>
            <a:r>
              <a:rPr lang="en-US" b="1" dirty="0">
                <a:solidFill>
                  <a:schemeClr val="tx1"/>
                </a:solidFill>
              </a:rPr>
              <a:t>CPU, memory address, disk, I/O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Tx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It has limited life span. It is created when execution starts &amp; terminated as execution is </a:t>
            </a:r>
            <a:r>
              <a:rPr lang="en-US" dirty="0" smtClean="0">
                <a:solidFill>
                  <a:schemeClr val="tx1"/>
                </a:solidFill>
              </a:rPr>
              <a:t>finished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636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6712" y="857232"/>
            <a:ext cx="6781800" cy="3877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u="sng" dirty="0">
                <a:latin typeface="Caladea"/>
              </a:rPr>
              <a:t>Attributes /Characteristics of a Process:</a:t>
            </a:r>
            <a:endParaRPr lang="en-GB" sz="2400" b="1" dirty="0">
              <a:latin typeface="Caladea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GB" sz="2800" b="1" dirty="0" smtClean="0">
                <a:latin typeface="Caladea"/>
              </a:rPr>
              <a:t>  Process </a:t>
            </a:r>
            <a:r>
              <a:rPr lang="en-GB" sz="2800" b="1" dirty="0">
                <a:latin typeface="Caladea"/>
              </a:rPr>
              <a:t>Id</a:t>
            </a:r>
            <a:endParaRPr lang="en-GB" sz="2800" dirty="0">
              <a:latin typeface="Caladea"/>
            </a:endParaRP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Caladea"/>
              </a:rPr>
              <a:t>2)   Process State</a:t>
            </a:r>
            <a:endParaRPr lang="en-GB" sz="2800" dirty="0">
              <a:latin typeface="Caladea"/>
            </a:endParaRP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Caladea"/>
              </a:rPr>
              <a:t>3)   CPU registers</a:t>
            </a:r>
            <a:endParaRPr lang="en-GB" sz="2800" dirty="0">
              <a:latin typeface="Caladea"/>
            </a:endParaRP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Caladea"/>
              </a:rPr>
              <a:t>4)   I/O status information</a:t>
            </a:r>
            <a:endParaRPr lang="en-US" sz="2800" dirty="0">
              <a:latin typeface="Caladea"/>
            </a:endParaRP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Caladea"/>
              </a:rPr>
              <a:t>5)   CPU scheduling information</a:t>
            </a:r>
            <a:endParaRPr lang="en-US" sz="2800" dirty="0">
              <a:latin typeface="Caladea"/>
            </a:endParaRPr>
          </a:p>
        </p:txBody>
      </p:sp>
      <p:pic>
        <p:nvPicPr>
          <p:cNvPr id="5" name="Picture 4" descr="Process-Managem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198" y="142852"/>
            <a:ext cx="4071966" cy="600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6172200" cy="531803"/>
          </a:xfrm>
        </p:spPr>
        <p:txBody>
          <a:bodyPr/>
          <a:lstStyle/>
          <a:p>
            <a:r>
              <a:rPr lang="en-GB" dirty="0"/>
              <a:t>Process Control Block (PCB)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8494" y="564674"/>
            <a:ext cx="9467968" cy="47756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Each process is represented in OS by </a:t>
            </a:r>
            <a:r>
              <a:rPr lang="en-GB" sz="1600" b="1" dirty="0"/>
              <a:t>PCB </a:t>
            </a:r>
            <a:r>
              <a:rPr lang="en-GB" sz="1600" dirty="0"/>
              <a:t> also called as </a:t>
            </a:r>
            <a:r>
              <a:rPr lang="en-GB" sz="1600" b="1" dirty="0"/>
              <a:t>Task control block (TCB)</a:t>
            </a:r>
          </a:p>
          <a:p>
            <a:r>
              <a:rPr lang="en-GB" sz="1600" dirty="0"/>
              <a:t>Every process has its </a:t>
            </a:r>
            <a:r>
              <a:rPr lang="en-GB" sz="1600" dirty="0">
                <a:solidFill>
                  <a:srgbClr val="FF0000"/>
                </a:solidFill>
              </a:rPr>
              <a:t>own</a:t>
            </a:r>
            <a:r>
              <a:rPr lang="en-GB" sz="1600" dirty="0"/>
              <a:t> </a:t>
            </a:r>
            <a:r>
              <a:rPr lang="en-GB" sz="1600" b="1" dirty="0"/>
              <a:t>program control block(PCB</a:t>
            </a:r>
            <a:r>
              <a:rPr lang="en-GB" sz="1600" dirty="0"/>
              <a:t>), i.e.; each process will have a unique</a:t>
            </a:r>
            <a:r>
              <a:rPr lang="en-GB" sz="1600" b="1" dirty="0"/>
              <a:t> PCB </a:t>
            </a:r>
          </a:p>
          <a:p>
            <a:r>
              <a:rPr lang="en-GB" sz="1600" dirty="0"/>
              <a:t>A PCB has the following information about a process:</a:t>
            </a:r>
          </a:p>
          <a:p>
            <a:pPr marL="241300" indent="-228600">
              <a:spcBef>
                <a:spcPts val="7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altLang="en-US" b="1" i="1" dirty="0"/>
              <a:t>Process number: </a:t>
            </a:r>
            <a:r>
              <a:rPr lang="en-US" altLang="en-US" i="1" dirty="0">
                <a:solidFill>
                  <a:srgbClr val="FF0000"/>
                </a:solidFill>
              </a:rPr>
              <a:t>unique id of a process</a:t>
            </a:r>
            <a:endParaRPr lang="en-GB" spc="-5" dirty="0">
              <a:solidFill>
                <a:srgbClr val="FF0000"/>
              </a:solidFill>
              <a:cs typeface="Carlito"/>
            </a:endParaRPr>
          </a:p>
          <a:p>
            <a:pPr marL="241300" indent="-228600">
              <a:spcBef>
                <a:spcPts val="7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spc="-5" dirty="0">
                <a:cs typeface="Carlito"/>
              </a:rPr>
              <a:t>Process </a:t>
            </a:r>
            <a:r>
              <a:rPr lang="en-GB" b="1" spc="-25" dirty="0">
                <a:cs typeface="Carlito"/>
              </a:rPr>
              <a:t>state –</a:t>
            </a:r>
            <a:r>
              <a:rPr lang="en-GB" b="1" dirty="0">
                <a:cs typeface="Carlito"/>
              </a:rPr>
              <a:t> </a:t>
            </a:r>
            <a:r>
              <a:rPr lang="en-GB" dirty="0">
                <a:solidFill>
                  <a:srgbClr val="0070C0"/>
                </a:solidFill>
                <a:cs typeface="Carlito"/>
              </a:rPr>
              <a:t>state may be ready, new, </a:t>
            </a:r>
            <a:r>
              <a:rPr lang="en-GB" spc="-5" dirty="0">
                <a:solidFill>
                  <a:srgbClr val="0070C0"/>
                </a:solidFill>
                <a:cs typeface="Carlito"/>
              </a:rPr>
              <a:t>running, waiting or terminated</a:t>
            </a:r>
            <a:endParaRPr lang="en-GB" dirty="0">
              <a:solidFill>
                <a:srgbClr val="0070C0"/>
              </a:solidFill>
              <a:cs typeface="Carlito"/>
            </a:endParaRPr>
          </a:p>
          <a:p>
            <a:pPr marL="241300" indent="-228600"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spc="-15" dirty="0">
                <a:cs typeface="Carlito"/>
              </a:rPr>
              <a:t>Program counter </a:t>
            </a:r>
            <a:r>
              <a:rPr lang="en-GB" altLang="en-US" i="1" dirty="0">
                <a:solidFill>
                  <a:srgbClr val="FF0000"/>
                </a:solidFill>
              </a:rPr>
              <a:t>- location of the next instruction to be executed</a:t>
            </a:r>
          </a:p>
          <a:p>
            <a:pPr marL="241300" indent="-228600"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spc="-5" dirty="0">
                <a:cs typeface="Carlito"/>
              </a:rPr>
              <a:t>CPU </a:t>
            </a:r>
            <a:r>
              <a:rPr lang="en-GB" b="1" spc="-20" dirty="0">
                <a:cs typeface="Carlito"/>
              </a:rPr>
              <a:t>registers –</a:t>
            </a:r>
            <a:r>
              <a:rPr lang="en-GB" b="1" dirty="0">
                <a:cs typeface="Carlito"/>
              </a:rPr>
              <a:t> </a:t>
            </a:r>
            <a:r>
              <a:rPr lang="en-GB" dirty="0">
                <a:solidFill>
                  <a:srgbClr val="0070C0"/>
                </a:solidFill>
                <a:cs typeface="Carlito"/>
              </a:rPr>
              <a:t>number of registers &amp; type of registers vary from system to system, depending upon the computer architecture. These includes accumulators, index registers, stack pointers, </a:t>
            </a:r>
            <a:r>
              <a:rPr lang="en-GB" dirty="0" err="1">
                <a:solidFill>
                  <a:srgbClr val="0070C0"/>
                </a:solidFill>
                <a:cs typeface="Carlito"/>
              </a:rPr>
              <a:t>etc</a:t>
            </a:r>
            <a:endParaRPr lang="en-GB" dirty="0">
              <a:solidFill>
                <a:srgbClr val="0070C0"/>
              </a:solidFill>
              <a:cs typeface="Carlito"/>
            </a:endParaRPr>
          </a:p>
          <a:p>
            <a:pPr marL="241300" indent="-228600"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spc="-5" dirty="0">
                <a:cs typeface="Carlito"/>
              </a:rPr>
              <a:t>CPU </a:t>
            </a:r>
            <a:r>
              <a:rPr lang="en-GB" b="1" spc="-10" dirty="0">
                <a:cs typeface="Carlito"/>
              </a:rPr>
              <a:t>scheduling information-</a:t>
            </a:r>
            <a:r>
              <a:rPr lang="en-GB" b="1" spc="105" dirty="0">
                <a:cs typeface="Carlito"/>
              </a:rPr>
              <a:t> </a:t>
            </a:r>
            <a:r>
              <a:rPr lang="en-GB" altLang="en-US" i="1" dirty="0">
                <a:solidFill>
                  <a:srgbClr val="FF0000"/>
                </a:solidFill>
              </a:rPr>
              <a:t>includes process priorities, pointers to scheduling queues &amp; some other scheduling parameters</a:t>
            </a:r>
          </a:p>
          <a:p>
            <a:pPr marL="241300" marR="658495" indent="-228600">
              <a:spcBef>
                <a:spcPts val="10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spc="-10" dirty="0">
                <a:cs typeface="Carlito"/>
              </a:rPr>
              <a:t>Memory-management information -</a:t>
            </a:r>
            <a:r>
              <a:rPr lang="en-GB" b="1" dirty="0">
                <a:cs typeface="Carlito"/>
              </a:rPr>
              <a:t>  </a:t>
            </a:r>
            <a:r>
              <a:rPr lang="en-GB" dirty="0">
                <a:solidFill>
                  <a:srgbClr val="0070C0"/>
                </a:solidFill>
                <a:cs typeface="Carlito"/>
              </a:rPr>
              <a:t>includes where in memory the program is stored, the base and limit register values, the page table / segment table </a:t>
            </a:r>
            <a:r>
              <a:rPr lang="en-GB" dirty="0" err="1">
                <a:solidFill>
                  <a:srgbClr val="0070C0"/>
                </a:solidFill>
                <a:cs typeface="Carlito"/>
              </a:rPr>
              <a:t>etc</a:t>
            </a:r>
            <a:endParaRPr lang="en-GB" dirty="0">
              <a:solidFill>
                <a:srgbClr val="0070C0"/>
              </a:solidFill>
              <a:cs typeface="Carlito"/>
            </a:endParaRPr>
          </a:p>
          <a:p>
            <a:pPr marL="241300" marR="200660" indent="-228600">
              <a:spcBef>
                <a:spcPts val="101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spc="-10" dirty="0">
                <a:cs typeface="Carlito"/>
              </a:rPr>
              <a:t>Accounting information -</a:t>
            </a:r>
            <a:r>
              <a:rPr lang="en-GB" dirty="0">
                <a:cs typeface="Carlito"/>
              </a:rPr>
              <a:t> </a:t>
            </a:r>
            <a:r>
              <a:rPr lang="en-GB" altLang="en-US" i="1" dirty="0">
                <a:solidFill>
                  <a:srgbClr val="FF0000"/>
                </a:solidFill>
              </a:rPr>
              <a:t>CPU used, clock  time elapsed since start, time limits</a:t>
            </a:r>
          </a:p>
          <a:p>
            <a:pPr marL="241300" marR="650875" indent="-228600">
              <a:spcBef>
                <a:spcPts val="101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GB" b="1" dirty="0">
                <a:cs typeface="Carlito"/>
              </a:rPr>
              <a:t>I/O </a:t>
            </a:r>
            <a:r>
              <a:rPr lang="en-GB" b="1" spc="-20" dirty="0">
                <a:cs typeface="Carlito"/>
              </a:rPr>
              <a:t>status </a:t>
            </a:r>
            <a:r>
              <a:rPr lang="en-GB" b="1" spc="-10" dirty="0">
                <a:cs typeface="Carlito"/>
              </a:rPr>
              <a:t>information </a:t>
            </a:r>
            <a:r>
              <a:rPr lang="en-GB" b="1" dirty="0">
                <a:cs typeface="Carlito"/>
              </a:rPr>
              <a:t>– </a:t>
            </a:r>
            <a:r>
              <a:rPr lang="en-GB" dirty="0">
                <a:solidFill>
                  <a:srgbClr val="0070C0"/>
                </a:solidFill>
                <a:cs typeface="Carlito"/>
              </a:rPr>
              <a:t>I/O devices  allocated to process, list of open files</a:t>
            </a:r>
            <a:endParaRPr lang="en-US" dirty="0">
              <a:solidFill>
                <a:srgbClr val="0070C0"/>
              </a:solidFill>
              <a:cs typeface="Carlito"/>
            </a:endParaRPr>
          </a:p>
        </p:txBody>
      </p:sp>
      <p:pic>
        <p:nvPicPr>
          <p:cNvPr id="4" name="Picture 3" descr="Screenshot (6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72" y="571480"/>
            <a:ext cx="2700728" cy="57150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747" y="31191"/>
            <a:ext cx="7570343" cy="578409"/>
          </a:xfrm>
        </p:spPr>
        <p:txBody>
          <a:bodyPr/>
          <a:lstStyle/>
          <a:p>
            <a:r>
              <a:rPr lang="en-US" b="1" dirty="0"/>
              <a:t>Process State Diagram: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685800"/>
            <a:ext cx="11201400" cy="74293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State of a process is defined as the current activity/status of the process.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When a process starts executing, it keeps on changing its state from one state to another.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36" y="1643050"/>
            <a:ext cx="11144328" cy="492922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10015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5924042" cy="533400"/>
          </a:xfrm>
        </p:spPr>
        <p:txBody>
          <a:bodyPr/>
          <a:lstStyle/>
          <a:p>
            <a:r>
              <a:rPr lang="en-US" b="1" dirty="0"/>
              <a:t>Process States: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2900" y="685800"/>
            <a:ext cx="11506200" cy="46628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pc="-5" dirty="0">
                <a:cs typeface="Caladea"/>
              </a:rPr>
              <a:t>The various states of a process are: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New: </a:t>
            </a:r>
            <a:r>
              <a:rPr lang="en-GB" dirty="0"/>
              <a:t>when process in secondary memory and need to be executed, it will be in new state.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Ready: </a:t>
            </a:r>
            <a:r>
              <a:rPr lang="en-US" dirty="0"/>
              <a:t>process is allocated with few resources &amp; set to execute, but CPU time is not allocated. That means, process is ready to execute or process is waiting for CPU allocation</a:t>
            </a:r>
            <a:endParaRPr lang="en-US" b="1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Running: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US" dirty="0"/>
              <a:t>when the instructions of the process is getting executed, process will be in running state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Waiting(or Block):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sometimes, a process has to wait for some resources to become available or for some event to occur. In such conditions, we can say process is in waiting state.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Terminated: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The process completed its execution successfully</a:t>
            </a:r>
            <a:r>
              <a:rPr lang="en-GB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GB" dirty="0"/>
          </a:p>
          <a:p>
            <a:pPr algn="just"/>
            <a:r>
              <a:rPr lang="en-US" dirty="0"/>
              <a:t>Name of these 5 states may vary from one OS to another, but the concept remains same</a:t>
            </a:r>
          </a:p>
          <a:p>
            <a:pPr algn="just"/>
            <a:r>
              <a:rPr lang="en-US" dirty="0"/>
              <a:t>It is important to realize that, only one process can be in running state at any time, but, many processes may be in ready &amp; waiting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570" y="0"/>
            <a:ext cx="5619242" cy="533400"/>
          </a:xfrm>
        </p:spPr>
        <p:txBody>
          <a:bodyPr/>
          <a:lstStyle/>
          <a:p>
            <a:r>
              <a:rPr lang="en-GB" dirty="0"/>
              <a:t>Context Switch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6646" y="552451"/>
            <a:ext cx="11787270" cy="50167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b="1" dirty="0"/>
              <a:t>Context switch </a:t>
            </a:r>
            <a:r>
              <a:rPr lang="en-GB" sz="2000" dirty="0"/>
              <a:t>occurs when the time slice for </a:t>
            </a:r>
            <a:r>
              <a:rPr lang="en-GB" sz="2000" b="1" dirty="0">
                <a:solidFill>
                  <a:srgbClr val="7030A0"/>
                </a:solidFill>
              </a:rPr>
              <a:t>one process has expired </a:t>
            </a:r>
            <a:r>
              <a:rPr lang="en-GB" sz="2000" b="1" dirty="0"/>
              <a:t>or </a:t>
            </a:r>
            <a:r>
              <a:rPr lang="en-GB" sz="2000" b="1" dirty="0">
                <a:solidFill>
                  <a:srgbClr val="00B050"/>
                </a:solidFill>
              </a:rPr>
              <a:t>an interrupt has </a:t>
            </a:r>
            <a:r>
              <a:rPr lang="en-GB" sz="2000" b="1" dirty="0" smtClean="0">
                <a:solidFill>
                  <a:srgbClr val="00B050"/>
                </a:solidFill>
              </a:rPr>
              <a:t>occurred</a:t>
            </a:r>
            <a:r>
              <a:rPr lang="en-GB" sz="2000" b="1" dirty="0" smtClean="0"/>
              <a:t>,  </a:t>
            </a:r>
            <a:r>
              <a:rPr lang="en-GB" sz="2000" b="1" dirty="0"/>
              <a:t>&amp; a new process is to be loaded from the ready queue.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dirty="0"/>
              <a:t>Switching the CPU to another process requires </a:t>
            </a:r>
            <a:r>
              <a:rPr lang="en-GB" sz="2000" b="1" dirty="0"/>
              <a:t>state-save </a:t>
            </a:r>
            <a:r>
              <a:rPr lang="en-GB" sz="2000" dirty="0"/>
              <a:t>of the current process &amp; </a:t>
            </a:r>
            <a:r>
              <a:rPr lang="en-GB" sz="2000" b="1" dirty="0"/>
              <a:t>a state-restore </a:t>
            </a:r>
            <a:r>
              <a:rPr lang="en-GB" sz="2000" dirty="0"/>
              <a:t>of different process. This task is known as </a:t>
            </a:r>
            <a:r>
              <a:rPr lang="en-GB" sz="2000" b="1" dirty="0"/>
              <a:t>context switch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FF0000"/>
                </a:solidFill>
              </a:rPr>
              <a:t>Saving &amp; restoring states involves saving &amp; restoring of all of the registers &amp; PC’s as well as the PCB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dirty="0"/>
              <a:t>Context switching happens very frequently &amp; the overhead of doing the switching is just loss of CPU time, so context switches(state-save &amp; state restore) need to be as fast as possible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dirty="0"/>
              <a:t>Special hardware is to speed up the context switching, such as single machine instructions for saving or restoring all registers at once.</a:t>
            </a:r>
          </a:p>
          <a:p>
            <a:pPr algn="just">
              <a:lnSpc>
                <a:spcPct val="150000"/>
              </a:lnSpc>
            </a:pPr>
            <a:r>
              <a:rPr lang="en-GB" sz="2800" b="1" dirty="0">
                <a:solidFill>
                  <a:srgbClr val="FF0000"/>
                </a:solidFill>
              </a:rPr>
              <a:t>When does a context switch happen?</a:t>
            </a:r>
          </a:p>
          <a:p>
            <a:pPr algn="just"/>
            <a:r>
              <a:rPr lang="en-GB" sz="2000" dirty="0"/>
              <a:t>1. When a high-priority process comes to ready state (i.e. With a higher priority than the running process)</a:t>
            </a:r>
          </a:p>
          <a:p>
            <a:pPr algn="just"/>
            <a:r>
              <a:rPr lang="en-US" sz="2000" dirty="0"/>
              <a:t>2. An Interrupt occurs</a:t>
            </a:r>
          </a:p>
          <a:p>
            <a:pPr algn="just"/>
            <a:r>
              <a:rPr lang="en-GB" sz="2000" dirty="0"/>
              <a:t>3. User and kernel mode switch </a:t>
            </a:r>
          </a:p>
          <a:p>
            <a:pPr algn="just"/>
            <a:r>
              <a:rPr lang="en-GB" sz="2000" dirty="0"/>
              <a:t>4. Pre-emptive CPU scheduling used.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24430" y="4572008"/>
            <a:ext cx="6096000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algn="ctr"/>
            <a:r>
              <a:rPr lang="en-GB" sz="2400" b="1" dirty="0" smtClean="0">
                <a:solidFill>
                  <a:srgbClr val="7030A0"/>
                </a:solidFill>
              </a:rPr>
              <a:t>Context switching allows multiple processes to share a single central processing unit(CPU).</a:t>
            </a:r>
            <a:endParaRPr lang="en-GB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12" y="0"/>
            <a:ext cx="11811000" cy="435765"/>
          </a:xfrm>
        </p:spPr>
        <p:txBody>
          <a:bodyPr/>
          <a:lstStyle/>
          <a:p>
            <a:r>
              <a:rPr lang="en-GB" sz="2800" dirty="0"/>
              <a:t>What happens when the </a:t>
            </a:r>
            <a:r>
              <a:rPr lang="en-GB" sz="2800" spc="-5" dirty="0"/>
              <a:t>CPU </a:t>
            </a:r>
            <a:r>
              <a:rPr lang="en-GB" sz="2800" spc="-20" dirty="0"/>
              <a:t>Switch </a:t>
            </a:r>
            <a:r>
              <a:rPr lang="en-GB" sz="2800" spc="-50" dirty="0"/>
              <a:t>From </a:t>
            </a:r>
            <a:r>
              <a:rPr lang="en-GB" sz="2800" spc="-15" dirty="0"/>
              <a:t>a process</a:t>
            </a:r>
            <a:r>
              <a:rPr lang="en-GB" sz="2800" spc="120" dirty="0"/>
              <a:t> </a:t>
            </a:r>
            <a:r>
              <a:rPr lang="en-GB" sz="2800" spc="-30" dirty="0"/>
              <a:t>to another process?</a:t>
            </a:r>
            <a:endParaRPr lang="en-US" sz="2800" dirty="0"/>
          </a:p>
        </p:txBody>
      </p:sp>
      <p:sp>
        <p:nvSpPr>
          <p:cNvPr id="3" name="object 2"/>
          <p:cNvSpPr/>
          <p:nvPr/>
        </p:nvSpPr>
        <p:spPr>
          <a:xfrm>
            <a:off x="1219200" y="435764"/>
            <a:ext cx="9067800" cy="2383636"/>
          </a:xfrm>
          <a:prstGeom prst="rect">
            <a:avLst/>
          </a:prstGeom>
          <a:blipFill>
            <a:blip r:embed="rId2" cstate="print"/>
            <a:srcRect/>
            <a:stretch>
              <a:fillRect b="-16943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/>
          <p:cNvSpPr/>
          <p:nvPr/>
        </p:nvSpPr>
        <p:spPr>
          <a:xfrm>
            <a:off x="1219200" y="457200"/>
            <a:ext cx="9067800" cy="3298036"/>
          </a:xfrm>
          <a:prstGeom prst="rect">
            <a:avLst/>
          </a:prstGeom>
          <a:blipFill>
            <a:blip r:embed="rId2" cstate="print"/>
            <a:srcRect/>
            <a:stretch>
              <a:fillRect t="1" b="-9473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2"/>
          <p:cNvSpPr/>
          <p:nvPr/>
        </p:nvSpPr>
        <p:spPr>
          <a:xfrm>
            <a:off x="1219200" y="435764"/>
            <a:ext cx="9067800" cy="4212436"/>
          </a:xfrm>
          <a:prstGeom prst="rect">
            <a:avLst/>
          </a:prstGeom>
          <a:blipFill>
            <a:blip r:embed="rId2" cstate="print"/>
            <a:srcRect/>
            <a:stretch>
              <a:fillRect b="-5246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2"/>
          <p:cNvSpPr/>
          <p:nvPr/>
        </p:nvSpPr>
        <p:spPr>
          <a:xfrm>
            <a:off x="1219200" y="435764"/>
            <a:ext cx="9067800" cy="4745836"/>
          </a:xfrm>
          <a:prstGeom prst="rect">
            <a:avLst/>
          </a:prstGeom>
          <a:blipFill>
            <a:blip r:embed="rId2" cstate="print"/>
            <a:srcRect/>
            <a:stretch>
              <a:fillRect b="-35324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/>
          <p:cNvSpPr/>
          <p:nvPr/>
        </p:nvSpPr>
        <p:spPr>
          <a:xfrm>
            <a:off x="238084" y="435764"/>
            <a:ext cx="11215766" cy="6422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543" y="30607"/>
            <a:ext cx="7466965" cy="553998"/>
          </a:xfrm>
        </p:spPr>
        <p:txBody>
          <a:bodyPr/>
          <a:lstStyle/>
          <a:p>
            <a:r>
              <a:rPr lang="en-GB" dirty="0"/>
              <a:t>Quiz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878681"/>
            <a:ext cx="11049000" cy="3693319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IN" dirty="0"/>
              <a:t>The processes that are residing in main memory and are ready and waiting to execute are kept on a queue called</a:t>
            </a:r>
            <a:br>
              <a:rPr lang="en-IN" dirty="0"/>
            </a:br>
            <a:r>
              <a:rPr lang="en-IN" dirty="0"/>
              <a:t>a) job queue</a:t>
            </a:r>
            <a:br>
              <a:rPr lang="en-IN" dirty="0"/>
            </a:br>
            <a:r>
              <a:rPr lang="en-IN" dirty="0"/>
              <a:t>b) ready queue</a:t>
            </a:r>
            <a:br>
              <a:rPr lang="en-IN" dirty="0"/>
            </a:br>
            <a:r>
              <a:rPr lang="en-IN" dirty="0"/>
              <a:t>c) waiting queue</a:t>
            </a:r>
            <a:br>
              <a:rPr lang="en-IN" dirty="0"/>
            </a:br>
            <a:r>
              <a:rPr lang="en-IN" dirty="0"/>
              <a:t>d) process queue</a:t>
            </a:r>
            <a:br>
              <a:rPr lang="en-IN" dirty="0"/>
            </a:br>
            <a:endParaRPr lang="en-IN" dirty="0"/>
          </a:p>
          <a:p>
            <a:r>
              <a:rPr lang="en-IN" dirty="0"/>
              <a:t>The processes that are waiting to resolve the interrupt are kept on a queue called</a:t>
            </a:r>
            <a:br>
              <a:rPr lang="en-IN" dirty="0"/>
            </a:br>
            <a:r>
              <a:rPr lang="en-IN" dirty="0"/>
              <a:t>a) job queue</a:t>
            </a:r>
            <a:br>
              <a:rPr lang="en-IN" dirty="0"/>
            </a:br>
            <a:r>
              <a:rPr lang="en-IN" dirty="0"/>
              <a:t>b) ready queue</a:t>
            </a:r>
            <a:br>
              <a:rPr lang="en-IN" dirty="0"/>
            </a:br>
            <a:r>
              <a:rPr lang="en-IN" dirty="0"/>
              <a:t>c) waiting queue</a:t>
            </a:r>
            <a:br>
              <a:rPr lang="en-IN" dirty="0"/>
            </a:br>
            <a:r>
              <a:rPr lang="en-IN" dirty="0"/>
              <a:t>d) process queue</a:t>
            </a:r>
          </a:p>
        </p:txBody>
      </p:sp>
    </p:spTree>
    <p:extLst>
      <p:ext uri="{BB962C8B-B14F-4D97-AF65-F5344CB8AC3E}">
        <p14:creationId xmlns:p14="http://schemas.microsoft.com/office/powerpoint/2010/main" xmlns="" val="181619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543" y="30607"/>
            <a:ext cx="7466965" cy="553998"/>
          </a:xfrm>
        </p:spPr>
        <p:txBody>
          <a:bodyPr/>
          <a:lstStyle/>
          <a:p>
            <a:r>
              <a:rPr lang="en-GB" dirty="0"/>
              <a:t>Quiz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744141"/>
            <a:ext cx="11049000" cy="461664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dirty="0"/>
              <a:t>Scheduler is a program that _____ the program to be executed.</a:t>
            </a:r>
          </a:p>
          <a:p>
            <a:r>
              <a:rPr lang="en-GB" dirty="0"/>
              <a:t>_________ is a program that does the context switching process. </a:t>
            </a:r>
            <a:endParaRPr lang="en-IN" dirty="0"/>
          </a:p>
          <a:p>
            <a:endParaRPr lang="en-IN" dirty="0"/>
          </a:p>
          <a:p>
            <a:r>
              <a:rPr lang="en-IN" dirty="0"/>
              <a:t>The switching of the CPU from one process or thread to another is called :</a:t>
            </a:r>
            <a:br>
              <a:rPr lang="en-IN" dirty="0"/>
            </a:br>
            <a:r>
              <a:rPr lang="en-IN" dirty="0"/>
              <a:t>a) process switch</a:t>
            </a:r>
            <a:br>
              <a:rPr lang="en-IN" dirty="0"/>
            </a:br>
            <a:r>
              <a:rPr lang="en-IN" dirty="0"/>
              <a:t>b) task switch</a:t>
            </a:r>
            <a:br>
              <a:rPr lang="en-IN" dirty="0"/>
            </a:br>
            <a:r>
              <a:rPr lang="en-IN" dirty="0"/>
              <a:t>c) context switch</a:t>
            </a:r>
            <a:br>
              <a:rPr lang="en-IN" dirty="0"/>
            </a:br>
            <a:r>
              <a:rPr lang="en-IN" dirty="0"/>
              <a:t>d) all of the mentioned</a:t>
            </a:r>
            <a:br>
              <a:rPr lang="en-IN" dirty="0"/>
            </a:br>
            <a:endParaRPr lang="en-IN" dirty="0"/>
          </a:p>
          <a:p>
            <a:r>
              <a:rPr lang="en-IN" dirty="0"/>
              <a:t>Scheduling is done so as to :</a:t>
            </a:r>
            <a:br>
              <a:rPr lang="en-IN" dirty="0"/>
            </a:br>
            <a:r>
              <a:rPr lang="en-IN" dirty="0"/>
              <a:t>a) increase the throughput</a:t>
            </a:r>
            <a:br>
              <a:rPr lang="en-IN" dirty="0"/>
            </a:br>
            <a:r>
              <a:rPr lang="en-IN" dirty="0"/>
              <a:t>b) decrease the throughput</a:t>
            </a:r>
            <a:br>
              <a:rPr lang="en-IN" dirty="0"/>
            </a:br>
            <a:r>
              <a:rPr lang="en-IN" dirty="0"/>
              <a:t>c) increase the duration of a specific amount of work</a:t>
            </a:r>
            <a:br>
              <a:rPr lang="en-IN" dirty="0"/>
            </a:br>
            <a:r>
              <a:rPr lang="en-IN" dirty="0"/>
              <a:t>d) None of the mentioned</a:t>
            </a:r>
            <a:br>
              <a:rPr lang="en-I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42041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2819400" cy="492443"/>
          </a:xfrm>
        </p:spPr>
        <p:txBody>
          <a:bodyPr/>
          <a:lstStyle/>
          <a:p>
            <a:r>
              <a:rPr lang="en-US" sz="32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Lecture 12</a:t>
            </a:r>
            <a:endParaRPr lang="en-US" sz="3200" b="1" dirty="0">
              <a:solidFill>
                <a:srgbClr val="FF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51663" y="1214422"/>
            <a:ext cx="10931437" cy="206210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latin typeface="Cambria" pitchFamily="18" charset="0"/>
                <a:ea typeface="Cambria" pitchFamily="18" charset="0"/>
                <a:cs typeface="Arial" pitchFamily="34" charset="0"/>
              </a:rPr>
              <a:t>Operations on Processes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3200" b="1" dirty="0" smtClean="0">
              <a:latin typeface="Cambria" pitchFamily="18" charset="0"/>
              <a:ea typeface="Cambria" pitchFamily="18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7030A0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LO1: Explain process operation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7030A0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LO2: Describe IPC</a:t>
            </a:r>
            <a:endParaRPr lang="en-US" sz="3600" b="1" dirty="0" smtClean="0">
              <a:solidFill>
                <a:srgbClr val="7030A0"/>
              </a:solidFill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08" y="674906"/>
            <a:ext cx="11930146" cy="46269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400" spc="-15" dirty="0">
                <a:latin typeface="Caladea"/>
                <a:cs typeface="Caladea"/>
              </a:rPr>
              <a:t>Process can </a:t>
            </a:r>
            <a:r>
              <a:rPr lang="en-GB" sz="2400" spc="-15" dirty="0">
                <a:solidFill>
                  <a:srgbClr val="FF0000"/>
                </a:solidFill>
                <a:latin typeface="Caladea"/>
                <a:cs typeface="Caladea"/>
              </a:rPr>
              <a:t>be created, executed &amp; deleted dynamically</a:t>
            </a:r>
            <a:r>
              <a:rPr lang="en-GB" sz="2400" spc="-15" dirty="0">
                <a:latin typeface="Caladea"/>
                <a:cs typeface="Caladea"/>
              </a:rPr>
              <a:t>.</a:t>
            </a:r>
          </a:p>
          <a:p>
            <a:pPr marL="469900" indent="-457200" algn="just">
              <a:lnSpc>
                <a:spcPct val="100000"/>
              </a:lnSpc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400" spc="-15" dirty="0">
                <a:latin typeface="Caladea"/>
                <a:cs typeface="Caladea"/>
              </a:rPr>
              <a:t>A system </a:t>
            </a:r>
            <a:r>
              <a:rPr lang="en-GB" sz="2400" spc="-5" dirty="0">
                <a:latin typeface="Caladea"/>
                <a:cs typeface="Caladea"/>
              </a:rPr>
              <a:t>must </a:t>
            </a:r>
            <a:r>
              <a:rPr lang="en-GB" sz="2400" spc="-15" dirty="0">
                <a:latin typeface="Caladea"/>
                <a:cs typeface="Caladea"/>
              </a:rPr>
              <a:t>provide </a:t>
            </a:r>
            <a:r>
              <a:rPr lang="en-GB" sz="2400" dirty="0">
                <a:latin typeface="Caladea"/>
                <a:cs typeface="Caladea"/>
              </a:rPr>
              <a:t>mechanisms</a:t>
            </a:r>
            <a:r>
              <a:rPr lang="en-GB" sz="2400" spc="-170" dirty="0">
                <a:latin typeface="Caladea"/>
                <a:cs typeface="Caladea"/>
              </a:rPr>
              <a:t> </a:t>
            </a:r>
            <a:r>
              <a:rPr lang="en-GB" sz="2400" spc="-15" dirty="0">
                <a:latin typeface="Caladea"/>
                <a:cs typeface="Caladea"/>
              </a:rPr>
              <a:t>for: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process creation &amp; process termination</a:t>
            </a:r>
          </a:p>
          <a:p>
            <a:pPr marL="469900" indent="-457200" algn="just">
              <a:lnSpc>
                <a:spcPct val="100000"/>
              </a:lnSpc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b="1" spc="-5" dirty="0">
                <a:latin typeface="Caladea"/>
                <a:cs typeface="Caladea"/>
              </a:rPr>
              <a:t>Process creation</a:t>
            </a:r>
          </a:p>
          <a:p>
            <a:pPr marL="927100" lvl="1" indent="-4572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A process may in turn can create other processes through appropriate system calls like fork or spawn or </a:t>
            </a:r>
            <a:r>
              <a:rPr lang="en-GB" sz="2000" spc="-5" dirty="0" err="1">
                <a:latin typeface="Caladea"/>
                <a:cs typeface="Caladea"/>
              </a:rPr>
              <a:t>CreateProcess</a:t>
            </a:r>
            <a:endParaRPr lang="en-GB" sz="2000" spc="-5" dirty="0">
              <a:latin typeface="Caladea"/>
              <a:cs typeface="Caladea"/>
            </a:endParaRPr>
          </a:p>
          <a:p>
            <a:pPr marL="927100" lvl="1" indent="-4572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Process which creates another process is called </a:t>
            </a:r>
            <a:r>
              <a:rPr lang="en-GB" sz="2000" b="1" spc="-5" dirty="0">
                <a:latin typeface="Caladea"/>
                <a:cs typeface="Caladea"/>
              </a:rPr>
              <a:t>“parent process” </a:t>
            </a:r>
            <a:r>
              <a:rPr lang="en-GB" sz="2000" spc="-5" dirty="0">
                <a:latin typeface="Caladea"/>
                <a:cs typeface="Caladea"/>
              </a:rPr>
              <a:t>&amp; newly created process is called as </a:t>
            </a:r>
            <a:r>
              <a:rPr lang="en-GB" sz="2000" b="1" spc="-5" dirty="0">
                <a:latin typeface="Caladea"/>
                <a:cs typeface="Caladea"/>
              </a:rPr>
              <a:t>“child process”</a:t>
            </a:r>
          </a:p>
          <a:p>
            <a:pPr marL="927100" lvl="1" indent="-4572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Each of these newly created processes may in turn create other processes, forming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a </a:t>
            </a:r>
            <a:r>
              <a:rPr lang="en-GB" sz="2000" b="1" spc="-5" dirty="0">
                <a:solidFill>
                  <a:srgbClr val="FF0000"/>
                </a:solidFill>
                <a:latin typeface="Caladea"/>
                <a:cs typeface="Caladea"/>
              </a:rPr>
              <a:t>tree of processes</a:t>
            </a:r>
          </a:p>
          <a:p>
            <a:pPr marL="927100" lvl="1" indent="-4572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Each &amp; every process is having an unique integer number called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PID</a:t>
            </a:r>
            <a:r>
              <a:rPr lang="en-GB" sz="2000" spc="-5" dirty="0">
                <a:latin typeface="Caladea"/>
                <a:cs typeface="Caladea"/>
              </a:rPr>
              <a:t>.</a:t>
            </a:r>
          </a:p>
          <a:p>
            <a:pPr marL="927100" lvl="1" indent="-4572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Most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OS’s identify the processes through PID only</a:t>
            </a:r>
          </a:p>
          <a:p>
            <a:pPr marL="927100" lvl="1" indent="-4572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Every process needs certain resources such as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CPU time, memory, files, I/O devices</a:t>
            </a:r>
            <a:r>
              <a:rPr lang="en-GB" sz="2000" spc="-5" dirty="0">
                <a:latin typeface="Caladea"/>
                <a:cs typeface="Caladea"/>
              </a:rPr>
              <a:t> in order to complete its </a:t>
            </a:r>
            <a:r>
              <a:rPr lang="en-GB" sz="2000" spc="-5" dirty="0" smtClean="0">
                <a:latin typeface="Caladea"/>
                <a:cs typeface="Caladea"/>
              </a:rPr>
              <a:t>task</a:t>
            </a:r>
            <a:endParaRPr lang="en-GB" sz="2400" spc="-5" dirty="0">
              <a:latin typeface="Caladea"/>
              <a:cs typeface="Calad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8575"/>
            <a:ext cx="682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-15" dirty="0" smtClean="0">
                <a:solidFill>
                  <a:schemeClr val="accent1"/>
                </a:solidFill>
                <a:latin typeface="Caladea"/>
                <a:cs typeface="Caladea"/>
              </a:rPr>
              <a:t>Operations </a:t>
            </a:r>
            <a:r>
              <a:rPr lang="en-US" sz="3600" spc="-5" dirty="0">
                <a:solidFill>
                  <a:schemeClr val="accent1"/>
                </a:solidFill>
                <a:latin typeface="Caladea"/>
                <a:cs typeface="Caladea"/>
              </a:rPr>
              <a:t>on</a:t>
            </a:r>
            <a:r>
              <a:rPr lang="en-US" sz="3600" dirty="0">
                <a:solidFill>
                  <a:schemeClr val="accent1"/>
                </a:solidFill>
                <a:latin typeface="Caladea"/>
                <a:cs typeface="Caladea"/>
              </a:rPr>
              <a:t> </a:t>
            </a:r>
            <a:r>
              <a:rPr lang="en-US" sz="3600" spc="-15" dirty="0">
                <a:solidFill>
                  <a:schemeClr val="accent1"/>
                </a:solidFill>
                <a:latin typeface="Caladea"/>
                <a:cs typeface="Caladea"/>
              </a:rPr>
              <a:t>Processes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" y="651093"/>
            <a:ext cx="12192000" cy="45550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lvl="1" indent="-342900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When a process creates sub-process, that sub-process may be able to obtain its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resources</a:t>
            </a:r>
            <a:r>
              <a:rPr lang="en-GB" sz="2000" spc="-5" dirty="0">
                <a:latin typeface="Caladea"/>
                <a:cs typeface="Caladea"/>
              </a:rPr>
              <a:t> directly from the OS or from its parent process</a:t>
            </a:r>
          </a:p>
          <a:p>
            <a:pPr marL="342900" lvl="1" indent="-342900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GB" sz="2000" spc="-5" dirty="0">
                <a:latin typeface="Caladea"/>
                <a:cs typeface="Caladea"/>
              </a:rPr>
              <a:t>So, parent process must </a:t>
            </a:r>
            <a:r>
              <a:rPr lang="en-GB" sz="2000" spc="-5" dirty="0">
                <a:solidFill>
                  <a:srgbClr val="FF0000"/>
                </a:solidFill>
                <a:latin typeface="Caladea"/>
                <a:cs typeface="Caladea"/>
              </a:rPr>
              <a:t>partition</a:t>
            </a:r>
            <a:r>
              <a:rPr lang="en-GB" sz="2000" spc="-5" dirty="0">
                <a:latin typeface="Caladea"/>
                <a:cs typeface="Caladea"/>
              </a:rPr>
              <a:t> its resources among its </a:t>
            </a:r>
            <a:r>
              <a:rPr lang="en-US" sz="2000" spc="-5" dirty="0">
                <a:latin typeface="Caladea"/>
                <a:cs typeface="Caladea"/>
              </a:rPr>
              <a:t>children or it should </a:t>
            </a:r>
            <a:r>
              <a:rPr lang="en-US" sz="2000" spc="-5" dirty="0">
                <a:solidFill>
                  <a:srgbClr val="FF0000"/>
                </a:solidFill>
                <a:latin typeface="Caladea"/>
                <a:cs typeface="Caladea"/>
              </a:rPr>
              <a:t>share</a:t>
            </a:r>
            <a:r>
              <a:rPr lang="en-US" sz="2000" spc="-5" dirty="0">
                <a:latin typeface="Caladea"/>
                <a:cs typeface="Caladea"/>
              </a:rPr>
              <a:t> the resources among its child's.</a:t>
            </a:r>
          </a:p>
          <a:p>
            <a:pPr marL="342900" lvl="1" indent="-342900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US" sz="2000" spc="-5" dirty="0">
                <a:latin typeface="Caladea"/>
                <a:cs typeface="Caladea"/>
              </a:rPr>
              <a:t>When a parent process creates child process, it may pass some initialization data (i.e., input) to the child process.</a:t>
            </a:r>
          </a:p>
          <a:p>
            <a:pPr marL="342900" lvl="1" indent="-342900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US" sz="2000" spc="-5" dirty="0">
                <a:latin typeface="Caladea"/>
                <a:cs typeface="Caladea"/>
              </a:rPr>
              <a:t>When a parent process creates a new process, 2 possibilities exist in terms </a:t>
            </a:r>
            <a:r>
              <a:rPr lang="en-US" sz="2000" spc="-5" dirty="0">
                <a:solidFill>
                  <a:srgbClr val="FF0000"/>
                </a:solidFill>
                <a:latin typeface="Caladea"/>
                <a:cs typeface="Caladea"/>
              </a:rPr>
              <a:t>execution</a:t>
            </a:r>
          </a:p>
          <a:p>
            <a:pPr marL="457200" lvl="2">
              <a:spcBef>
                <a:spcPts val="380"/>
              </a:spcBef>
              <a:tabLst>
                <a:tab pos="241300" algn="l"/>
              </a:tabLst>
            </a:pPr>
            <a:r>
              <a:rPr lang="en-US" sz="2000" spc="-5" dirty="0">
                <a:solidFill>
                  <a:srgbClr val="0099FF"/>
                </a:solidFill>
                <a:latin typeface="Caladea"/>
                <a:cs typeface="Caladea"/>
              </a:rPr>
              <a:t>*) parent process continues to execute concurrently with its children</a:t>
            </a:r>
          </a:p>
          <a:p>
            <a:pPr marL="457200" lvl="2">
              <a:spcBef>
                <a:spcPts val="380"/>
              </a:spcBef>
              <a:tabLst>
                <a:tab pos="241300" algn="l"/>
              </a:tabLst>
            </a:pPr>
            <a:r>
              <a:rPr lang="en-US" sz="2000" spc="-5" dirty="0">
                <a:solidFill>
                  <a:srgbClr val="0099FF"/>
                </a:solidFill>
                <a:latin typeface="Caladea"/>
                <a:cs typeface="Caladea"/>
              </a:rPr>
              <a:t>*) parent process waits until some or all of its children have terminated</a:t>
            </a:r>
          </a:p>
          <a:p>
            <a:pPr marL="342900" lvl="2" indent="-342900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US" sz="2000" spc="-5" dirty="0">
                <a:latin typeface="Caladea"/>
                <a:cs typeface="Caladea"/>
              </a:rPr>
              <a:t>There are 2 possibilities in terms of </a:t>
            </a:r>
            <a:r>
              <a:rPr lang="en-US" sz="2000" spc="-5" dirty="0">
                <a:solidFill>
                  <a:srgbClr val="FF0000"/>
                </a:solidFill>
                <a:latin typeface="Caladea"/>
                <a:cs typeface="Caladea"/>
              </a:rPr>
              <a:t>address</a:t>
            </a:r>
            <a:r>
              <a:rPr lang="en-US" sz="2000" spc="-5" dirty="0">
                <a:latin typeface="Caladea"/>
                <a:cs typeface="Caladea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Caladea"/>
                <a:cs typeface="Caladea"/>
              </a:rPr>
              <a:t>space</a:t>
            </a:r>
            <a:r>
              <a:rPr lang="en-US" sz="2000" spc="-5" dirty="0">
                <a:latin typeface="Caladea"/>
                <a:cs typeface="Caladea"/>
              </a:rPr>
              <a:t> of new process</a:t>
            </a:r>
          </a:p>
          <a:p>
            <a:pPr marL="0" lvl="2">
              <a:spcBef>
                <a:spcPts val="380"/>
              </a:spcBef>
              <a:tabLst>
                <a:tab pos="241300" algn="l"/>
              </a:tabLst>
            </a:pPr>
            <a:r>
              <a:rPr lang="en-US" sz="2000" spc="-5" dirty="0">
                <a:solidFill>
                  <a:srgbClr val="0099FF"/>
                </a:solidFill>
                <a:latin typeface="Caladea"/>
                <a:cs typeface="Caladea"/>
              </a:rPr>
              <a:t>	 *) The child process is a duplicate of the parent process (it has the same program &amp; data as the parent).</a:t>
            </a:r>
          </a:p>
          <a:p>
            <a:pPr marL="0" lvl="2">
              <a:spcBef>
                <a:spcPts val="380"/>
              </a:spcBef>
              <a:tabLst>
                <a:tab pos="241300" algn="l"/>
              </a:tabLst>
            </a:pPr>
            <a:r>
              <a:rPr lang="en-US" sz="2000" spc="-5" dirty="0">
                <a:solidFill>
                  <a:srgbClr val="0099FF"/>
                </a:solidFill>
                <a:latin typeface="Caladea"/>
                <a:cs typeface="Caladea"/>
              </a:rPr>
              <a:t>     *) The child process has a new program loaded into it.</a:t>
            </a:r>
          </a:p>
          <a:p>
            <a:pPr marL="0" lvl="2">
              <a:spcBef>
                <a:spcPts val="380"/>
              </a:spcBef>
              <a:tabLst>
                <a:tab pos="241300" algn="l"/>
              </a:tabLst>
            </a:pPr>
            <a:r>
              <a:rPr lang="en-US" sz="2000" spc="-5" dirty="0">
                <a:latin typeface="Caladea"/>
                <a:cs typeface="Caladea"/>
              </a:rPr>
              <a:t>Let us understand these concepts by considering UNIX OS as an example</a:t>
            </a:r>
            <a:r>
              <a:rPr lang="en-US" sz="2000" spc="-5" dirty="0" smtClean="0">
                <a:latin typeface="Caladea"/>
                <a:cs typeface="Caladea"/>
              </a:rPr>
              <a:t>.</a:t>
            </a:r>
            <a:endParaRPr lang="en-GB" sz="2400" spc="-5" dirty="0">
              <a:latin typeface="Caladea"/>
              <a:cs typeface="Calad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8575"/>
            <a:ext cx="1127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-15" dirty="0">
                <a:solidFill>
                  <a:schemeClr val="accent1"/>
                </a:solidFill>
                <a:latin typeface="Caladea"/>
                <a:cs typeface="Caladea"/>
              </a:rPr>
              <a:t>Operations </a:t>
            </a:r>
            <a:r>
              <a:rPr lang="en-US" sz="3600" spc="-5" dirty="0">
                <a:solidFill>
                  <a:schemeClr val="accent1"/>
                </a:solidFill>
                <a:latin typeface="Caladea"/>
                <a:cs typeface="Caladea"/>
              </a:rPr>
              <a:t>on</a:t>
            </a:r>
            <a:r>
              <a:rPr lang="en-US" sz="3600" dirty="0">
                <a:solidFill>
                  <a:schemeClr val="accent1"/>
                </a:solidFill>
                <a:latin typeface="Caladea"/>
                <a:cs typeface="Caladea"/>
              </a:rPr>
              <a:t> </a:t>
            </a:r>
            <a:r>
              <a:rPr lang="en-US" sz="3600" spc="-15" dirty="0">
                <a:solidFill>
                  <a:schemeClr val="accent1"/>
                </a:solidFill>
                <a:latin typeface="Caladea"/>
                <a:cs typeface="Caladea"/>
              </a:rPr>
              <a:t>Processes----</a:t>
            </a:r>
            <a:r>
              <a:rPr lang="en-GB" sz="3600" spc="-15" dirty="0">
                <a:solidFill>
                  <a:schemeClr val="accent1"/>
                </a:solidFill>
                <a:latin typeface="Caladea"/>
                <a:cs typeface="Caladea"/>
              </a:rPr>
              <a:t>Process creation  </a:t>
            </a:r>
            <a:r>
              <a:rPr lang="en-GB" sz="2400" b="1" spc="-5" dirty="0" err="1">
                <a:latin typeface="Caladea"/>
                <a:cs typeface="Caladea"/>
              </a:rPr>
              <a:t>contd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802568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80999"/>
            <a:ext cx="5847842" cy="533401"/>
          </a:xfrm>
        </p:spPr>
        <p:txBody>
          <a:bodyPr/>
          <a:lstStyle/>
          <a:p>
            <a:r>
              <a:rPr lang="en-US" spc="-15" dirty="0"/>
              <a:t>Process</a:t>
            </a:r>
            <a:r>
              <a:rPr lang="en-US" spc="-40" dirty="0"/>
              <a:t> </a:t>
            </a:r>
            <a:r>
              <a:rPr lang="en-US" spc="-20" dirty="0"/>
              <a:t>Creation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05600" y="5483781"/>
            <a:ext cx="3816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spc="-5" dirty="0">
                <a:solidFill>
                  <a:srgbClr val="FF0000"/>
                </a:solidFill>
                <a:latin typeface="Caladea"/>
                <a:cs typeface="Caladea"/>
              </a:rPr>
              <a:t>Fig.: A </a:t>
            </a:r>
            <a:r>
              <a:rPr lang="en-GB" b="1" spc="-65" dirty="0">
                <a:solidFill>
                  <a:srgbClr val="FF0000"/>
                </a:solidFill>
                <a:latin typeface="Caladea"/>
                <a:cs typeface="Caladea"/>
              </a:rPr>
              <a:t>Tree </a:t>
            </a:r>
            <a:r>
              <a:rPr lang="en-GB" b="1" spc="-5" dirty="0">
                <a:solidFill>
                  <a:srgbClr val="FF0000"/>
                </a:solidFill>
                <a:latin typeface="Caladea"/>
                <a:cs typeface="Caladea"/>
              </a:rPr>
              <a:t>of </a:t>
            </a:r>
            <a:r>
              <a:rPr lang="en-GB" b="1" spc="-15" dirty="0">
                <a:solidFill>
                  <a:srgbClr val="FF0000"/>
                </a:solidFill>
                <a:latin typeface="Caladea"/>
                <a:cs typeface="Caladea"/>
              </a:rPr>
              <a:t>Processes </a:t>
            </a:r>
            <a:r>
              <a:rPr lang="en-GB" b="1" spc="-5" dirty="0">
                <a:solidFill>
                  <a:srgbClr val="FF0000"/>
                </a:solidFill>
                <a:latin typeface="Caladea"/>
                <a:cs typeface="Caladea"/>
              </a:rPr>
              <a:t>in</a:t>
            </a:r>
            <a:r>
              <a:rPr lang="en-GB" b="1" spc="145" dirty="0">
                <a:solidFill>
                  <a:srgbClr val="FF0000"/>
                </a:solidFill>
                <a:latin typeface="Caladea"/>
                <a:cs typeface="Caladea"/>
              </a:rPr>
              <a:t> </a:t>
            </a:r>
            <a:r>
              <a:rPr lang="en-GB" b="1" spc="-10" dirty="0">
                <a:solidFill>
                  <a:srgbClr val="FF0000"/>
                </a:solidFill>
                <a:latin typeface="Caladea"/>
                <a:cs typeface="Caladea"/>
              </a:rPr>
              <a:t>Linux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13666" name="Picture 2" descr="Process Creation &amp; Termin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960" y="1071546"/>
            <a:ext cx="4038600" cy="40005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13668" name="Picture 4" descr="unix - How to make a specific process tree using fork() - Stack Overfl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81488" y="888734"/>
            <a:ext cx="6929486" cy="4326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191"/>
            <a:ext cx="12191999" cy="492443"/>
          </a:xfrm>
        </p:spPr>
        <p:txBody>
          <a:bodyPr/>
          <a:lstStyle/>
          <a:p>
            <a:r>
              <a:rPr lang="en-US" sz="3200" dirty="0"/>
              <a:t>Creating a separate process using the UNIX fork() system call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523634"/>
            <a:ext cx="11430080" cy="4431983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sz="1800" dirty="0" smtClean="0"/>
              <a:t>#include &lt;</a:t>
            </a:r>
            <a:r>
              <a:rPr lang="en-US" sz="1800" dirty="0" err="1" smtClean="0"/>
              <a:t>stdio.h</a:t>
            </a:r>
            <a:r>
              <a:rPr lang="en-US" sz="1800" dirty="0" smtClean="0"/>
              <a:t>&gt; </a:t>
            </a:r>
          </a:p>
          <a:p>
            <a:r>
              <a:rPr lang="en-US" sz="1800" dirty="0" smtClean="0"/>
              <a:t>#include &lt;</a:t>
            </a:r>
            <a:r>
              <a:rPr lang="en-US" sz="1800" dirty="0" err="1" smtClean="0"/>
              <a:t>stdlib.h</a:t>
            </a:r>
            <a:r>
              <a:rPr lang="en-US" sz="1800" dirty="0" smtClean="0"/>
              <a:t>&gt; </a:t>
            </a:r>
          </a:p>
          <a:p>
            <a:r>
              <a:rPr lang="en-US" sz="1800" dirty="0" smtClean="0"/>
              <a:t>#include &lt;sys/</a:t>
            </a:r>
            <a:r>
              <a:rPr lang="en-US" sz="1800" dirty="0" err="1" smtClean="0"/>
              <a:t>types.h</a:t>
            </a:r>
            <a:r>
              <a:rPr lang="en-US" sz="1800" dirty="0" smtClean="0"/>
              <a:t>&gt; </a:t>
            </a:r>
          </a:p>
          <a:p>
            <a:r>
              <a:rPr lang="en-US" sz="1800" dirty="0" smtClean="0"/>
              <a:t>#include &lt;</a:t>
            </a:r>
            <a:r>
              <a:rPr lang="en-US" sz="1800" dirty="0" err="1" smtClean="0"/>
              <a:t>unistd.h</a:t>
            </a:r>
            <a:r>
              <a:rPr lang="en-US" sz="1800" dirty="0" smtClean="0"/>
              <a:t>&gt;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main() </a:t>
            </a:r>
          </a:p>
          <a:p>
            <a:r>
              <a:rPr lang="en-US" sz="1800" dirty="0" smtClean="0"/>
              <a:t>{ </a:t>
            </a:r>
          </a:p>
          <a:p>
            <a:r>
              <a:rPr lang="en-US" sz="1800" smtClean="0"/>
              <a:t>// </a:t>
            </a:r>
            <a:r>
              <a:rPr lang="en-US" sz="1800" dirty="0" smtClean="0"/>
              <a:t>make two process which run same </a:t>
            </a:r>
          </a:p>
          <a:p>
            <a:r>
              <a:rPr lang="en-US" sz="1800" dirty="0" smtClean="0"/>
              <a:t>// program after this instruction </a:t>
            </a:r>
          </a:p>
          <a:p>
            <a:r>
              <a:rPr lang="en-US" sz="1800" b="1" dirty="0" err="1" smtClean="0">
                <a:solidFill>
                  <a:srgbClr val="FF0000"/>
                </a:solidFill>
              </a:rPr>
              <a:t>pid_t</a:t>
            </a:r>
            <a:r>
              <a:rPr lang="en-US" sz="1800" b="1" dirty="0" smtClean="0">
                <a:solidFill>
                  <a:srgbClr val="FF0000"/>
                </a:solidFill>
              </a:rPr>
              <a:t> p = fork(); </a:t>
            </a:r>
          </a:p>
          <a:p>
            <a:r>
              <a:rPr lang="en-US" sz="1800" b="1" dirty="0" smtClean="0">
                <a:solidFill>
                  <a:srgbClr val="FF0000"/>
                </a:solidFill>
              </a:rPr>
              <a:t>if(p&lt;0){ </a:t>
            </a:r>
          </a:p>
          <a:p>
            <a:r>
              <a:rPr lang="en-US" sz="1800" b="1" dirty="0" err="1" smtClean="0">
                <a:solidFill>
                  <a:srgbClr val="FF0000"/>
                </a:solidFill>
              </a:rPr>
              <a:t>perror</a:t>
            </a:r>
            <a:r>
              <a:rPr lang="en-US" sz="1800" b="1" dirty="0" smtClean="0">
                <a:solidFill>
                  <a:srgbClr val="FF0000"/>
                </a:solidFill>
              </a:rPr>
              <a:t>("fork fail"); </a:t>
            </a:r>
          </a:p>
          <a:p>
            <a:r>
              <a:rPr lang="en-US" sz="1800" b="1" dirty="0" smtClean="0">
                <a:solidFill>
                  <a:srgbClr val="FF0000"/>
                </a:solidFill>
              </a:rPr>
              <a:t>exit(1); </a:t>
            </a:r>
          </a:p>
          <a:p>
            <a:r>
              <a:rPr lang="en-US" sz="1800" dirty="0" smtClean="0"/>
              <a:t>}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("Hello world!, </a:t>
            </a:r>
            <a:r>
              <a:rPr lang="en-US" sz="1800" dirty="0" err="1" smtClean="0"/>
              <a:t>process_id</a:t>
            </a:r>
            <a:r>
              <a:rPr lang="en-US" sz="1800" dirty="0" smtClean="0"/>
              <a:t>(</a:t>
            </a:r>
            <a:r>
              <a:rPr lang="en-US" sz="1800" dirty="0" err="1" smtClean="0"/>
              <a:t>pid</a:t>
            </a:r>
            <a:r>
              <a:rPr lang="en-US" sz="1800" dirty="0" smtClean="0"/>
              <a:t>) = %d \</a:t>
            </a:r>
            <a:r>
              <a:rPr lang="en-US" sz="1800" dirty="0" err="1" smtClean="0"/>
              <a:t>n",getpid</a:t>
            </a:r>
            <a:r>
              <a:rPr lang="en-US" sz="1800" dirty="0" smtClean="0"/>
              <a:t>()); </a:t>
            </a:r>
          </a:p>
          <a:p>
            <a:r>
              <a:rPr lang="en-US" sz="1800" dirty="0" smtClean="0"/>
              <a:t>return 0; </a:t>
            </a:r>
          </a:p>
          <a:p>
            <a:r>
              <a:rPr lang="en-US" sz="1800" dirty="0" smtClean="0"/>
              <a:t>}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193622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37" y="0"/>
            <a:ext cx="5847842" cy="609600"/>
          </a:xfrm>
        </p:spPr>
        <p:txBody>
          <a:bodyPr/>
          <a:lstStyle/>
          <a:p>
            <a:r>
              <a:rPr lang="en-US" spc="-15" dirty="0"/>
              <a:t>Process</a:t>
            </a:r>
            <a:r>
              <a:rPr lang="en-US" spc="-25" dirty="0"/>
              <a:t> </a:t>
            </a:r>
            <a:r>
              <a:rPr lang="en-US" spc="-45" dirty="0"/>
              <a:t>Termination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6646" y="609600"/>
            <a:ext cx="12025354" cy="46012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55600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GB" sz="2000" spc="-15" dirty="0">
                <a:latin typeface="Carlito"/>
                <a:cs typeface="Carlito"/>
              </a:rPr>
              <a:t>After </a:t>
            </a:r>
            <a:r>
              <a:rPr lang="en-GB" sz="2000" spc="-20" dirty="0">
                <a:latin typeface="Carlito"/>
                <a:cs typeface="Carlito"/>
              </a:rPr>
              <a:t>executing the </a:t>
            </a:r>
            <a:r>
              <a:rPr lang="en-GB" sz="2000" spc="-15" dirty="0">
                <a:latin typeface="Carlito"/>
                <a:cs typeface="Carlito"/>
              </a:rPr>
              <a:t>last </a:t>
            </a:r>
            <a:r>
              <a:rPr lang="en-GB" sz="2000" spc="-20" dirty="0">
                <a:latin typeface="Carlito"/>
                <a:cs typeface="Carlito"/>
              </a:rPr>
              <a:t>statement, </a:t>
            </a:r>
            <a:r>
              <a:rPr lang="en-GB" sz="2000" spc="-5" dirty="0">
                <a:latin typeface="Carlito"/>
                <a:cs typeface="Carlito"/>
              </a:rPr>
              <a:t>process request for terminating by invoking </a:t>
            </a:r>
            <a:r>
              <a:rPr lang="en-GB" sz="2000" b="1" spc="-10" dirty="0">
                <a:solidFill>
                  <a:srgbClr val="FF0000"/>
                </a:solidFill>
                <a:latin typeface="Carlito"/>
                <a:cs typeface="Carlito"/>
              </a:rPr>
              <a:t>exit() </a:t>
            </a:r>
            <a:r>
              <a:rPr lang="en-GB" sz="2000" spc="-30" dirty="0">
                <a:latin typeface="Carlito"/>
                <a:cs typeface="Carlito"/>
              </a:rPr>
              <a:t>system</a:t>
            </a:r>
            <a:r>
              <a:rPr lang="en-GB" sz="2000" spc="280" dirty="0">
                <a:latin typeface="Carlito"/>
                <a:cs typeface="Carlito"/>
              </a:rPr>
              <a:t> </a:t>
            </a:r>
            <a:r>
              <a:rPr lang="en-GB" sz="2000" spc="-10" dirty="0">
                <a:latin typeface="Carlito"/>
                <a:cs typeface="Carlito"/>
              </a:rPr>
              <a:t>call.</a:t>
            </a:r>
          </a:p>
          <a:p>
            <a:pPr marL="355600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GB" sz="2000" spc="-10" dirty="0">
                <a:latin typeface="Carlito"/>
                <a:cs typeface="Carlito"/>
              </a:rPr>
              <a:t>Terminating process should inform to its parent process about its termination via </a:t>
            </a:r>
            <a:r>
              <a:rPr lang="en-GB" sz="2000" b="1" spc="-10" dirty="0">
                <a:solidFill>
                  <a:srgbClr val="FF0000"/>
                </a:solidFill>
                <a:latin typeface="Carlito"/>
                <a:cs typeface="Carlito"/>
              </a:rPr>
              <a:t>wait() </a:t>
            </a:r>
            <a:r>
              <a:rPr lang="en-GB" sz="2000" spc="-10" dirty="0">
                <a:latin typeface="Carlito"/>
                <a:cs typeface="Carlito"/>
              </a:rPr>
              <a:t>system call</a:t>
            </a:r>
          </a:p>
          <a:p>
            <a:pPr marL="355600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GB" sz="2000" spc="-10" dirty="0">
                <a:latin typeface="Carlito"/>
                <a:cs typeface="Carlito"/>
              </a:rPr>
              <a:t>When a process is getting terminating, it returns its status value(generally integer) to its parent process through </a:t>
            </a:r>
            <a:r>
              <a:rPr lang="en-GB" sz="2000" b="1" spc="-10" dirty="0">
                <a:solidFill>
                  <a:srgbClr val="FF0000"/>
                </a:solidFill>
                <a:latin typeface="Carlito"/>
                <a:cs typeface="Carlito"/>
              </a:rPr>
              <a:t>wait() </a:t>
            </a:r>
          </a:p>
          <a:p>
            <a:pPr marL="355600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GB" sz="2000" spc="-10" dirty="0">
                <a:latin typeface="Carlito"/>
                <a:cs typeface="Carlito"/>
              </a:rPr>
              <a:t>All the resources of the process, including physical &amp; virtual memory, open files &amp; I/O buffers are </a:t>
            </a:r>
            <a:r>
              <a:rPr lang="en-GB" sz="2000" spc="-10" dirty="0" err="1">
                <a:latin typeface="Carlito"/>
                <a:cs typeface="Carlito"/>
              </a:rPr>
              <a:t>deallocated</a:t>
            </a:r>
            <a:r>
              <a:rPr lang="en-GB" sz="2000" spc="-10" dirty="0">
                <a:latin typeface="Carlito"/>
                <a:cs typeface="Carlito"/>
              </a:rPr>
              <a:t> by the OS</a:t>
            </a:r>
          </a:p>
          <a:p>
            <a:pPr marL="355600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GB" sz="2000" spc="-10" dirty="0">
                <a:latin typeface="Carlito"/>
                <a:cs typeface="Carlito"/>
              </a:rPr>
              <a:t>Process may also be </a:t>
            </a:r>
            <a:r>
              <a:rPr lang="en-GB" sz="2000" spc="-10" dirty="0">
                <a:solidFill>
                  <a:srgbClr val="FF0000"/>
                </a:solidFill>
                <a:latin typeface="Carlito"/>
                <a:cs typeface="Carlito"/>
              </a:rPr>
              <a:t>terminated</a:t>
            </a:r>
            <a:r>
              <a:rPr lang="en-GB" sz="2000" spc="-10" dirty="0">
                <a:latin typeface="Carlito"/>
                <a:cs typeface="Carlito"/>
              </a:rPr>
              <a:t> by the system/ parent process for various reasons</a:t>
            </a:r>
          </a:p>
          <a:p>
            <a:pPr marL="812800" lvl="1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inability of the system to deliver </a:t>
            </a:r>
            <a:r>
              <a:rPr lang="en-US" sz="2000" spc="-10" dirty="0">
                <a:solidFill>
                  <a:srgbClr val="FF0000"/>
                </a:solidFill>
                <a:latin typeface="Carlito"/>
                <a:cs typeface="Carlito"/>
              </a:rPr>
              <a:t>necessary system resources </a:t>
            </a:r>
          </a:p>
          <a:p>
            <a:pPr marL="812800" lvl="1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parent process may kill it's children if the task assigned to them </a:t>
            </a:r>
            <a:r>
              <a:rPr lang="en-US" sz="2000" spc="-10" dirty="0">
                <a:solidFill>
                  <a:srgbClr val="FF0000"/>
                </a:solidFill>
                <a:latin typeface="Carlito"/>
                <a:cs typeface="Carlito"/>
              </a:rPr>
              <a:t>is no longer needed</a:t>
            </a:r>
            <a:r>
              <a:rPr lang="en-US" sz="2000" spc="-10" dirty="0">
                <a:latin typeface="Carlito"/>
                <a:cs typeface="Carlito"/>
              </a:rPr>
              <a:t>. </a:t>
            </a:r>
          </a:p>
          <a:p>
            <a:pPr marL="812800" lvl="1" indent="-34290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If the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parent exits</a:t>
            </a:r>
            <a:r>
              <a:rPr lang="en-US" sz="2000" dirty="0">
                <a:latin typeface="Carlito"/>
                <a:cs typeface="Carlito"/>
              </a:rPr>
              <a:t>, system may or may not allow the child to Continue without a parent. (on UNIX, orphaned processes are generally inherited by </a:t>
            </a:r>
            <a:r>
              <a:rPr lang="en-US" sz="2000" dirty="0" err="1">
                <a:latin typeface="Carlito"/>
                <a:cs typeface="Carlito"/>
              </a:rPr>
              <a:t>init</a:t>
            </a:r>
            <a:r>
              <a:rPr lang="en-US" sz="2000" dirty="0">
                <a:latin typeface="Carlito"/>
                <a:cs typeface="Carlito"/>
              </a:rPr>
              <a:t>, which then proceeds to kill them. )</a:t>
            </a:r>
          </a:p>
          <a:p>
            <a:pPr marL="57150" lvl="1" indent="-57150">
              <a:lnSpc>
                <a:spcPts val="228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 Some systems do not allow a child to exist if its parent has terminated. In such systems, if a process terminates, then all its children must also be terminated. This phenomenon is referred as </a:t>
            </a:r>
            <a:r>
              <a:rPr lang="en-US" sz="2000" b="1" dirty="0">
                <a:latin typeface="Carlito"/>
                <a:cs typeface="Carlito"/>
              </a:rPr>
              <a:t>cascaded termination,</a:t>
            </a:r>
            <a:r>
              <a:rPr lang="en-US" sz="2000" dirty="0">
                <a:latin typeface="Carlito"/>
                <a:cs typeface="Carlito"/>
              </a:rPr>
              <a:t> which is normally initiated by the O.S.</a:t>
            </a:r>
            <a:endParaRPr lang="en-GB" sz="2000" dirty="0">
              <a:latin typeface="Carlito"/>
              <a:cs typeface="Carlito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2819400" cy="492443"/>
          </a:xfrm>
        </p:spPr>
        <p:txBody>
          <a:bodyPr/>
          <a:lstStyle/>
          <a:p>
            <a:r>
              <a:rPr lang="en-US" sz="32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Lecture 13</a:t>
            </a:r>
            <a:endParaRPr lang="en-US" sz="3200" b="1" dirty="0">
              <a:solidFill>
                <a:srgbClr val="FF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51663" y="1214422"/>
            <a:ext cx="10931437" cy="206210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latin typeface="Cambria" pitchFamily="18" charset="0"/>
                <a:ea typeface="Cambria" pitchFamily="18" charset="0"/>
                <a:cs typeface="Arial" pitchFamily="34" charset="0"/>
              </a:rPr>
              <a:t>Inter Process Communication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3200" b="1" dirty="0" smtClean="0">
              <a:latin typeface="Cambria" pitchFamily="18" charset="0"/>
              <a:ea typeface="Cambria" pitchFamily="18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7030A0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LO1: Compare different models of IPC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7030A0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LO2: Summarize issues related to IPC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80943"/>
            <a:ext cx="9745853" cy="561975"/>
          </a:xfrm>
        </p:spPr>
        <p:txBody>
          <a:bodyPr/>
          <a:lstStyle/>
          <a:p>
            <a:r>
              <a:rPr lang="en-GB" dirty="0"/>
              <a:t>3. Inter-Process Communication(IPC)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6645" y="542925"/>
            <a:ext cx="11787271" cy="5445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spc="-15" dirty="0">
                <a:latin typeface="Carlito"/>
                <a:cs typeface="Carlito"/>
              </a:rPr>
              <a:t>Processes executing concurrently in the OS </a:t>
            </a:r>
            <a:r>
              <a:rPr lang="en-GB" sz="2000" spc="-25" dirty="0">
                <a:latin typeface="Carlito"/>
                <a:cs typeface="Carlito"/>
              </a:rPr>
              <a:t>may </a:t>
            </a:r>
            <a:r>
              <a:rPr lang="en-GB" sz="2000" spc="-5" dirty="0">
                <a:latin typeface="Carlito"/>
                <a:cs typeface="Carlito"/>
              </a:rPr>
              <a:t>be </a:t>
            </a:r>
            <a:r>
              <a:rPr lang="en-GB" sz="2000" spc="-5" dirty="0" smtClean="0">
                <a:latin typeface="Carlito"/>
                <a:cs typeface="Carlito"/>
              </a:rPr>
              <a:t>either </a:t>
            </a:r>
            <a:r>
              <a:rPr lang="en-GB" sz="2200" b="1" i="1" spc="-10" dirty="0" smtClean="0">
                <a:solidFill>
                  <a:srgbClr val="FF0000"/>
                </a:solidFill>
                <a:latin typeface="Carlito"/>
                <a:cs typeface="Carlito"/>
              </a:rPr>
              <a:t>independent </a:t>
            </a:r>
            <a:r>
              <a:rPr lang="en-GB" sz="2200" spc="-5" dirty="0" smtClean="0">
                <a:solidFill>
                  <a:srgbClr val="FF0000"/>
                </a:solidFill>
                <a:latin typeface="Carlito"/>
                <a:cs typeface="Carlito"/>
              </a:rPr>
              <a:t>or</a:t>
            </a:r>
            <a:r>
              <a:rPr lang="en-GB" sz="2200" spc="300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lang="en-GB" sz="2200" b="1" i="1" spc="-10" dirty="0" smtClean="0">
                <a:solidFill>
                  <a:srgbClr val="FF0000"/>
                </a:solidFill>
                <a:latin typeface="Carlito"/>
                <a:cs typeface="Carlito"/>
              </a:rPr>
              <a:t>cooperating </a:t>
            </a:r>
            <a:r>
              <a:rPr lang="en-GB" sz="2200" b="1" i="1" spc="-10" dirty="0">
                <a:solidFill>
                  <a:srgbClr val="FF0000"/>
                </a:solidFill>
                <a:latin typeface="Carlito"/>
                <a:cs typeface="Carlito"/>
              </a:rPr>
              <a:t>process</a:t>
            </a:r>
          </a:p>
          <a:p>
            <a:pPr marL="241300" indent="-2292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b="1" spc="-10" dirty="0">
                <a:latin typeface="Carlito"/>
                <a:cs typeface="Carlito"/>
              </a:rPr>
              <a:t>Independent processes </a:t>
            </a:r>
            <a:r>
              <a:rPr lang="en-GB" sz="2000" spc="-10" dirty="0">
                <a:latin typeface="Carlito"/>
                <a:cs typeface="Carlito"/>
              </a:rPr>
              <a:t>are the processes which </a:t>
            </a:r>
            <a:r>
              <a:rPr lang="en-GB" sz="2000" b="1" spc="-10" dirty="0">
                <a:latin typeface="Carlito"/>
                <a:cs typeface="Carlito"/>
              </a:rPr>
              <a:t>does not share any </a:t>
            </a:r>
            <a:r>
              <a:rPr lang="en-GB" sz="2000" b="1" spc="-10" dirty="0" smtClean="0">
                <a:latin typeface="Carlito"/>
                <a:cs typeface="Carlito"/>
              </a:rPr>
              <a:t>data </a:t>
            </a:r>
            <a:r>
              <a:rPr lang="en-GB" sz="2000" spc="-10" dirty="0">
                <a:latin typeface="Carlito"/>
                <a:cs typeface="Carlito"/>
              </a:rPr>
              <a:t>with any other processes. These independent processes </a:t>
            </a:r>
            <a:r>
              <a:rPr lang="en-GB" sz="2000" spc="-10" dirty="0">
                <a:solidFill>
                  <a:srgbClr val="FF0000"/>
                </a:solidFill>
                <a:latin typeface="Carlito"/>
                <a:cs typeface="Carlito"/>
              </a:rPr>
              <a:t>doesn’t affects other processes or does not get affected by </a:t>
            </a:r>
            <a:r>
              <a:rPr lang="en-GB" sz="2000" spc="-10" dirty="0">
                <a:latin typeface="Carlito"/>
                <a:cs typeface="Carlito"/>
              </a:rPr>
              <a:t>other processes.</a:t>
            </a:r>
            <a:endParaRPr lang="en-GB" sz="2000" dirty="0">
              <a:latin typeface="Carlito"/>
              <a:cs typeface="Carlito"/>
            </a:endParaRPr>
          </a:p>
          <a:p>
            <a:pPr marL="241300" indent="-229235">
              <a:lnSpc>
                <a:spcPts val="228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b="1" spc="-15" dirty="0">
                <a:latin typeface="Carlito"/>
                <a:cs typeface="Carlito"/>
              </a:rPr>
              <a:t>Cooperating </a:t>
            </a:r>
            <a:r>
              <a:rPr lang="en-GB" sz="2000" b="1" spc="-10" dirty="0">
                <a:latin typeface="Carlito"/>
                <a:cs typeface="Carlito"/>
              </a:rPr>
              <a:t>processes</a:t>
            </a:r>
            <a:r>
              <a:rPr lang="en-GB" sz="2000" spc="-10" dirty="0">
                <a:latin typeface="Carlito"/>
                <a:cs typeface="Carlito"/>
              </a:rPr>
              <a:t> </a:t>
            </a:r>
            <a:r>
              <a:rPr lang="en-GB" sz="2000" spc="-15" dirty="0">
                <a:latin typeface="Carlito"/>
                <a:cs typeface="Carlito"/>
              </a:rPr>
              <a:t>can </a:t>
            </a:r>
            <a:r>
              <a:rPr lang="en-GB" sz="2000" spc="-20" dirty="0">
                <a:solidFill>
                  <a:srgbClr val="FF0000"/>
                </a:solidFill>
                <a:latin typeface="Carlito"/>
                <a:cs typeface="Carlito"/>
              </a:rPr>
              <a:t>affect </a:t>
            </a:r>
            <a:r>
              <a:rPr lang="en-GB" sz="2000" spc="-5" dirty="0">
                <a:solidFill>
                  <a:srgbClr val="FF0000"/>
                </a:solidFill>
                <a:latin typeface="Carlito"/>
                <a:cs typeface="Carlito"/>
              </a:rPr>
              <a:t>or be </a:t>
            </a:r>
            <a:r>
              <a:rPr lang="en-GB" sz="2000" spc="-25" dirty="0">
                <a:solidFill>
                  <a:srgbClr val="FF0000"/>
                </a:solidFill>
                <a:latin typeface="Carlito"/>
                <a:cs typeface="Carlito"/>
              </a:rPr>
              <a:t>affected </a:t>
            </a:r>
            <a:r>
              <a:rPr lang="en-GB" sz="2000" spc="-5" dirty="0">
                <a:solidFill>
                  <a:srgbClr val="FF0000"/>
                </a:solidFill>
                <a:latin typeface="Carlito"/>
                <a:cs typeface="Carlito"/>
              </a:rPr>
              <a:t>by other</a:t>
            </a:r>
            <a:r>
              <a:rPr lang="en-GB" sz="2000" spc="30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lang="en-GB" sz="2000" spc="-15" dirty="0">
                <a:solidFill>
                  <a:srgbClr val="FF0000"/>
                </a:solidFill>
                <a:latin typeface="Carlito"/>
                <a:cs typeface="Carlito"/>
              </a:rPr>
              <a:t>processes</a:t>
            </a:r>
            <a:r>
              <a:rPr lang="en-GB" sz="2000" spc="-15" dirty="0">
                <a:latin typeface="Carlito"/>
                <a:cs typeface="Carlito"/>
              </a:rPr>
              <a:t>, e.g., while sharing data or resource/s.</a:t>
            </a:r>
            <a:endParaRPr lang="en-GB" sz="2000" dirty="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spc="-10" dirty="0">
                <a:latin typeface="Carlito"/>
                <a:cs typeface="Carlito"/>
              </a:rPr>
              <a:t>There are several reasons for allowing processes to co-operate</a:t>
            </a:r>
            <a:r>
              <a:rPr lang="en-GB" sz="2000" spc="-15" dirty="0">
                <a:latin typeface="Carlito"/>
                <a:cs typeface="Carlito"/>
              </a:rPr>
              <a:t>:</a:t>
            </a:r>
            <a:endParaRPr lang="en-GB" sz="2000" dirty="0">
              <a:latin typeface="Carlito"/>
              <a:cs typeface="Carlito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270"/>
              </a:spcBef>
              <a:buFont typeface="Courier New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GB" sz="2000" b="1" spc="-15" dirty="0">
                <a:latin typeface="Carlito"/>
                <a:cs typeface="Carlito"/>
              </a:rPr>
              <a:t>Information</a:t>
            </a:r>
            <a:r>
              <a:rPr lang="en-GB" sz="2000" b="1" dirty="0">
                <a:latin typeface="Carlito"/>
                <a:cs typeface="Carlito"/>
              </a:rPr>
              <a:t> </a:t>
            </a:r>
            <a:r>
              <a:rPr lang="en-GB" sz="2000" b="1" spc="-5" dirty="0">
                <a:latin typeface="Carlito"/>
                <a:cs typeface="Carlito"/>
              </a:rPr>
              <a:t>sharing</a:t>
            </a:r>
            <a:r>
              <a:rPr lang="en-GB" sz="2000" spc="-5" dirty="0">
                <a:latin typeface="Carlito"/>
                <a:cs typeface="Carlito"/>
              </a:rPr>
              <a:t>:- several users may be interested in the same piece of information(shared file, pipeline)</a:t>
            </a:r>
            <a:endParaRPr lang="en-GB" sz="2000" dirty="0">
              <a:latin typeface="Carlito"/>
              <a:cs typeface="Carlito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260"/>
              </a:spcBef>
              <a:buFont typeface="Courier New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GB" sz="2000" b="1" spc="-10" dirty="0">
                <a:latin typeface="Carlito"/>
                <a:cs typeface="Carlito"/>
              </a:rPr>
              <a:t>Computation</a:t>
            </a:r>
            <a:r>
              <a:rPr lang="en-GB" sz="2000" b="1" dirty="0">
                <a:latin typeface="Carlito"/>
                <a:cs typeface="Carlito"/>
              </a:rPr>
              <a:t> </a:t>
            </a:r>
            <a:r>
              <a:rPr lang="en-GB" sz="2000" b="1" spc="-10" dirty="0">
                <a:latin typeface="Carlito"/>
                <a:cs typeface="Carlito"/>
              </a:rPr>
              <a:t>speed-up:- </a:t>
            </a:r>
            <a:r>
              <a:rPr lang="en-GB" sz="2000" spc="-10" dirty="0">
                <a:latin typeface="Carlito"/>
                <a:cs typeface="Carlito"/>
              </a:rPr>
              <a:t>solution to a problem can be solved faster if the problem can be broken down into sub-problems &amp; solved parallely(possible only when multiple processors)</a:t>
            </a:r>
            <a:endParaRPr lang="en-GB" sz="2000" b="1" dirty="0">
              <a:latin typeface="Carlito"/>
              <a:cs typeface="Carlito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270"/>
              </a:spcBef>
              <a:buFont typeface="Courier New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GB" sz="2000" b="1" spc="-5" dirty="0">
                <a:latin typeface="Carlito"/>
                <a:cs typeface="Carlito"/>
              </a:rPr>
              <a:t>Modularity:-</a:t>
            </a:r>
            <a:r>
              <a:rPr lang="en-GB" sz="2000" spc="-5" dirty="0">
                <a:latin typeface="Carlito"/>
                <a:cs typeface="Carlito"/>
              </a:rPr>
              <a:t>it is always efficient to build the system in a modular fashion by dividing system functions into separate processes or threads</a:t>
            </a:r>
            <a:endParaRPr lang="en-GB" sz="2000" b="1" dirty="0">
              <a:latin typeface="Carlito"/>
              <a:cs typeface="Carlito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265"/>
              </a:spcBef>
              <a:buFont typeface="Courier New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GB" sz="2000" b="1" spc="-15" dirty="0">
                <a:latin typeface="Carlito"/>
                <a:cs typeface="Carlito"/>
              </a:rPr>
              <a:t>Convenience:-</a:t>
            </a:r>
            <a:r>
              <a:rPr lang="en-GB" sz="2000" spc="-15" dirty="0">
                <a:latin typeface="Carlito"/>
                <a:cs typeface="Carlito"/>
              </a:rPr>
              <a:t> even single user may work on multiple tasks at the same time(such as editing, printing &amp; computing)</a:t>
            </a:r>
            <a:endParaRPr lang="en-GB" sz="2000" b="1" dirty="0">
              <a:latin typeface="Carlito"/>
              <a:cs typeface="Carlito"/>
            </a:endParaRPr>
          </a:p>
          <a:p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" y="80943"/>
            <a:ext cx="9745853" cy="561975"/>
          </a:xfrm>
        </p:spPr>
        <p:txBody>
          <a:bodyPr/>
          <a:lstStyle/>
          <a:p>
            <a:r>
              <a:rPr lang="en-GB" dirty="0"/>
              <a:t>Inter-Process Communication(IPC)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8084" y="728261"/>
            <a:ext cx="11644394" cy="27007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b="1" spc="-15" dirty="0">
                <a:latin typeface="Carlito"/>
                <a:cs typeface="Carlito"/>
              </a:rPr>
              <a:t>When co-operating processes are sharing some data, OS should provide some sort of communication between these co-operating processes -------IPC</a:t>
            </a:r>
          </a:p>
          <a:p>
            <a:pPr marL="241300" indent="-2292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spc="-15" dirty="0">
                <a:latin typeface="Carlito"/>
                <a:cs typeface="Carlito"/>
              </a:rPr>
              <a:t>So, co-operating processes requires IPC, to </a:t>
            </a:r>
            <a:r>
              <a:rPr lang="en-GB" sz="2000" b="1" spc="-15" dirty="0">
                <a:latin typeface="Carlito"/>
                <a:cs typeface="Carlito"/>
              </a:rPr>
              <a:t>exchange data &amp; information</a:t>
            </a:r>
            <a:r>
              <a:rPr lang="en-GB" sz="2000" spc="-15" dirty="0">
                <a:latin typeface="Carlito"/>
                <a:cs typeface="Carlito"/>
              </a:rPr>
              <a:t>.</a:t>
            </a:r>
          </a:p>
          <a:p>
            <a:pPr marL="241300" indent="-2292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spc="-15" dirty="0">
                <a:latin typeface="Carlito"/>
                <a:cs typeface="Carlito"/>
              </a:rPr>
              <a:t>There are 2 fundamental models of IPC</a:t>
            </a:r>
          </a:p>
          <a:p>
            <a:pPr marL="698500" lvl="1" indent="-229235"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spc="-15" dirty="0">
                <a:latin typeface="Carlito"/>
                <a:cs typeface="Carlito"/>
              </a:rPr>
              <a:t>1) Shared Memory</a:t>
            </a:r>
          </a:p>
          <a:p>
            <a:pPr marL="698500" lvl="1" indent="-229235">
              <a:spcBef>
                <a:spcPts val="8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GB" sz="2000" spc="-15" dirty="0">
                <a:latin typeface="Carlito"/>
                <a:cs typeface="Carlito"/>
              </a:rPr>
              <a:t>2) Message Passing</a:t>
            </a:r>
            <a:endParaRPr lang="en-GB" sz="2000" spc="-10" dirty="0">
              <a:latin typeface="Carlito"/>
              <a:cs typeface="Carlito"/>
            </a:endParaRPr>
          </a:p>
          <a:p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xmlns="" val="66467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46" y="142852"/>
            <a:ext cx="8153400" cy="553998"/>
          </a:xfrm>
        </p:spPr>
        <p:txBody>
          <a:bodyPr/>
          <a:lstStyle/>
          <a:p>
            <a:r>
              <a:rPr lang="en-US" spc="-10" dirty="0"/>
              <a:t>Communication</a:t>
            </a:r>
            <a:r>
              <a:rPr lang="en-US" spc="30" dirty="0"/>
              <a:t> </a:t>
            </a:r>
            <a:r>
              <a:rPr lang="en-US" spc="-10" dirty="0"/>
              <a:t>Models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0960" y="642919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spc="-5" dirty="0" smtClean="0">
                <a:latin typeface="Courier New"/>
                <a:cs typeface="Courier New"/>
              </a:rPr>
              <a:t>         (</a:t>
            </a:r>
            <a:r>
              <a:rPr lang="en-GB" spc="-5" dirty="0">
                <a:latin typeface="Courier New"/>
                <a:cs typeface="Courier New"/>
              </a:rPr>
              <a:t>a)</a:t>
            </a:r>
            <a:r>
              <a:rPr lang="en-GB" spc="-20" dirty="0">
                <a:latin typeface="Courier New"/>
                <a:cs typeface="Courier New"/>
              </a:rPr>
              <a:t> </a:t>
            </a:r>
            <a:r>
              <a:rPr lang="en-GB" spc="-5" dirty="0">
                <a:latin typeface="Courier New"/>
                <a:cs typeface="Courier New"/>
              </a:rPr>
              <a:t>Message</a:t>
            </a:r>
            <a:r>
              <a:rPr lang="en-GB" spc="-20" dirty="0">
                <a:latin typeface="Courier New"/>
                <a:cs typeface="Courier New"/>
              </a:rPr>
              <a:t> </a:t>
            </a:r>
            <a:r>
              <a:rPr lang="en-GB" spc="-5" dirty="0">
                <a:latin typeface="Courier New"/>
                <a:cs typeface="Courier New"/>
              </a:rPr>
              <a:t>passing   </a:t>
            </a:r>
            <a:r>
              <a:rPr lang="en-GB" spc="-5" dirty="0" smtClean="0">
                <a:latin typeface="Courier New"/>
                <a:cs typeface="Courier New"/>
              </a:rPr>
              <a:t>              </a:t>
            </a:r>
            <a:r>
              <a:rPr lang="en-GB" spc="-5" dirty="0">
                <a:latin typeface="Courier New"/>
                <a:cs typeface="Courier New"/>
              </a:rPr>
              <a:t>	</a:t>
            </a:r>
            <a:r>
              <a:rPr lang="en-GB" spc="-5" dirty="0" smtClean="0">
                <a:latin typeface="Courier New"/>
                <a:cs typeface="Courier New"/>
              </a:rPr>
              <a:t>      (</a:t>
            </a:r>
            <a:r>
              <a:rPr lang="en-GB" spc="-5" dirty="0">
                <a:latin typeface="Courier New"/>
                <a:cs typeface="Courier New"/>
              </a:rPr>
              <a:t>b) shared</a:t>
            </a:r>
            <a:r>
              <a:rPr lang="en-GB" spc="-150" dirty="0">
                <a:latin typeface="Courier New"/>
                <a:cs typeface="Courier New"/>
              </a:rPr>
              <a:t> </a:t>
            </a:r>
            <a:r>
              <a:rPr lang="en-GB" spc="-5" dirty="0">
                <a:latin typeface="Courier New"/>
                <a:cs typeface="Courier New"/>
              </a:rPr>
              <a:t>memory</a:t>
            </a:r>
            <a:endParaRPr lang="en-GB" dirty="0">
              <a:latin typeface="Courier New"/>
              <a:cs typeface="Courier New"/>
            </a:endParaRPr>
          </a:p>
          <a:p>
            <a:endParaRPr lang="en-US" dirty="0"/>
          </a:p>
        </p:txBody>
      </p:sp>
      <p:pic>
        <p:nvPicPr>
          <p:cNvPr id="87" name="Picture 86" descr="Screenshot (6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15" y="1142984"/>
            <a:ext cx="5107819" cy="55721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8" name="Picture 87" descr="Screenshot (64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38" y="1071546"/>
            <a:ext cx="5500726" cy="5572164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" y="-28575"/>
            <a:ext cx="9745853" cy="561975"/>
          </a:xfrm>
        </p:spPr>
        <p:txBody>
          <a:bodyPr/>
          <a:lstStyle/>
          <a:p>
            <a:r>
              <a:rPr lang="en-GB" dirty="0"/>
              <a:t>Shared Memory Systems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52799" y="375330"/>
            <a:ext cx="8829675" cy="58015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in this model, region of memory that is to be shared by co-operating processes is established. Processes can then exchange information by </a:t>
            </a:r>
            <a:r>
              <a:rPr lang="en-US" sz="1950" dirty="0">
                <a:solidFill>
                  <a:srgbClr val="FF0000"/>
                </a:solidFill>
              </a:rPr>
              <a:t>reading &amp; writing data </a:t>
            </a:r>
            <a:r>
              <a:rPr lang="en-US" sz="1950" dirty="0"/>
              <a:t>to the shared region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Shared memory is </a:t>
            </a:r>
            <a:r>
              <a:rPr lang="en-US" sz="1950" dirty="0">
                <a:solidFill>
                  <a:srgbClr val="FF0000"/>
                </a:solidFill>
              </a:rPr>
              <a:t>faster</a:t>
            </a:r>
            <a:r>
              <a:rPr lang="en-US" sz="1950" dirty="0"/>
              <a:t> once it is established because </a:t>
            </a:r>
            <a:r>
              <a:rPr lang="en-US" sz="1950" dirty="0">
                <a:solidFill>
                  <a:srgbClr val="FF0000"/>
                </a:solidFill>
              </a:rPr>
              <a:t>no system calls are required </a:t>
            </a:r>
            <a:r>
              <a:rPr lang="en-US" sz="1950" dirty="0"/>
              <a:t>&amp; access occurs at normal memory speeds. However, it is more </a:t>
            </a:r>
            <a:r>
              <a:rPr lang="en-US" sz="1950" dirty="0">
                <a:solidFill>
                  <a:srgbClr val="FF0000"/>
                </a:solidFill>
              </a:rPr>
              <a:t>complicated to establish initially</a:t>
            </a:r>
            <a:r>
              <a:rPr lang="en-US" sz="195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Shared memory is generally preferable when </a:t>
            </a:r>
            <a:r>
              <a:rPr lang="en-US" sz="1950" dirty="0">
                <a:solidFill>
                  <a:srgbClr val="FF0000"/>
                </a:solidFill>
              </a:rPr>
              <a:t>large amount of data </a:t>
            </a:r>
            <a:r>
              <a:rPr lang="en-US" sz="1950" dirty="0"/>
              <a:t>to be shared quickly between the processes within a system.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But, it doesn't work between computers.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This shared memory region normally in the address space of a process which establishes the shared memory region.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We know that, </a:t>
            </a:r>
            <a:r>
              <a:rPr lang="en-US" sz="2000" dirty="0"/>
              <a:t>OS</a:t>
            </a:r>
            <a:r>
              <a:rPr lang="en-US" sz="1950" dirty="0"/>
              <a:t> prevents one process from accessing another process's memory, processes that are using this shared memory should remove this restriction.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Once the processes remove this restriction, then they can exchange data                                                                           by reading &amp; writing in the shared areas.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50" dirty="0"/>
              <a:t>Processes should also ensure that they are </a:t>
            </a:r>
            <a:r>
              <a:rPr lang="en-US" sz="1950" dirty="0">
                <a:solidFill>
                  <a:srgbClr val="FF0000"/>
                </a:solidFill>
              </a:rPr>
              <a:t>not writing into this shared region at the same time</a:t>
            </a:r>
            <a:r>
              <a:rPr lang="en-US" sz="1950" dirty="0"/>
              <a:t>, and not writing and reading from </a:t>
            </a:r>
            <a:r>
              <a:rPr lang="en-US" sz="1950" dirty="0">
                <a:solidFill>
                  <a:srgbClr val="FF0000"/>
                </a:solidFill>
              </a:rPr>
              <a:t>this shared region at the same time</a:t>
            </a:r>
            <a:r>
              <a:rPr lang="en-US" sz="1950" dirty="0" smtClean="0">
                <a:solidFill>
                  <a:srgbClr val="FF0000"/>
                </a:solidFill>
              </a:rPr>
              <a:t>.</a:t>
            </a:r>
            <a:endParaRPr lang="en-US" sz="19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3429000" cy="4267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14682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" y="-28575"/>
            <a:ext cx="9745853" cy="561975"/>
          </a:xfrm>
        </p:spPr>
        <p:txBody>
          <a:bodyPr/>
          <a:lstStyle/>
          <a:p>
            <a:r>
              <a:rPr lang="en-GB" dirty="0"/>
              <a:t>Message Passing Systems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-9525" y="542925"/>
            <a:ext cx="12192000" cy="48936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In order to use shared memory concept, application programs has to write separate code for providing the facility of accessing &amp; manipulating the shared memory.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In </a:t>
            </a:r>
            <a:r>
              <a:rPr lang="en-US" sz="1950" b="1" dirty="0"/>
              <a:t>message passing </a:t>
            </a:r>
            <a:r>
              <a:rPr lang="en-US" sz="1950" dirty="0"/>
              <a:t>model, communication takes place by means of messages exchanged between the cooperating processes.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message passing is simpler to establish (set-up) &amp; works well between the computers &amp; as well as within a computer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Generally, it is preferable when the amount of </a:t>
            </a:r>
            <a:r>
              <a:rPr lang="en-US" sz="1950" dirty="0">
                <a:solidFill>
                  <a:srgbClr val="FF0000"/>
                </a:solidFill>
              </a:rPr>
              <a:t>data transfer is small &amp; when multiple computers </a:t>
            </a:r>
            <a:r>
              <a:rPr lang="en-US" sz="1950" dirty="0"/>
              <a:t>are involved.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Message passing requires </a:t>
            </a:r>
            <a:r>
              <a:rPr lang="en-US" sz="1950" dirty="0">
                <a:solidFill>
                  <a:srgbClr val="FF0000"/>
                </a:solidFill>
              </a:rPr>
              <a:t>system</a:t>
            </a:r>
            <a:r>
              <a:rPr lang="en-US" sz="1950" dirty="0"/>
              <a:t> </a:t>
            </a:r>
            <a:r>
              <a:rPr lang="en-US" sz="1950" dirty="0">
                <a:solidFill>
                  <a:srgbClr val="FF0000"/>
                </a:solidFill>
              </a:rPr>
              <a:t>calls</a:t>
            </a:r>
            <a:r>
              <a:rPr lang="en-US" sz="1950" dirty="0"/>
              <a:t> for every message transfer &amp; hence it is </a:t>
            </a:r>
            <a:r>
              <a:rPr lang="en-US" sz="1950" dirty="0">
                <a:solidFill>
                  <a:srgbClr val="FF0000"/>
                </a:solidFill>
              </a:rPr>
              <a:t>slower</a:t>
            </a:r>
            <a:r>
              <a:rPr lang="en-US" sz="195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Massage passing provides a mechanism to allow processes to communicate &amp; to synchronize their actions without sharing the same address space. This is particularly useful when communication has to be done between the systems in a network. Best example is </a:t>
            </a:r>
            <a:r>
              <a:rPr lang="en-US" sz="1950" dirty="0" smtClean="0"/>
              <a:t>chatting. </a:t>
            </a:r>
            <a:endParaRPr lang="en-US" sz="19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message passing facility provides 2 operations</a:t>
            </a:r>
          </a:p>
          <a:p>
            <a:pPr lvl="1"/>
            <a:r>
              <a:rPr lang="en-US" sz="1950" dirty="0"/>
              <a:t>1) Send (message)</a:t>
            </a:r>
          </a:p>
          <a:p>
            <a:pPr lvl="1"/>
            <a:r>
              <a:rPr lang="en-US" sz="1950" dirty="0"/>
              <a:t>2) </a:t>
            </a:r>
            <a:r>
              <a:rPr lang="en-US" sz="1950" dirty="0" err="1"/>
              <a:t>Recieve</a:t>
            </a:r>
            <a:r>
              <a:rPr lang="en-US" sz="1950" dirty="0"/>
              <a:t> (message)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Messages sent by a process may be fixed or variable size. If </a:t>
            </a:r>
            <a:r>
              <a:rPr lang="en-US" sz="1950" b="1" dirty="0"/>
              <a:t>only fixed size </a:t>
            </a:r>
            <a:r>
              <a:rPr lang="en-US" sz="1950" dirty="0"/>
              <a:t>messages can be sent, system- level </a:t>
            </a:r>
            <a:r>
              <a:rPr lang="en-US" sz="1950" i="1" dirty="0"/>
              <a:t>implementation is straightforward</a:t>
            </a:r>
            <a:r>
              <a:rPr lang="en-US" sz="1950" dirty="0"/>
              <a:t>, but it makes task of </a:t>
            </a:r>
            <a:r>
              <a:rPr lang="en-US" sz="1950" i="1" dirty="0"/>
              <a:t>programming more difficult</a:t>
            </a:r>
            <a:r>
              <a:rPr lang="en-US" sz="19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5663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" y="-28575"/>
            <a:ext cx="9745853" cy="561975"/>
          </a:xfrm>
        </p:spPr>
        <p:txBody>
          <a:bodyPr/>
          <a:lstStyle/>
          <a:p>
            <a:r>
              <a:rPr lang="en-GB" dirty="0"/>
              <a:t>Message Passing Systems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-9525" y="449849"/>
            <a:ext cx="12192000" cy="51937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b="1" dirty="0"/>
              <a:t>Variable sized</a:t>
            </a:r>
            <a:r>
              <a:rPr lang="en-US" sz="1950" dirty="0"/>
              <a:t> messages requires </a:t>
            </a:r>
            <a:r>
              <a:rPr lang="en-US" sz="1950" i="1" dirty="0"/>
              <a:t>more complex implementation </a:t>
            </a:r>
            <a:r>
              <a:rPr lang="en-US" sz="1950" dirty="0"/>
              <a:t>(at the system level) but </a:t>
            </a:r>
            <a:r>
              <a:rPr lang="en-US" sz="1950" i="1" dirty="0"/>
              <a:t>programming task becomes simpler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 If processes P &amp; Q want to Communicate, they must send messages to &amp; receive messages from each other.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In order to do this, a communication channel/link has to be established.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dirty="0"/>
              <a:t>In order to setup the communication link, there are several methods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50" b="1" dirty="0">
                <a:solidFill>
                  <a:srgbClr val="FF0000"/>
                </a:solidFill>
              </a:rPr>
              <a:t>Direct or indirect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50" b="1" dirty="0">
                <a:solidFill>
                  <a:srgbClr val="FF0000"/>
                </a:solidFill>
              </a:rPr>
              <a:t>Synchronous or Asynchronous Communication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50" b="1" dirty="0">
                <a:solidFill>
                  <a:srgbClr val="FF0000"/>
                </a:solidFill>
              </a:rPr>
              <a:t>Automatic or explicit buffering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b="1" dirty="0"/>
              <a:t>Naming: </a:t>
            </a:r>
            <a:r>
              <a:rPr lang="en-US" sz="1950" dirty="0"/>
              <a:t>Processes that wants to Communicate must have a way to refer to each other. They can use either direct or indirect Communication.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Under </a:t>
            </a:r>
            <a:r>
              <a:rPr lang="en-US" sz="1950" b="1" dirty="0"/>
              <a:t>direct Communication</a:t>
            </a:r>
            <a:r>
              <a:rPr lang="en-US" sz="1950" dirty="0"/>
              <a:t>, each process should know the name of other process with which it is communicating. </a:t>
            </a:r>
          </a:p>
          <a:p>
            <a:pPr marL="0" lvl="1"/>
            <a:r>
              <a:rPr lang="en-US" sz="1950" dirty="0"/>
              <a:t>      In this scheme, </a:t>
            </a:r>
            <a:r>
              <a:rPr lang="en-US" sz="1950" b="1" dirty="0"/>
              <a:t>Send()</a:t>
            </a:r>
            <a:r>
              <a:rPr lang="en-US" sz="1950" dirty="0"/>
              <a:t> &amp; </a:t>
            </a:r>
            <a:r>
              <a:rPr lang="en-US" sz="1950" b="1" dirty="0"/>
              <a:t>Receive()</a:t>
            </a:r>
            <a:r>
              <a:rPr lang="en-US" sz="1950" dirty="0"/>
              <a:t> are defined as         send (P, message)------to send a message to P</a:t>
            </a:r>
          </a:p>
          <a:p>
            <a:pPr marL="0" lvl="1"/>
            <a:r>
              <a:rPr lang="en-US" sz="1950" dirty="0"/>
              <a:t>                                                                                                        receive(Q, message) ---receive a message from Q</a:t>
            </a:r>
          </a:p>
          <a:p>
            <a:pPr marL="0" lvl="1"/>
            <a:r>
              <a:rPr lang="en-US" sz="1950" dirty="0"/>
              <a:t>      In this scheme, there should be dedicated link between sender-receiver pair. 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For </a:t>
            </a:r>
            <a:r>
              <a:rPr lang="en-US" sz="1950" b="1" dirty="0"/>
              <a:t>symmetric Communication</a:t>
            </a:r>
            <a:r>
              <a:rPr lang="en-US" sz="1950" dirty="0"/>
              <a:t>, both sender &amp; receiver should know the name of each other.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For </a:t>
            </a:r>
            <a:r>
              <a:rPr lang="en-US" sz="1950" b="1" dirty="0"/>
              <a:t>asymmetric Communication</a:t>
            </a:r>
            <a:r>
              <a:rPr lang="en-US" sz="1950" dirty="0"/>
              <a:t>, only sender should know the name receiver but for receiver sender’s name, need not be known. </a:t>
            </a:r>
            <a:endParaRPr lang="en-US" sz="195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007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" y="-28575"/>
            <a:ext cx="9745853" cy="561975"/>
          </a:xfrm>
        </p:spPr>
        <p:txBody>
          <a:bodyPr/>
          <a:lstStyle/>
          <a:p>
            <a:r>
              <a:rPr lang="en-GB" dirty="0"/>
              <a:t>Message Passing Systems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-9525" y="542925"/>
            <a:ext cx="12192000" cy="45935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For </a:t>
            </a:r>
            <a:r>
              <a:rPr lang="en-US" sz="1950" b="1" dirty="0"/>
              <a:t>asymmetric Communication</a:t>
            </a:r>
            <a:r>
              <a:rPr lang="en-US" sz="1950" dirty="0"/>
              <a:t>, only sender should know the name of receiver but for receiver no need to know sender name,              </a:t>
            </a:r>
            <a:r>
              <a:rPr lang="en-US" sz="1950" b="1" dirty="0"/>
              <a:t>Send (P, message)-------- Send a to P</a:t>
            </a:r>
          </a:p>
          <a:p>
            <a:pPr marL="0" lvl="1"/>
            <a:r>
              <a:rPr lang="en-US" sz="1950" b="1" dirty="0"/>
              <a:t>                                             Receive(id, message)------ "id" is set to the name of process with which Communication has     	 				           taken place.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With </a:t>
            </a:r>
            <a:r>
              <a:rPr lang="en-US" sz="1950" b="1" dirty="0"/>
              <a:t>indirect Communication</a:t>
            </a:r>
            <a:r>
              <a:rPr lang="en-US" sz="1950" dirty="0"/>
              <a:t>, messages are sent to mailboxes or ports. 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Each mailbox has a unique identification. A mailbox can be viewed abstractly as an object into which messages can be placed by processes and from which, messages can be removed. 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In this scheme, a process can communicate with some other process via number of different mailboxes. </a:t>
            </a:r>
          </a:p>
          <a:p>
            <a:pPr marL="0" lvl="1"/>
            <a:r>
              <a:rPr lang="en-US" sz="1950" dirty="0"/>
              <a:t>       send(A, message) --------send a message to mailbox A</a:t>
            </a:r>
          </a:p>
          <a:p>
            <a:pPr marL="0" lvl="1"/>
            <a:r>
              <a:rPr lang="en-US" sz="1950" dirty="0"/>
              <a:t>      receive(A, message) ------receive a message from mailbox A. 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Here, multiple processes can share the same mailbox &amp; ports. OS must provide system calls to create &amp; delete mailboxes &amp; to send &amp; receive messages to / from mailboxes.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A mailbox may be owned either by a process or by OS. 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If the mailbox is owned by a process, then we need to distinguish between the owner &amp; the user.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1950" dirty="0"/>
              <a:t>When a process that owns a mailbox terminates, mailboxes disappears</a:t>
            </a:r>
          </a:p>
        </p:txBody>
      </p:sp>
    </p:spTree>
    <p:extLst>
      <p:ext uri="{BB962C8B-B14F-4D97-AF65-F5344CB8AC3E}">
        <p14:creationId xmlns:p14="http://schemas.microsoft.com/office/powerpoint/2010/main" xmlns="" val="389060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xmlns="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0763" y="236539"/>
            <a:ext cx="8229600" cy="430887"/>
          </a:xfrm>
        </p:spPr>
        <p:txBody>
          <a:bodyPr/>
          <a:lstStyle/>
          <a:p>
            <a:pPr eaLnBrk="1" hangingPunct="1"/>
            <a:r>
              <a:rPr lang="en-GB" sz="2800" dirty="0">
                <a:latin typeface="Bahnschrift SemiBold" pitchFamily="34" charset="0"/>
              </a:rPr>
              <a:t>4. Communication in client-server systems</a:t>
            </a:r>
            <a:endParaRPr lang="en-US" altLang="en-US" sz="2800" dirty="0"/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xmlns="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9588" y="1233488"/>
            <a:ext cx="8397912" cy="1661993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en-US" sz="3600" b="1" dirty="0">
                <a:solidFill>
                  <a:srgbClr val="FF0000"/>
                </a:solidFill>
              </a:rPr>
              <a:t>Sockets</a:t>
            </a:r>
          </a:p>
          <a:p>
            <a:pPr>
              <a:buFont typeface="Arial" pitchFamily="34" charset="0"/>
              <a:buChar char="•"/>
            </a:pPr>
            <a:r>
              <a:rPr lang="en-US" altLang="en-US" sz="3600" b="1" dirty="0">
                <a:solidFill>
                  <a:schemeClr val="tx1"/>
                </a:solidFill>
              </a:rPr>
              <a:t>Remote Procedure Calls</a:t>
            </a:r>
          </a:p>
          <a:p>
            <a:pPr>
              <a:buFont typeface="Arial" pitchFamily="34" charset="0"/>
              <a:buChar char="•"/>
            </a:pPr>
            <a:r>
              <a:rPr lang="en-US" altLang="en-US" sz="3600" b="1" dirty="0">
                <a:solidFill>
                  <a:srgbClr val="FF0000"/>
                </a:solidFill>
              </a:rPr>
              <a:t>Pipes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xmlns="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xmlns="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646" y="571480"/>
            <a:ext cx="11787270" cy="4739759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altLang="en-US" sz="2800" dirty="0">
                <a:solidFill>
                  <a:schemeClr val="tx1"/>
                </a:solidFill>
              </a:rPr>
              <a:t>A 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socket</a:t>
            </a:r>
            <a:r>
              <a:rPr lang="en-US" altLang="en-US" sz="2800" b="1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is defined as an endpoint for </a:t>
            </a:r>
            <a:r>
              <a:rPr lang="en-US" altLang="en-US" sz="2800" dirty="0" smtClean="0">
                <a:solidFill>
                  <a:schemeClr val="tx1"/>
                </a:solidFill>
              </a:rPr>
              <a:t>communication</a:t>
            </a:r>
          </a:p>
          <a:p>
            <a:pPr algn="just"/>
            <a:endParaRPr lang="en-US" altLang="en-US" sz="2800" dirty="0">
              <a:solidFill>
                <a:schemeClr val="tx1"/>
              </a:solidFill>
            </a:endParaRPr>
          </a:p>
          <a:p>
            <a:pPr algn="just"/>
            <a:r>
              <a:rPr lang="en-US" altLang="en-US" sz="2800" dirty="0">
                <a:solidFill>
                  <a:schemeClr val="tx1"/>
                </a:solidFill>
              </a:rPr>
              <a:t>Concatenation of IP address and 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port</a:t>
            </a:r>
            <a:r>
              <a:rPr lang="en-US" altLang="en-US" sz="2800" dirty="0">
                <a:solidFill>
                  <a:schemeClr val="tx1"/>
                </a:solidFill>
              </a:rPr>
              <a:t> – a number included at start of message packet to differentiate network services on a </a:t>
            </a:r>
            <a:r>
              <a:rPr lang="en-US" altLang="en-US" sz="2800" dirty="0" smtClean="0">
                <a:solidFill>
                  <a:schemeClr val="tx1"/>
                </a:solidFill>
              </a:rPr>
              <a:t>host</a:t>
            </a:r>
          </a:p>
          <a:p>
            <a:pPr algn="just"/>
            <a:endParaRPr lang="en-US" altLang="en-US" sz="2800" dirty="0">
              <a:solidFill>
                <a:schemeClr val="tx1"/>
              </a:solidFill>
            </a:endParaRPr>
          </a:p>
          <a:p>
            <a:pPr algn="just"/>
            <a:r>
              <a:rPr lang="en-US" altLang="en-US" sz="2800" dirty="0">
                <a:solidFill>
                  <a:schemeClr val="tx1"/>
                </a:solidFill>
              </a:rPr>
              <a:t>The socket </a:t>
            </a:r>
            <a:r>
              <a:rPr lang="en-US" altLang="en-US" sz="2800" b="1" dirty="0">
                <a:solidFill>
                  <a:schemeClr val="tx1"/>
                </a:solidFill>
              </a:rPr>
              <a:t>161.25.19.8:1625</a:t>
            </a:r>
            <a:r>
              <a:rPr lang="en-US" altLang="en-US" sz="2800" dirty="0">
                <a:solidFill>
                  <a:schemeClr val="tx1"/>
                </a:solidFill>
              </a:rPr>
              <a:t> refers to port </a:t>
            </a:r>
            <a:r>
              <a:rPr lang="en-US" altLang="en-US" sz="2800" b="1" dirty="0">
                <a:solidFill>
                  <a:schemeClr val="tx1"/>
                </a:solidFill>
              </a:rPr>
              <a:t>1625</a:t>
            </a:r>
            <a:r>
              <a:rPr lang="en-US" altLang="en-US" sz="2800" dirty="0">
                <a:solidFill>
                  <a:schemeClr val="tx1"/>
                </a:solidFill>
              </a:rPr>
              <a:t> on host </a:t>
            </a:r>
            <a:r>
              <a:rPr lang="en-US" altLang="en-US" sz="2800" b="1" dirty="0">
                <a:solidFill>
                  <a:schemeClr val="tx1"/>
                </a:solidFill>
              </a:rPr>
              <a:t>161.25.19.8</a:t>
            </a:r>
          </a:p>
          <a:p>
            <a:pPr algn="just"/>
            <a:r>
              <a:rPr lang="en-US" altLang="en-US" sz="2800" dirty="0">
                <a:solidFill>
                  <a:schemeClr val="tx1"/>
                </a:solidFill>
              </a:rPr>
              <a:t>Communication consists between a pair of </a:t>
            </a:r>
            <a:r>
              <a:rPr lang="en-US" altLang="en-US" sz="2800" dirty="0" smtClean="0">
                <a:solidFill>
                  <a:schemeClr val="tx1"/>
                </a:solidFill>
              </a:rPr>
              <a:t>sockets</a:t>
            </a:r>
          </a:p>
          <a:p>
            <a:pPr algn="just"/>
            <a:endParaRPr lang="en-US" altLang="en-US" sz="2800" dirty="0">
              <a:solidFill>
                <a:schemeClr val="tx1"/>
              </a:solidFill>
            </a:endParaRPr>
          </a:p>
          <a:p>
            <a:pPr algn="just"/>
            <a:r>
              <a:rPr lang="en-US" altLang="en-US" sz="2800" dirty="0">
                <a:solidFill>
                  <a:schemeClr val="tx1"/>
                </a:solidFill>
              </a:rPr>
              <a:t>All ports below 1024 are </a:t>
            </a:r>
            <a:r>
              <a:rPr lang="en-US" altLang="en-US" sz="2800" b="1" i="1" dirty="0">
                <a:solidFill>
                  <a:schemeClr val="tx1"/>
                </a:solidFill>
              </a:rPr>
              <a:t>well known</a:t>
            </a:r>
            <a:r>
              <a:rPr lang="en-US" altLang="en-US" sz="2800" dirty="0">
                <a:solidFill>
                  <a:schemeClr val="tx1"/>
                </a:solidFill>
              </a:rPr>
              <a:t>, used for standard services</a:t>
            </a:r>
          </a:p>
          <a:p>
            <a:pPr algn="just"/>
            <a:r>
              <a:rPr lang="en-US" altLang="en-US" sz="2800" dirty="0">
                <a:solidFill>
                  <a:schemeClr val="tx1"/>
                </a:solidFill>
              </a:rPr>
              <a:t>Special IP address 127.0.0.1 (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loopback</a:t>
            </a:r>
            <a:r>
              <a:rPr lang="en-US" altLang="en-US" sz="2800" dirty="0">
                <a:solidFill>
                  <a:schemeClr val="tx1"/>
                </a:solidFill>
              </a:rPr>
              <a:t>) to refer to system on which process is running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xmlns="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1238" y="227013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xmlns="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9522" y="730343"/>
            <a:ext cx="11144328" cy="584192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6" name="Picture 2" descr="Role of Sockets &amp; Connectors – Computer Networking Demystifie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24694" y="214290"/>
            <a:ext cx="4714908" cy="27540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xmlns="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7013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xmlns="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084" y="1785926"/>
            <a:ext cx="5000659" cy="2000264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xmlns="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67372" y="142852"/>
            <a:ext cx="6000792" cy="642942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xmlns="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0" y="142852"/>
            <a:ext cx="26378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xmlns="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712" y="642918"/>
            <a:ext cx="9715568" cy="607223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xmlns="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398" y="142852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xmlns="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084" y="857232"/>
            <a:ext cx="11644394" cy="3693319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altLang="en-US" dirty="0" smtClean="0">
                <a:solidFill>
                  <a:schemeClr val="tx1"/>
                </a:solidFill>
              </a:rPr>
              <a:t>RPC - allows one program to execute a function or procedure on another computer in a network as if it were a local call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b="1" dirty="0">
                <a:solidFill>
                  <a:schemeClr val="tx1"/>
                </a:solidFill>
                <a:latin typeface="+mj-lt"/>
              </a:rPr>
              <a:t>Stubs</a:t>
            </a:r>
            <a:r>
              <a:rPr lang="en-US" altLang="en-US" dirty="0">
                <a:solidFill>
                  <a:schemeClr val="tx1"/>
                </a:solidFill>
              </a:rPr>
              <a:t> – client-side proxy for the actual procedure on the </a:t>
            </a:r>
            <a:r>
              <a:rPr lang="en-US" altLang="en-US" dirty="0" smtClean="0">
                <a:solidFill>
                  <a:schemeClr val="tx1"/>
                </a:solidFill>
              </a:rPr>
              <a:t>server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The client-side stub locates the server and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marshalls</a:t>
            </a:r>
            <a:r>
              <a:rPr lang="en-US" altLang="en-US" dirty="0">
                <a:solidFill>
                  <a:schemeClr val="tx1"/>
                </a:solidFill>
              </a:rPr>
              <a:t> the </a:t>
            </a:r>
            <a:r>
              <a:rPr lang="en-US" altLang="en-US" dirty="0" smtClean="0">
                <a:solidFill>
                  <a:schemeClr val="tx1"/>
                </a:solidFill>
              </a:rPr>
              <a:t>parameters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The server-side stub receives this message, unpacks the marshalled parameters, and performs the procedure on the </a:t>
            </a:r>
            <a:r>
              <a:rPr lang="en-US" altLang="en-US" dirty="0" smtClean="0">
                <a:solidFill>
                  <a:schemeClr val="tx1"/>
                </a:solidFill>
              </a:rPr>
              <a:t>server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On Windows, stub code compile from specification written in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MIDL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xmlns="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4275" y="230188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xmlns="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084" y="969962"/>
            <a:ext cx="11572956" cy="3200876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>
              <a:buFont typeface="Monotype Sorts" pitchFamily="-84" charset="2"/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Data representation handled via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XDL</a:t>
            </a:r>
            <a:r>
              <a:rPr lang="en-US" altLang="en-US" dirty="0">
                <a:solidFill>
                  <a:schemeClr val="tx1"/>
                </a:solidFill>
              </a:rPr>
              <a:t>) format to account for different </a:t>
            </a:r>
            <a:r>
              <a:rPr lang="en-US" altLang="en-US" dirty="0" smtClean="0">
                <a:solidFill>
                  <a:schemeClr val="tx1"/>
                </a:solidFill>
              </a:rPr>
              <a:t>architectures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lvl="1" algn="just"/>
            <a:r>
              <a:rPr lang="en-US" altLang="en-US" b="1" dirty="0">
                <a:solidFill>
                  <a:schemeClr val="tx1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and </a:t>
            </a:r>
            <a:r>
              <a:rPr lang="en-US" altLang="en-US" b="1" dirty="0" smtClean="0">
                <a:solidFill>
                  <a:schemeClr val="tx1"/>
                </a:solidFill>
                <a:latin typeface="+mj-lt"/>
              </a:rPr>
              <a:t>little-endian</a:t>
            </a:r>
          </a:p>
          <a:p>
            <a:pPr lvl="1" algn="just"/>
            <a:endParaRPr lang="en-US" altLang="en-US" b="1" dirty="0">
              <a:solidFill>
                <a:schemeClr val="tx1"/>
              </a:solidFill>
              <a:latin typeface="+mj-lt"/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Remote communication has more failure scenarios than </a:t>
            </a:r>
            <a:r>
              <a:rPr lang="en-US" altLang="en-US" dirty="0" smtClean="0">
                <a:solidFill>
                  <a:schemeClr val="tx1"/>
                </a:solidFill>
              </a:rPr>
              <a:t>local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</a:rPr>
              <a:t>Messages can be delivered </a:t>
            </a:r>
            <a:r>
              <a:rPr lang="en-US" altLang="en-US" b="1" i="1" dirty="0">
                <a:solidFill>
                  <a:schemeClr val="tx1"/>
                </a:solidFill>
              </a:rPr>
              <a:t>exactly once </a:t>
            </a:r>
            <a:r>
              <a:rPr lang="en-US" altLang="en-US" dirty="0">
                <a:solidFill>
                  <a:schemeClr val="tx1"/>
                </a:solidFill>
              </a:rPr>
              <a:t>rather than </a:t>
            </a:r>
            <a:r>
              <a:rPr lang="en-US" altLang="en-US" b="1" i="1" dirty="0">
                <a:solidFill>
                  <a:schemeClr val="tx1"/>
                </a:solidFill>
              </a:rPr>
              <a:t>at most </a:t>
            </a:r>
            <a:r>
              <a:rPr lang="en-US" altLang="en-US" b="1" i="1" dirty="0" smtClean="0">
                <a:solidFill>
                  <a:schemeClr val="tx1"/>
                </a:solidFill>
              </a:rPr>
              <a:t>once</a:t>
            </a:r>
          </a:p>
          <a:p>
            <a:pPr lvl="1" algn="just"/>
            <a:endParaRPr lang="en-US" altLang="en-US" b="1" i="1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OS typically provides a rendezvous (or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matchmaker</a:t>
            </a:r>
            <a:r>
              <a:rPr lang="en-US" altLang="en-US" dirty="0">
                <a:solidFill>
                  <a:schemeClr val="tx1"/>
                </a:solidFill>
              </a:rPr>
              <a:t>) service to connect client and 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xmlns="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960" y="142852"/>
            <a:ext cx="4071966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xmlns="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0960" y="785794"/>
            <a:ext cx="11358642" cy="58579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DEE885-98C5-3D18-B2BE-13E36655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xmlns="" id="{FB4FCF00-4036-5CB0-7E5E-F308B30C5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646" y="214290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xmlns="" id="{8660C938-507E-2E27-E83E-7D10DC543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646" y="785794"/>
            <a:ext cx="11715832" cy="3539430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altLang="en-US" dirty="0">
                <a:solidFill>
                  <a:schemeClr val="tx1"/>
                </a:solidFill>
              </a:rPr>
              <a:t>Acts as a conduit allowing two processes to communicate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Issues</a:t>
            </a:r>
            <a:r>
              <a:rPr lang="en-US" altLang="en-US" dirty="0" smtClean="0">
                <a:solidFill>
                  <a:schemeClr val="tx1"/>
                </a:solidFill>
              </a:rPr>
              <a:t>: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</a:rPr>
              <a:t>Is communication unidirectional or bidirectional?</a:t>
            </a:r>
          </a:p>
          <a:p>
            <a:pPr lvl="1" algn="just"/>
            <a:r>
              <a:rPr lang="en-US" altLang="en-US" dirty="0">
                <a:solidFill>
                  <a:schemeClr val="tx1"/>
                </a:solidFill>
              </a:rPr>
              <a:t>In the case of two-way communication, is it half or full-duplex?</a:t>
            </a:r>
          </a:p>
          <a:p>
            <a:pPr lvl="1" algn="just"/>
            <a:r>
              <a:rPr lang="en-US" altLang="en-US" dirty="0">
                <a:solidFill>
                  <a:schemeClr val="tx1"/>
                </a:solidFill>
              </a:rPr>
              <a:t>Must there exist a relationship (i.e., </a:t>
            </a:r>
            <a:r>
              <a:rPr lang="en-US" altLang="en-US" b="1" i="1" dirty="0">
                <a:solidFill>
                  <a:schemeClr val="tx1"/>
                </a:solidFill>
              </a:rPr>
              <a:t>parent-child</a:t>
            </a:r>
            <a:r>
              <a:rPr lang="en-US" altLang="en-US" dirty="0">
                <a:solidFill>
                  <a:schemeClr val="tx1"/>
                </a:solidFill>
              </a:rPr>
              <a:t>) between the communicating processes?</a:t>
            </a:r>
          </a:p>
          <a:p>
            <a:pPr lvl="1" algn="just"/>
            <a:r>
              <a:rPr lang="en-US" altLang="en-US" dirty="0">
                <a:solidFill>
                  <a:schemeClr val="tx1"/>
                </a:solidFill>
              </a:rPr>
              <a:t>Can the pipes be used over a network</a:t>
            </a:r>
            <a:r>
              <a:rPr lang="en-US" altLang="en-US" dirty="0" smtClean="0">
                <a:solidFill>
                  <a:schemeClr val="tx1"/>
                </a:solidFill>
              </a:rPr>
              <a:t>?</a:t>
            </a:r>
          </a:p>
          <a:p>
            <a:pPr lvl="1"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b="1" dirty="0">
                <a:solidFill>
                  <a:schemeClr val="tx1"/>
                </a:solidFill>
              </a:rPr>
              <a:t>Ordinary pipes </a:t>
            </a:r>
            <a:r>
              <a:rPr lang="en-US" altLang="en-US" dirty="0">
                <a:solidFill>
                  <a:schemeClr val="tx1"/>
                </a:solidFill>
              </a:rPr>
              <a:t>– cannot be accessed  from outside the process that created it. Typically, a parent process creates a pipe and uses it to communicate with a child process that it created. </a:t>
            </a:r>
            <a:endParaRPr lang="en-US" altLang="en-US" dirty="0" smtClean="0">
              <a:solidFill>
                <a:schemeClr val="tx1"/>
              </a:solidFill>
            </a:endParaRP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b="1" dirty="0">
                <a:solidFill>
                  <a:schemeClr val="tx1"/>
                </a:solidFill>
              </a:rPr>
              <a:t>Named pipes </a:t>
            </a:r>
            <a:r>
              <a:rPr lang="en-US" altLang="en-US" dirty="0">
                <a:solidFill>
                  <a:schemeClr val="tx1"/>
                </a:solidFill>
              </a:rPr>
              <a:t>– can be accessed without a parent-child relationship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035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D3CC3C-DD49-8C48-46BB-DFC5DC9B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xmlns="" id="{6A490FCE-D02E-6A53-7B14-B8518F6F4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398" y="142852"/>
            <a:ext cx="8229600" cy="553998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xmlns="" id="{47D3D5BF-2ED7-B728-1E78-3F2D9F8F4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6646" y="785794"/>
            <a:ext cx="11644394" cy="3385542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Ordinary Pipes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allow communication in standard producer-consumer </a:t>
            </a:r>
            <a:r>
              <a:rPr lang="en-US" altLang="en-US" dirty="0" smtClean="0">
                <a:solidFill>
                  <a:schemeClr val="tx1"/>
                </a:solidFill>
              </a:rPr>
              <a:t>style</a:t>
            </a:r>
          </a:p>
          <a:p>
            <a:endParaRPr lang="en-US" altLang="en-US" dirty="0" smtClean="0">
              <a:solidFill>
                <a:schemeClr val="tx1"/>
              </a:solidFill>
            </a:endParaRPr>
          </a:p>
          <a:p>
            <a:r>
              <a:rPr lang="en-US" altLang="en-US" dirty="0" smtClean="0">
                <a:solidFill>
                  <a:schemeClr val="tx1"/>
                </a:solidFill>
              </a:rPr>
              <a:t>Producer writes to one end (the </a:t>
            </a:r>
            <a:r>
              <a:rPr lang="en-US" altLang="en-US" b="1" dirty="0" smtClean="0">
                <a:solidFill>
                  <a:schemeClr val="tx1"/>
                </a:solidFill>
                <a:latin typeface="+mj-lt"/>
              </a:rPr>
              <a:t>write-end</a:t>
            </a:r>
            <a:r>
              <a:rPr lang="en-US" altLang="en-US" b="1" dirty="0" smtClean="0">
                <a:solidFill>
                  <a:schemeClr val="tx1"/>
                </a:solidFill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</a:rPr>
              <a:t>of the pipe)</a:t>
            </a:r>
          </a:p>
          <a:p>
            <a:endParaRPr lang="en-US" altLang="en-US" dirty="0" smtClean="0">
              <a:solidFill>
                <a:schemeClr val="tx1"/>
              </a:solidFill>
            </a:endParaRPr>
          </a:p>
          <a:p>
            <a:r>
              <a:rPr lang="en-US" altLang="en-US" dirty="0" smtClean="0">
                <a:solidFill>
                  <a:schemeClr val="tx1"/>
                </a:solidFill>
              </a:rPr>
              <a:t>Consumer </a:t>
            </a:r>
            <a:r>
              <a:rPr lang="en-US" altLang="en-US" dirty="0">
                <a:solidFill>
                  <a:schemeClr val="tx1"/>
                </a:solidFill>
              </a:rPr>
              <a:t>reads from the other end (the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read-end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of the pipe</a:t>
            </a:r>
            <a:r>
              <a:rPr lang="en-US" altLang="en-US" dirty="0" smtClean="0">
                <a:solidFill>
                  <a:schemeClr val="tx1"/>
                </a:solidFill>
              </a:rPr>
              <a:t>)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Ordinary pipes are therefore </a:t>
            </a:r>
            <a:r>
              <a:rPr lang="en-US" altLang="en-US" dirty="0" smtClean="0">
                <a:solidFill>
                  <a:schemeClr val="tx1"/>
                </a:solidFill>
              </a:rPr>
              <a:t>unidirectional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 smtClean="0">
                <a:solidFill>
                  <a:schemeClr val="tx1"/>
                </a:solidFill>
              </a:rPr>
              <a:t>Windows </a:t>
            </a:r>
            <a:r>
              <a:rPr lang="en-US" altLang="en-US" dirty="0">
                <a:solidFill>
                  <a:schemeClr val="tx1"/>
                </a:solidFill>
              </a:rPr>
              <a:t>calls these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xmlns="" id="{99869210-5C30-77D5-223B-30BD64E14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95934" y="3857628"/>
            <a:ext cx="5456356" cy="185738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03249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DCE9AE-F8BA-DA44-EB43-18FA83B6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xmlns="" id="{835837FA-32D3-19E8-02DD-FD1420BD4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960" y="142852"/>
            <a:ext cx="8229600" cy="553998"/>
          </a:xfrm>
        </p:spPr>
        <p:txBody>
          <a:bodyPr/>
          <a:lstStyle/>
          <a:p>
            <a:r>
              <a:rPr lang="en-US" altLang="en-US" dirty="0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xmlns="" id="{027F0EBD-857E-6AA5-7287-191EC8C80F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0960" y="785794"/>
            <a:ext cx="11072890" cy="3077766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altLang="en-US" dirty="0">
                <a:solidFill>
                  <a:schemeClr val="tx1"/>
                </a:solidFill>
              </a:rPr>
              <a:t>Named Pipes are more powerful than ordinary </a:t>
            </a:r>
            <a:r>
              <a:rPr lang="en-US" altLang="en-US" dirty="0" smtClean="0">
                <a:solidFill>
                  <a:schemeClr val="tx1"/>
                </a:solidFill>
              </a:rPr>
              <a:t>pipes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Communication is </a:t>
            </a:r>
            <a:r>
              <a:rPr lang="en-US" altLang="en-US" dirty="0" smtClean="0">
                <a:solidFill>
                  <a:schemeClr val="tx1"/>
                </a:solidFill>
              </a:rPr>
              <a:t>bidirectional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No parent-child relationship is necessary between the communicating </a:t>
            </a:r>
            <a:r>
              <a:rPr lang="en-US" altLang="en-US" dirty="0" smtClean="0">
                <a:solidFill>
                  <a:schemeClr val="tx1"/>
                </a:solidFill>
              </a:rPr>
              <a:t>processes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Several processes can use the named pipe for </a:t>
            </a:r>
            <a:r>
              <a:rPr lang="en-US" altLang="en-US" dirty="0" smtClean="0">
                <a:solidFill>
                  <a:schemeClr val="tx1"/>
                </a:solidFill>
              </a:rPr>
              <a:t>communication</a:t>
            </a:r>
          </a:p>
          <a:p>
            <a:pPr algn="just"/>
            <a:endParaRPr lang="en-US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Provided on both UNIX and Windows systems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4458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2584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5. </a:t>
            </a:r>
            <a:r>
              <a:rPr dirty="0"/>
              <a:t>Th</a:t>
            </a:r>
            <a:r>
              <a:rPr spc="-50" dirty="0"/>
              <a:t>r</a:t>
            </a:r>
            <a:r>
              <a:rPr dirty="0"/>
              <a:t>e</a:t>
            </a:r>
            <a:r>
              <a:rPr spc="-15" dirty="0"/>
              <a:t>a</a:t>
            </a:r>
            <a:r>
              <a:rPr dirty="0"/>
              <a:t>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41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084" y="571480"/>
            <a:ext cx="11953916" cy="43229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 smtClean="0">
                <a:solidFill>
                  <a:srgbClr val="FF0000"/>
                </a:solidFill>
                <a:latin typeface="Carlito"/>
                <a:cs typeface="Carlito"/>
              </a:rPr>
              <a:t>“</a:t>
            </a:r>
            <a:r>
              <a:rPr lang="en-US" sz="2200" spc="-5" dirty="0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lang="en-US" sz="2200" b="1" spc="-5" dirty="0">
                <a:solidFill>
                  <a:srgbClr val="FF0000"/>
                </a:solidFill>
                <a:latin typeface="Carlito"/>
                <a:cs typeface="Carlito"/>
              </a:rPr>
              <a:t>Thread </a:t>
            </a:r>
            <a:r>
              <a:rPr lang="en-US" sz="2200" spc="-5" dirty="0">
                <a:solidFill>
                  <a:srgbClr val="FF0000"/>
                </a:solidFill>
                <a:latin typeface="Carlito"/>
                <a:cs typeface="Carlito"/>
              </a:rPr>
              <a:t> is a basic unit of CPU utilization, consisting of program counter (PC), thread ID, set of registers &amp; stack”</a:t>
            </a:r>
          </a:p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>
                <a:latin typeface="Carlito"/>
                <a:cs typeface="Carlito"/>
              </a:rPr>
              <a:t>Traditional process (heavyweight) has a single thread of control. That means, generally each &amp; every process should have one thread of control.</a:t>
            </a:r>
          </a:p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>
                <a:latin typeface="Carlito"/>
                <a:cs typeface="Carlito"/>
              </a:rPr>
              <a:t>Every process has its own </a:t>
            </a:r>
            <a:r>
              <a:rPr lang="en-US" sz="2200" b="1" spc="-5" dirty="0">
                <a:latin typeface="Carlito"/>
                <a:cs typeface="Carlito"/>
              </a:rPr>
              <a:t>code segment</a:t>
            </a:r>
            <a:r>
              <a:rPr lang="en-US" sz="2200" spc="-5" dirty="0">
                <a:latin typeface="Carlito"/>
                <a:cs typeface="Carlito"/>
              </a:rPr>
              <a:t>, </a:t>
            </a:r>
            <a:r>
              <a:rPr lang="en-US" sz="2200" b="1" spc="-5" dirty="0">
                <a:latin typeface="Carlito"/>
                <a:cs typeface="Carlito"/>
              </a:rPr>
              <a:t>data segment </a:t>
            </a:r>
            <a:r>
              <a:rPr lang="en-US" sz="2200" spc="-5" dirty="0">
                <a:latin typeface="Carlito"/>
                <a:cs typeface="Carlito"/>
              </a:rPr>
              <a:t>&amp; </a:t>
            </a:r>
            <a:r>
              <a:rPr lang="en-US" sz="2200" b="1" spc="-5" dirty="0">
                <a:latin typeface="Carlito"/>
                <a:cs typeface="Carlito"/>
              </a:rPr>
              <a:t>some OS resources </a:t>
            </a:r>
            <a:r>
              <a:rPr lang="en-US" sz="2200" spc="-5" dirty="0">
                <a:latin typeface="Carlito"/>
                <a:cs typeface="Carlito"/>
              </a:rPr>
              <a:t>like open files &amp; signals</a:t>
            </a:r>
          </a:p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>
                <a:latin typeface="Carlito"/>
                <a:cs typeface="Carlito"/>
              </a:rPr>
              <a:t>Single thread can perform only one specific </a:t>
            </a:r>
            <a:r>
              <a:rPr lang="en-US" sz="2200" spc="-5" dirty="0" smtClean="0">
                <a:latin typeface="Carlito"/>
                <a:cs typeface="Carlito"/>
              </a:rPr>
              <a:t>task</a:t>
            </a:r>
          </a:p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 smtClean="0">
                <a:latin typeface="Carlito"/>
                <a:cs typeface="Carlito"/>
              </a:rPr>
              <a:t>Multiple threads can perform multiple tasks at a time</a:t>
            </a:r>
          </a:p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 smtClean="0">
                <a:latin typeface="Carlito"/>
                <a:cs typeface="Carlito"/>
              </a:rPr>
              <a:t>If </a:t>
            </a:r>
            <a:r>
              <a:rPr lang="en-US" sz="2200" spc="-5" dirty="0">
                <a:latin typeface="Carlito"/>
                <a:cs typeface="Carlito"/>
              </a:rPr>
              <a:t>a process has multiple threads, it can perform multiple tasks </a:t>
            </a:r>
          </a:p>
          <a:p>
            <a:pPr marL="241300" indent="-228600">
              <a:lnSpc>
                <a:spcPts val="2845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5" dirty="0">
                <a:latin typeface="Carlito"/>
                <a:cs typeface="Carlito"/>
              </a:rPr>
              <a:t>A thread shares its code &amp; data segments, OS resources with other threads belonging to the same </a:t>
            </a:r>
            <a:r>
              <a:rPr lang="en-US" sz="2200" spc="-5" dirty="0" smtClean="0">
                <a:latin typeface="Carlito"/>
                <a:cs typeface="Carlito"/>
              </a:rPr>
              <a:t>process</a:t>
            </a:r>
            <a:endParaRPr sz="2200" b="1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747" y="31191"/>
            <a:ext cx="9745853" cy="574675"/>
          </a:xfrm>
        </p:spPr>
        <p:txBody>
          <a:bodyPr/>
          <a:lstStyle/>
          <a:p>
            <a:r>
              <a:rPr lang="en-US" spc="-10" dirty="0">
                <a:latin typeface="Carlito"/>
                <a:cs typeface="Carlito"/>
              </a:rPr>
              <a:t>Single </a:t>
            </a:r>
            <a:r>
              <a:rPr lang="en-US" spc="-5" dirty="0">
                <a:latin typeface="Carlito"/>
                <a:cs typeface="Carlito"/>
              </a:rPr>
              <a:t>and </a:t>
            </a:r>
            <a:r>
              <a:rPr lang="en-US" spc="-15" dirty="0">
                <a:latin typeface="Carlito"/>
                <a:cs typeface="Carlito"/>
              </a:rPr>
              <a:t>Multithreaded</a:t>
            </a:r>
            <a:r>
              <a:rPr lang="en-US" spc="165" dirty="0">
                <a:latin typeface="Carlito"/>
                <a:cs typeface="Carlito"/>
              </a:rPr>
              <a:t> </a:t>
            </a:r>
            <a:r>
              <a:rPr lang="en-US" spc="-15" dirty="0">
                <a:latin typeface="Carlito"/>
                <a:cs typeface="Carlito"/>
              </a:rPr>
              <a:t>Processes</a:t>
            </a:r>
            <a:endParaRPr lang="en-US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92" t="11746" r="56387" b="11746"/>
          <a:stretch/>
        </p:blipFill>
        <p:spPr bwMode="auto">
          <a:xfrm>
            <a:off x="380960" y="714356"/>
            <a:ext cx="5500726" cy="578647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2553" t="11746" r="392" b="11746"/>
          <a:stretch/>
        </p:blipFill>
        <p:spPr bwMode="auto">
          <a:xfrm>
            <a:off x="6238876" y="714356"/>
            <a:ext cx="5357850" cy="578647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76364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0"/>
            <a:ext cx="8229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latin typeface="Carlito"/>
                <a:cs typeface="Carlito"/>
              </a:rPr>
              <a:t>Four </a:t>
            </a:r>
            <a:r>
              <a:rPr spc="-5" dirty="0">
                <a:latin typeface="Carlito"/>
                <a:cs typeface="Carlito"/>
              </a:rPr>
              <a:t>Primary Benefits of</a:t>
            </a:r>
            <a:r>
              <a:rPr spc="-3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Threading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36272" y="6508812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43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208" y="571480"/>
            <a:ext cx="12096792" cy="465127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rlito"/>
                <a:cs typeface="Carlito"/>
              </a:rPr>
              <a:t>Responsiveness</a:t>
            </a:r>
            <a:endParaRPr sz="2000" dirty="0">
              <a:latin typeface="Carlito"/>
              <a:cs typeface="Carlito"/>
            </a:endParaRPr>
          </a:p>
          <a:p>
            <a:pPr marL="698500" marR="252095" lvl="1" indent="-229235" algn="just">
              <a:lnSpc>
                <a:spcPts val="216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15" dirty="0">
                <a:latin typeface="Carlito"/>
                <a:cs typeface="Carlito"/>
              </a:rPr>
              <a:t>By making an </a:t>
            </a:r>
            <a:r>
              <a:rPr sz="2000" spc="-15" dirty="0">
                <a:latin typeface="Carlito"/>
                <a:cs typeface="Carlito"/>
              </a:rPr>
              <a:t>Interactive </a:t>
            </a:r>
            <a:r>
              <a:rPr sz="2000" spc="-10" dirty="0">
                <a:latin typeface="Carlito"/>
                <a:cs typeface="Carlito"/>
              </a:rPr>
              <a:t>application</a:t>
            </a:r>
            <a:r>
              <a:rPr lang="en-US" sz="2000" spc="-10" dirty="0">
                <a:latin typeface="Carlito"/>
                <a:cs typeface="Carlito"/>
              </a:rPr>
              <a:t> as multithreading, we </a:t>
            </a:r>
            <a:r>
              <a:rPr sz="2000" spc="-15" dirty="0">
                <a:latin typeface="Carlito"/>
                <a:cs typeface="Carlito"/>
              </a:rPr>
              <a:t>can </a:t>
            </a:r>
            <a:r>
              <a:rPr lang="en-US" sz="2000" spc="-15" dirty="0">
                <a:latin typeface="Carlito"/>
                <a:cs typeface="Carlito"/>
              </a:rPr>
              <a:t>allow it to </a:t>
            </a:r>
            <a:r>
              <a:rPr lang="en-US" sz="2000" spc="-15" dirty="0">
                <a:solidFill>
                  <a:srgbClr val="FF0000"/>
                </a:solidFill>
                <a:latin typeface="Carlito"/>
                <a:cs typeface="Carlito"/>
              </a:rPr>
              <a:t>continue running </a:t>
            </a:r>
            <a:r>
              <a:rPr lang="en-US" sz="2000" spc="-15" dirty="0">
                <a:latin typeface="Carlito"/>
                <a:cs typeface="Carlito"/>
              </a:rPr>
              <a:t>even if part of it is blocked or </a:t>
            </a:r>
            <a:r>
              <a:rPr sz="2000" spc="-15" dirty="0">
                <a:latin typeface="Carlito"/>
                <a:cs typeface="Carlito"/>
              </a:rPr>
              <a:t>performing lengthy</a:t>
            </a:r>
            <a:r>
              <a:rPr sz="2000" spc="11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computations</a:t>
            </a:r>
            <a:r>
              <a:rPr lang="en-US" sz="2000" spc="-10" dirty="0">
                <a:latin typeface="Carlito"/>
                <a:cs typeface="Carlito"/>
              </a:rPr>
              <a:t>, thereby increasing responsiveness to the user</a:t>
            </a:r>
          </a:p>
          <a:p>
            <a:pPr marL="698500" marR="252095" lvl="1" indent="-229235" algn="just">
              <a:lnSpc>
                <a:spcPts val="216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10" dirty="0">
                <a:latin typeface="Carlito"/>
                <a:cs typeface="Carlito"/>
              </a:rPr>
              <a:t>For example, multithreaded web browser could allow user interaction in one thread while an image/document was being uploaded/downloaded in another thread</a:t>
            </a:r>
            <a:endParaRPr sz="2000" dirty="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rlito"/>
                <a:cs typeface="Carlito"/>
              </a:rPr>
              <a:t>Resource</a:t>
            </a:r>
            <a:r>
              <a:rPr sz="2000" b="1" spc="-25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Sharing</a:t>
            </a:r>
            <a:endParaRPr sz="2000" dirty="0">
              <a:latin typeface="Carlito"/>
              <a:cs typeface="Carlito"/>
            </a:endParaRPr>
          </a:p>
          <a:p>
            <a:pPr marL="698500" lvl="1" indent="-229235" algn="just">
              <a:lnSpc>
                <a:spcPts val="228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10" dirty="0">
                <a:latin typeface="Carlito"/>
                <a:cs typeface="Carlito"/>
              </a:rPr>
              <a:t>Processes may only share resources through shared memory or message passing techniques.</a:t>
            </a:r>
          </a:p>
          <a:p>
            <a:pPr marL="698500" lvl="1" indent="-229235" algn="just">
              <a:lnSpc>
                <a:spcPts val="228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10" dirty="0">
                <a:latin typeface="Carlito"/>
                <a:cs typeface="Carlito"/>
              </a:rPr>
              <a:t>However, </a:t>
            </a:r>
            <a:r>
              <a:rPr sz="2000" spc="-10" dirty="0">
                <a:latin typeface="Carlito"/>
                <a:cs typeface="Carlito"/>
              </a:rPr>
              <a:t>Threads share </a:t>
            </a:r>
            <a:r>
              <a:rPr sz="2000" spc="-30" dirty="0">
                <a:latin typeface="Carlito"/>
                <a:cs typeface="Carlito"/>
              </a:rPr>
              <a:t>memory</a:t>
            </a:r>
            <a:r>
              <a:rPr lang="en-US" sz="2000" spc="-30" dirty="0">
                <a:latin typeface="Carlito"/>
                <a:cs typeface="Carlito"/>
              </a:rPr>
              <a:t> &amp; the resources of the process to which they belongs by default.</a:t>
            </a:r>
          </a:p>
          <a:p>
            <a:pPr marL="698500" lvl="1" indent="-229235" algn="just">
              <a:lnSpc>
                <a:spcPts val="228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30" dirty="0">
                <a:latin typeface="Carlito"/>
                <a:cs typeface="Carlito"/>
              </a:rPr>
              <a:t>Benefit of </a:t>
            </a:r>
            <a:r>
              <a:rPr lang="en-US" sz="2000" spc="-30" dirty="0">
                <a:solidFill>
                  <a:srgbClr val="FF0000"/>
                </a:solidFill>
                <a:latin typeface="Carlito"/>
                <a:cs typeface="Carlito"/>
              </a:rPr>
              <a:t>sharing code &amp; data </a:t>
            </a:r>
            <a:r>
              <a:rPr lang="en-US" sz="2000" spc="-30" dirty="0">
                <a:latin typeface="Carlito"/>
                <a:cs typeface="Carlito"/>
              </a:rPr>
              <a:t>is that, it allows an application to have several different threads within same address space</a:t>
            </a:r>
            <a:endParaRPr sz="2000" dirty="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5" dirty="0">
                <a:latin typeface="Carlito"/>
                <a:cs typeface="Carlito"/>
              </a:rPr>
              <a:t>Economy/Efficiency</a:t>
            </a:r>
            <a:endParaRPr sz="2000" dirty="0">
              <a:latin typeface="Carlito"/>
              <a:cs typeface="Carlito"/>
            </a:endParaRPr>
          </a:p>
          <a:p>
            <a:pPr marL="698500" marR="257810" lvl="1" indent="-229235" algn="just">
              <a:lnSpc>
                <a:spcPts val="216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5" dirty="0">
                <a:latin typeface="Carlito"/>
                <a:cs typeface="Carlito"/>
              </a:rPr>
              <a:t>Resource </a:t>
            </a:r>
            <a:r>
              <a:rPr sz="2000" spc="-10" dirty="0">
                <a:latin typeface="Carlito"/>
                <a:cs typeface="Carlito"/>
              </a:rPr>
              <a:t>allocation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spc="-35" dirty="0">
                <a:latin typeface="Carlito"/>
                <a:cs typeface="Carlito"/>
              </a:rPr>
              <a:t>costly. </a:t>
            </a:r>
            <a:endParaRPr lang="en-US" sz="2000" spc="-35" dirty="0">
              <a:latin typeface="Carlito"/>
              <a:cs typeface="Carlito"/>
            </a:endParaRPr>
          </a:p>
          <a:p>
            <a:pPr marL="698500" marR="257810" lvl="1" indent="-229235" algn="just">
              <a:lnSpc>
                <a:spcPts val="216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Sharing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reduces </a:t>
            </a:r>
            <a:r>
              <a:rPr sz="2000" spc="-15" dirty="0">
                <a:latin typeface="Carlito"/>
                <a:cs typeface="Carlito"/>
              </a:rPr>
              <a:t>overhead </a:t>
            </a:r>
            <a:r>
              <a:rPr sz="2000" spc="-5" dirty="0">
                <a:latin typeface="Carlito"/>
                <a:cs typeface="Carlito"/>
              </a:rPr>
              <a:t>and </a:t>
            </a:r>
            <a:r>
              <a:rPr sz="2000" spc="-10" dirty="0">
                <a:latin typeface="Carlito"/>
                <a:cs typeface="Carlito"/>
              </a:rPr>
              <a:t>reduces  </a:t>
            </a: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20" dirty="0">
                <a:latin typeface="Carlito"/>
                <a:cs typeface="Carlito"/>
              </a:rPr>
              <a:t>cost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20" dirty="0">
                <a:latin typeface="Carlito"/>
                <a:cs typeface="Carlito"/>
              </a:rPr>
              <a:t>context </a:t>
            </a:r>
            <a:r>
              <a:rPr sz="2000" spc="-10" dirty="0">
                <a:latin typeface="Carlito"/>
                <a:cs typeface="Carlito"/>
              </a:rPr>
              <a:t>switching </a:t>
            </a:r>
            <a:r>
              <a:rPr sz="2000" spc="-5" dirty="0">
                <a:latin typeface="Carlito"/>
                <a:cs typeface="Carlito"/>
              </a:rPr>
              <a:t>during </a:t>
            </a:r>
            <a:r>
              <a:rPr sz="2000" spc="-10" dirty="0">
                <a:latin typeface="Carlito"/>
                <a:cs typeface="Carlito"/>
              </a:rPr>
              <a:t>CPU</a:t>
            </a:r>
            <a:r>
              <a:rPr sz="2000" spc="12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scheduling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0"/>
            <a:ext cx="8229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latin typeface="Carlito"/>
                <a:cs typeface="Carlito"/>
              </a:rPr>
              <a:t>Four </a:t>
            </a:r>
            <a:r>
              <a:rPr spc="-5" dirty="0">
                <a:latin typeface="Carlito"/>
                <a:cs typeface="Carlito"/>
              </a:rPr>
              <a:t>Primary Benefits of</a:t>
            </a:r>
            <a:r>
              <a:rPr spc="-3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Threading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36272" y="6508812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44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62000"/>
            <a:ext cx="12192000" cy="19967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b="1" spc="-15" dirty="0">
                <a:latin typeface="Carlito"/>
                <a:cs typeface="Carlito"/>
              </a:rPr>
              <a:t>Scalability</a:t>
            </a:r>
            <a:endParaRPr sz="2000" dirty="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dirty="0">
                <a:latin typeface="Carlito"/>
                <a:cs typeface="Carlito"/>
              </a:rPr>
              <a:t>Benefits of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multithreading can be greatly increased </a:t>
            </a:r>
            <a:r>
              <a:rPr lang="en-US" sz="2000" dirty="0">
                <a:latin typeface="Carlito"/>
                <a:cs typeface="Carlito"/>
              </a:rPr>
              <a:t>in a multiprocessor architecture, where threads may be running in parallel on different processors</a:t>
            </a: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dirty="0">
                <a:latin typeface="Carlito"/>
                <a:cs typeface="Carlito"/>
              </a:rPr>
              <a:t>A single-threaded process can only run on one processor, regardless how many are available</a:t>
            </a: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dirty="0">
                <a:latin typeface="Carlito"/>
                <a:cs typeface="Carlito"/>
              </a:rPr>
              <a:t>Multithreading on a multi-CPU machines increases parallelism.</a:t>
            </a:r>
            <a:endParaRPr lang="en-GB" sz="2000" dirty="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68724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6284213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spc="-10" dirty="0">
                <a:latin typeface="Carlito"/>
                <a:cs typeface="Carlito"/>
              </a:rPr>
              <a:t>6. </a:t>
            </a:r>
            <a:r>
              <a:rPr sz="4400" spc="-10" dirty="0">
                <a:latin typeface="Carlito"/>
                <a:cs typeface="Carlito"/>
              </a:rPr>
              <a:t>Multithreading</a:t>
            </a:r>
            <a:r>
              <a:rPr sz="4400" spc="45" dirty="0">
                <a:latin typeface="Carlito"/>
                <a:cs typeface="Carlito"/>
              </a:rPr>
              <a:t> </a:t>
            </a:r>
            <a:r>
              <a:rPr sz="4400" spc="-5" dirty="0">
                <a:latin typeface="Carlito"/>
                <a:cs typeface="Carlito"/>
              </a:rPr>
              <a:t>Models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6272" y="6508812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z="1400" b="1" spc="-5" dirty="0">
                <a:latin typeface="Arial"/>
                <a:cs typeface="Arial"/>
              </a:rPr>
              <a:pPr marL="38100">
                <a:lnSpc>
                  <a:spcPts val="1639"/>
                </a:lnSpc>
              </a:pPr>
              <a:t>45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695325"/>
            <a:ext cx="12192000" cy="48789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32384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2 types of threads to be managed in a modern system</a:t>
            </a:r>
          </a:p>
          <a:p>
            <a:pPr marL="698500" marR="32384" lvl="1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User threads</a:t>
            </a:r>
          </a:p>
          <a:p>
            <a:pPr marL="698500" marR="32384" lvl="1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Kernel threads</a:t>
            </a:r>
          </a:p>
          <a:p>
            <a:pPr marL="241300" marR="32384" lvl="1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solidFill>
                  <a:srgbClr val="FF0000"/>
                </a:solidFill>
                <a:latin typeface="Carlito"/>
                <a:cs typeface="Carlito"/>
              </a:rPr>
              <a:t>User threads are supported above the kernel &amp; are managed without kernel support</a:t>
            </a:r>
          </a:p>
          <a:p>
            <a:pPr marL="241300" marR="32384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solidFill>
                  <a:srgbClr val="FF0000"/>
                </a:solidFill>
                <a:latin typeface="Carlito"/>
                <a:cs typeface="Carlito"/>
              </a:rPr>
              <a:t>Kernel threads are supported &amp; managed directly by OS. Kernel threads are supported within the kernel of the OS itself</a:t>
            </a:r>
          </a:p>
          <a:p>
            <a:pPr marL="241300" marR="32384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relationship </a:t>
            </a:r>
            <a:r>
              <a:rPr lang="en-US" sz="2400" spc="-5" dirty="0">
                <a:latin typeface="Carlito"/>
                <a:cs typeface="Carlito"/>
              </a:rPr>
              <a:t>exists </a:t>
            </a:r>
            <a:r>
              <a:rPr sz="2400" spc="-10" dirty="0">
                <a:latin typeface="Carlito"/>
                <a:cs typeface="Carlito"/>
              </a:rPr>
              <a:t>between</a:t>
            </a:r>
            <a:r>
              <a:rPr sz="2400" spc="-20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user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kernel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threads</a:t>
            </a: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rlito"/>
                <a:cs typeface="Carlito"/>
              </a:rPr>
              <a:t>There are 3 common ways to establish relationship between user &amp; kernel thread</a:t>
            </a:r>
          </a:p>
          <a:p>
            <a:pPr marL="698500" lvl="1" indent="-228600"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Many-to-One</a:t>
            </a:r>
            <a:endParaRPr sz="24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698500" lvl="1" indent="-228600"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One-to-One</a:t>
            </a:r>
            <a:endParaRPr sz="24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698500" lvl="1" indent="-228600"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Many-to-Many</a:t>
            </a:r>
            <a:endParaRPr sz="24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469265" marR="5080" lvl="1">
              <a:lnSpc>
                <a:spcPts val="2590"/>
              </a:lnSpc>
              <a:spcBef>
                <a:spcPts val="545"/>
              </a:spcBef>
              <a:tabLst>
                <a:tab pos="699135" algn="l"/>
              </a:tabLst>
            </a:pP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7381" y="6419494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326847"/>
            <a:ext cx="7007556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/>
              <a:t>Many-to-One</a:t>
            </a:r>
            <a:r>
              <a:rPr sz="4400" spc="20" dirty="0"/>
              <a:t> </a:t>
            </a:r>
            <a:r>
              <a:rPr sz="4400" spc="-10" dirty="0"/>
              <a:t>Model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595274" y="1142984"/>
            <a:ext cx="6143668" cy="5468620"/>
            <a:chOff x="1962911" y="1389380"/>
            <a:chExt cx="4023360" cy="3947160"/>
          </a:xfrm>
        </p:grpSpPr>
        <p:sp>
          <p:nvSpPr>
            <p:cNvPr id="5" name="object 5"/>
            <p:cNvSpPr/>
            <p:nvPr/>
          </p:nvSpPr>
          <p:spPr>
            <a:xfrm>
              <a:off x="2002535" y="1429512"/>
              <a:ext cx="3944111" cy="38679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62912" y="1389379"/>
              <a:ext cx="4023360" cy="3947160"/>
            </a:xfrm>
            <a:custGeom>
              <a:avLst/>
              <a:gdLst/>
              <a:ahLst/>
              <a:cxnLst/>
              <a:rect l="l" t="t" r="r" b="b"/>
              <a:pathLst>
                <a:path w="4023360" h="3947160">
                  <a:moveTo>
                    <a:pt x="3996944" y="26670"/>
                  </a:moveTo>
                  <a:lnTo>
                    <a:pt x="3983736" y="26670"/>
                  </a:lnTo>
                  <a:lnTo>
                    <a:pt x="3983736" y="40640"/>
                  </a:lnTo>
                  <a:lnTo>
                    <a:pt x="3983736" y="3907790"/>
                  </a:lnTo>
                  <a:lnTo>
                    <a:pt x="39624" y="3907790"/>
                  </a:lnTo>
                  <a:lnTo>
                    <a:pt x="39624" y="40640"/>
                  </a:lnTo>
                  <a:lnTo>
                    <a:pt x="3983736" y="40640"/>
                  </a:lnTo>
                  <a:lnTo>
                    <a:pt x="3983736" y="26670"/>
                  </a:lnTo>
                  <a:lnTo>
                    <a:pt x="26416" y="26670"/>
                  </a:lnTo>
                  <a:lnTo>
                    <a:pt x="26416" y="40640"/>
                  </a:lnTo>
                  <a:lnTo>
                    <a:pt x="26416" y="3907790"/>
                  </a:lnTo>
                  <a:lnTo>
                    <a:pt x="26416" y="3921760"/>
                  </a:lnTo>
                  <a:lnTo>
                    <a:pt x="3996944" y="3921760"/>
                  </a:lnTo>
                  <a:lnTo>
                    <a:pt x="3996944" y="3908044"/>
                  </a:lnTo>
                  <a:lnTo>
                    <a:pt x="3996944" y="3907790"/>
                  </a:lnTo>
                  <a:lnTo>
                    <a:pt x="3996944" y="40640"/>
                  </a:lnTo>
                  <a:lnTo>
                    <a:pt x="3996944" y="40132"/>
                  </a:lnTo>
                  <a:lnTo>
                    <a:pt x="3996944" y="26670"/>
                  </a:lnTo>
                  <a:close/>
                </a:path>
                <a:path w="4023360" h="3947160">
                  <a:moveTo>
                    <a:pt x="4023360" y="0"/>
                  </a:moveTo>
                  <a:lnTo>
                    <a:pt x="4010152" y="0"/>
                  </a:lnTo>
                  <a:lnTo>
                    <a:pt x="4010152" y="13970"/>
                  </a:lnTo>
                  <a:lnTo>
                    <a:pt x="4010152" y="3934460"/>
                  </a:lnTo>
                  <a:lnTo>
                    <a:pt x="13208" y="3934460"/>
                  </a:lnTo>
                  <a:lnTo>
                    <a:pt x="13208" y="13970"/>
                  </a:lnTo>
                  <a:lnTo>
                    <a:pt x="4010152" y="13970"/>
                  </a:lnTo>
                  <a:lnTo>
                    <a:pt x="4010152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3934460"/>
                  </a:lnTo>
                  <a:lnTo>
                    <a:pt x="0" y="3947160"/>
                  </a:lnTo>
                  <a:lnTo>
                    <a:pt x="4023360" y="3947160"/>
                  </a:lnTo>
                  <a:lnTo>
                    <a:pt x="4023360" y="3934460"/>
                  </a:lnTo>
                  <a:lnTo>
                    <a:pt x="4023360" y="13970"/>
                  </a:lnTo>
                  <a:lnTo>
                    <a:pt x="4023360" y="13716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67636" y="2786058"/>
            <a:ext cx="385445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Many </a:t>
            </a:r>
            <a:r>
              <a:rPr sz="1800" spc="-10" dirty="0">
                <a:latin typeface="Times New Roman"/>
                <a:cs typeface="Times New Roman"/>
              </a:rPr>
              <a:t>user-level </a:t>
            </a:r>
            <a:r>
              <a:rPr sz="1800" dirty="0">
                <a:latin typeface="Times New Roman"/>
                <a:cs typeface="Times New Roman"/>
              </a:rPr>
              <a:t>threads </a:t>
            </a:r>
            <a:r>
              <a:rPr sz="1800" spc="-5" dirty="0">
                <a:latin typeface="Times New Roman"/>
                <a:cs typeface="Times New Roman"/>
              </a:rPr>
              <a:t>mapped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endParaRPr sz="1800">
              <a:latin typeface="Times New Roman"/>
              <a:cs typeface="Times New Roman"/>
            </a:endParaRPr>
          </a:p>
          <a:p>
            <a:pPr marL="338455" algn="ctr">
              <a:lnSpc>
                <a:spcPts val="2050"/>
              </a:lnSpc>
            </a:pPr>
            <a:r>
              <a:rPr sz="1800" spc="-5" dirty="0">
                <a:latin typeface="Times New Roman"/>
                <a:cs typeface="Times New Roman"/>
              </a:rPr>
              <a:t>kernel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thread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9960" y="6485940"/>
            <a:ext cx="20256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latin typeface="Carlito"/>
                <a:cs typeface="Carlito"/>
              </a:rPr>
              <a:t>13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19050"/>
            <a:ext cx="56984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>
                <a:latin typeface="Carlito"/>
                <a:cs typeface="Carlito"/>
              </a:rPr>
              <a:t>Many-to-One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75" y="1000108"/>
            <a:ext cx="12082525" cy="34079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Many user-level </a:t>
            </a:r>
            <a:r>
              <a:rPr sz="2000" spc="-5" dirty="0">
                <a:latin typeface="Carlito"/>
                <a:cs typeface="Carlito"/>
              </a:rPr>
              <a:t>threads mapped </a:t>
            </a:r>
            <a:r>
              <a:rPr sz="2000" spc="-10" dirty="0">
                <a:latin typeface="Carlito"/>
                <a:cs typeface="Carlito"/>
              </a:rPr>
              <a:t>to single </a:t>
            </a:r>
            <a:r>
              <a:rPr sz="2000" spc="-20" dirty="0">
                <a:latin typeface="Carlito"/>
                <a:cs typeface="Carlito"/>
              </a:rPr>
              <a:t>kernel</a:t>
            </a:r>
            <a:r>
              <a:rPr sz="2000" spc="2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thread</a:t>
            </a:r>
            <a:endParaRPr lang="en-US" sz="2000" spc="-10" dirty="0">
              <a:latin typeface="Carlito"/>
              <a:cs typeface="Carlito"/>
            </a:endParaRPr>
          </a:p>
          <a:p>
            <a:pPr marL="240665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Thread management is handled by the thread library in user space, which is very efficient.</a:t>
            </a:r>
          </a:p>
          <a:p>
            <a:pPr marL="240665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If any user thread makes a </a:t>
            </a:r>
            <a:r>
              <a:rPr lang="en-US" sz="2000" spc="-10" dirty="0">
                <a:solidFill>
                  <a:srgbClr val="FF0000"/>
                </a:solidFill>
                <a:latin typeface="Carlito"/>
                <a:cs typeface="Carlito"/>
              </a:rPr>
              <a:t>blocking system call</a:t>
            </a:r>
            <a:r>
              <a:rPr lang="en-US" sz="2000" spc="-10" dirty="0">
                <a:latin typeface="Carlito"/>
                <a:cs typeface="Carlito"/>
              </a:rPr>
              <a:t>, then entire process will be blocked. Due to this, other threads also cannot continue.</a:t>
            </a:r>
          </a:p>
          <a:p>
            <a:pPr marL="240665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Since, only one thread can access the kernel at a time, multiple threads are unable to run in parallel on multiprocessors</a:t>
            </a:r>
            <a:endParaRPr sz="2000" dirty="0">
              <a:latin typeface="Carlito"/>
              <a:cs typeface="Carlito"/>
            </a:endParaRPr>
          </a:p>
          <a:p>
            <a:pPr marL="240665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Example:</a:t>
            </a:r>
            <a:endParaRPr sz="2000" dirty="0">
              <a:latin typeface="Carlito"/>
              <a:cs typeface="Carlito"/>
            </a:endParaRPr>
          </a:p>
          <a:p>
            <a:pPr marL="698500" lvl="1" indent="-22987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rlito"/>
                <a:cs typeface="Carlito"/>
              </a:rPr>
              <a:t>Solaris</a:t>
            </a:r>
            <a:r>
              <a:rPr lang="en-GB" sz="2000" spc="-5" dirty="0">
                <a:latin typeface="Carlito"/>
                <a:cs typeface="Carlito"/>
              </a:rPr>
              <a:t> Green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Threads</a:t>
            </a:r>
            <a:endParaRPr sz="2000" dirty="0">
              <a:latin typeface="Carlito"/>
              <a:cs typeface="Carlito"/>
            </a:endParaRPr>
          </a:p>
          <a:p>
            <a:pPr marL="469265" marR="593725" lvl="1">
              <a:lnSpc>
                <a:spcPts val="2160"/>
              </a:lnSpc>
              <a:spcBef>
                <a:spcPts val="540"/>
              </a:spcBef>
              <a:tabLst>
                <a:tab pos="698500" algn="l"/>
                <a:tab pos="699135" algn="l"/>
              </a:tabLst>
            </a:pP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75669" y="6413398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Carlito"/>
                <a:cs typeface="Carlito"/>
              </a:rPr>
              <a:t>14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430733"/>
            <a:ext cx="6778956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" dirty="0">
                <a:latin typeface="Carlito"/>
                <a:cs typeface="Carlito"/>
              </a:rPr>
              <a:t>One-to-one</a:t>
            </a:r>
            <a:r>
              <a:rPr sz="4400" spc="-5" dirty="0">
                <a:latin typeface="Carlito"/>
                <a:cs typeface="Carlito"/>
              </a:rPr>
              <a:t> </a:t>
            </a:r>
            <a:r>
              <a:rPr sz="4400" spc="-10" dirty="0">
                <a:latin typeface="Carlito"/>
                <a:cs typeface="Carlito"/>
              </a:rPr>
              <a:t>Model</a:t>
            </a:r>
            <a:endParaRPr sz="4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7295" y="1490980"/>
            <a:ext cx="6657340" cy="2538730"/>
            <a:chOff x="1987295" y="1490980"/>
            <a:chExt cx="6657340" cy="2538730"/>
          </a:xfrm>
        </p:grpSpPr>
        <p:sp>
          <p:nvSpPr>
            <p:cNvPr id="5" name="object 5"/>
            <p:cNvSpPr/>
            <p:nvPr/>
          </p:nvSpPr>
          <p:spPr>
            <a:xfrm>
              <a:off x="2026919" y="1530096"/>
              <a:ext cx="6577583" cy="24597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7296" y="1490979"/>
              <a:ext cx="6657340" cy="2538730"/>
            </a:xfrm>
            <a:custGeom>
              <a:avLst/>
              <a:gdLst/>
              <a:ahLst/>
              <a:cxnLst/>
              <a:rect l="l" t="t" r="r" b="b"/>
              <a:pathLst>
                <a:path w="6657340" h="2538729">
                  <a:moveTo>
                    <a:pt x="6630416" y="25400"/>
                  </a:moveTo>
                  <a:lnTo>
                    <a:pt x="26416" y="25400"/>
                  </a:lnTo>
                  <a:lnTo>
                    <a:pt x="26416" y="39370"/>
                  </a:lnTo>
                  <a:lnTo>
                    <a:pt x="26416" y="2499360"/>
                  </a:lnTo>
                  <a:lnTo>
                    <a:pt x="26416" y="2512060"/>
                  </a:lnTo>
                  <a:lnTo>
                    <a:pt x="6630416" y="2512060"/>
                  </a:lnTo>
                  <a:lnTo>
                    <a:pt x="6630416" y="2499360"/>
                  </a:lnTo>
                  <a:lnTo>
                    <a:pt x="39624" y="2499360"/>
                  </a:lnTo>
                  <a:lnTo>
                    <a:pt x="39624" y="39370"/>
                  </a:lnTo>
                  <a:lnTo>
                    <a:pt x="6617208" y="39370"/>
                  </a:lnTo>
                  <a:lnTo>
                    <a:pt x="6617208" y="2498852"/>
                  </a:lnTo>
                  <a:lnTo>
                    <a:pt x="6630416" y="2498852"/>
                  </a:lnTo>
                  <a:lnTo>
                    <a:pt x="6630416" y="39370"/>
                  </a:lnTo>
                  <a:lnTo>
                    <a:pt x="6630416" y="39116"/>
                  </a:lnTo>
                  <a:lnTo>
                    <a:pt x="6630416" y="25400"/>
                  </a:lnTo>
                  <a:close/>
                </a:path>
                <a:path w="6657340" h="2538729">
                  <a:moveTo>
                    <a:pt x="6656832" y="0"/>
                  </a:moveTo>
                  <a:lnTo>
                    <a:pt x="6643624" y="0"/>
                  </a:lnTo>
                  <a:lnTo>
                    <a:pt x="6643624" y="12700"/>
                  </a:lnTo>
                  <a:lnTo>
                    <a:pt x="6643624" y="2524760"/>
                  </a:lnTo>
                  <a:lnTo>
                    <a:pt x="13208" y="2524760"/>
                  </a:lnTo>
                  <a:lnTo>
                    <a:pt x="13208" y="12700"/>
                  </a:lnTo>
                  <a:lnTo>
                    <a:pt x="6643624" y="12700"/>
                  </a:lnTo>
                  <a:lnTo>
                    <a:pt x="664362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524760"/>
                  </a:lnTo>
                  <a:lnTo>
                    <a:pt x="0" y="2538730"/>
                  </a:lnTo>
                  <a:lnTo>
                    <a:pt x="6656832" y="2538730"/>
                  </a:lnTo>
                  <a:lnTo>
                    <a:pt x="6656832" y="2525268"/>
                  </a:lnTo>
                  <a:lnTo>
                    <a:pt x="6656832" y="2524760"/>
                  </a:lnTo>
                  <a:lnTo>
                    <a:pt x="6656832" y="12700"/>
                  </a:lnTo>
                  <a:lnTo>
                    <a:pt x="6656832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80028" y="4462653"/>
            <a:ext cx="5809615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5" dirty="0">
                <a:latin typeface="Carlito"/>
                <a:cs typeface="Carlito"/>
              </a:rPr>
              <a:t>user-level </a:t>
            </a:r>
            <a:r>
              <a:rPr sz="2800" spc="-10" dirty="0">
                <a:latin typeface="Carlito"/>
                <a:cs typeface="Carlito"/>
              </a:rPr>
              <a:t>thread maps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dirty="0">
                <a:latin typeface="Carlito"/>
                <a:cs typeface="Carlito"/>
              </a:rPr>
              <a:t>a </a:t>
            </a:r>
            <a:r>
              <a:rPr sz="2800" spc="-5" dirty="0">
                <a:latin typeface="Carlito"/>
                <a:cs typeface="Carlito"/>
              </a:rPr>
              <a:t>unique  </a:t>
            </a:r>
            <a:r>
              <a:rPr sz="2800" spc="-20" dirty="0">
                <a:latin typeface="Carlito"/>
                <a:cs typeface="Carlito"/>
              </a:rPr>
              <a:t>kernel </a:t>
            </a:r>
            <a:r>
              <a:rPr sz="2800" spc="-10" dirty="0">
                <a:latin typeface="Carlito"/>
                <a:cs typeface="Carlito"/>
              </a:rPr>
              <a:t>thread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9960" y="6485940"/>
            <a:ext cx="20256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latin typeface="Carlito"/>
                <a:cs typeface="Carlito"/>
              </a:rPr>
              <a:t>15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960" y="18110"/>
            <a:ext cx="53936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" dirty="0">
                <a:latin typeface="Carlito"/>
                <a:cs typeface="Carlito"/>
              </a:rPr>
              <a:t>One-to-One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960" y="571480"/>
            <a:ext cx="11501518" cy="435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rlito"/>
                <a:cs typeface="Carlito"/>
              </a:rPr>
              <a:t>Each </a:t>
            </a:r>
            <a:r>
              <a:rPr sz="2000" spc="-15" dirty="0">
                <a:latin typeface="Carlito"/>
                <a:cs typeface="Carlito"/>
              </a:rPr>
              <a:t>user-level </a:t>
            </a:r>
            <a:r>
              <a:rPr sz="2000" spc="-10" dirty="0">
                <a:latin typeface="Carlito"/>
                <a:cs typeface="Carlito"/>
              </a:rPr>
              <a:t>thread </a:t>
            </a:r>
            <a:r>
              <a:rPr sz="2000" spc="-5" dirty="0">
                <a:latin typeface="Carlito"/>
                <a:cs typeface="Carlito"/>
              </a:rPr>
              <a:t>maps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a </a:t>
            </a:r>
            <a:r>
              <a:rPr sz="2000" dirty="0">
                <a:latin typeface="Carlito"/>
                <a:cs typeface="Carlito"/>
              </a:rPr>
              <a:t>unique </a:t>
            </a:r>
            <a:r>
              <a:rPr sz="2000" spc="-20" dirty="0">
                <a:latin typeface="Carlito"/>
                <a:cs typeface="Carlito"/>
              </a:rPr>
              <a:t>kernel</a:t>
            </a:r>
            <a:r>
              <a:rPr sz="2000" spc="19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thread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Examples</a:t>
            </a:r>
            <a:endParaRPr sz="20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rlito"/>
                <a:cs typeface="Carlito"/>
              </a:rPr>
              <a:t>Windows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30" dirty="0">
                <a:latin typeface="Carlito"/>
                <a:cs typeface="Carlito"/>
              </a:rPr>
              <a:t>NT/XP/2000</a:t>
            </a:r>
            <a:endParaRPr sz="20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rlito"/>
                <a:cs typeface="Carlito"/>
              </a:rPr>
              <a:t>Linux</a:t>
            </a:r>
            <a:endParaRPr sz="20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rlito"/>
                <a:cs typeface="Carlito"/>
              </a:rPr>
              <a:t>Solaris 9 and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later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It provides </a:t>
            </a:r>
            <a:r>
              <a:rPr lang="en-US" sz="2000" b="1" spc="-10" dirty="0">
                <a:latin typeface="Carlito"/>
                <a:cs typeface="Carlito"/>
              </a:rPr>
              <a:t>concurrency(parallelism)</a:t>
            </a:r>
            <a:r>
              <a:rPr lang="en-US" sz="2000" spc="-10" dirty="0">
                <a:latin typeface="Carlito"/>
                <a:cs typeface="Carlito"/>
              </a:rPr>
              <a:t> more than the many-to-one by allowing another thread to run when a thread makes a blocking system call</a:t>
            </a:r>
            <a:endParaRPr sz="2000" dirty="0">
              <a:latin typeface="Carlito"/>
              <a:cs typeface="Carlito"/>
            </a:endParaRPr>
          </a:p>
          <a:p>
            <a:pPr marL="2286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rlito"/>
                <a:cs typeface="Carlito"/>
              </a:rPr>
              <a:t>Allows </a:t>
            </a:r>
            <a:r>
              <a:rPr sz="2000" spc="-5" dirty="0">
                <a:latin typeface="Carlito"/>
                <a:cs typeface="Carlito"/>
              </a:rPr>
              <a:t>multiple </a:t>
            </a:r>
            <a:r>
              <a:rPr sz="2000" spc="-10" dirty="0">
                <a:latin typeface="Carlito"/>
                <a:cs typeface="Carlito"/>
              </a:rPr>
              <a:t>threads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run in </a:t>
            </a:r>
            <a:r>
              <a:rPr sz="2000" spc="-10" dirty="0">
                <a:latin typeface="Carlito"/>
                <a:cs typeface="Carlito"/>
              </a:rPr>
              <a:t>parallel </a:t>
            </a:r>
            <a:r>
              <a:rPr sz="2000" spc="-5" dirty="0">
                <a:latin typeface="Carlito"/>
                <a:cs typeface="Carlito"/>
              </a:rPr>
              <a:t>on</a:t>
            </a:r>
            <a:r>
              <a:rPr sz="2000" spc="14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multi-processors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rlito"/>
                <a:cs typeface="Carlito"/>
              </a:rPr>
              <a:t>Cons</a:t>
            </a:r>
            <a:endParaRPr sz="20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5" dirty="0">
                <a:latin typeface="Carlito"/>
                <a:cs typeface="Carlito"/>
              </a:rPr>
              <a:t>Creating </a:t>
            </a:r>
            <a:r>
              <a:rPr sz="2000" spc="-10" dirty="0">
                <a:latin typeface="Carlito"/>
                <a:cs typeface="Carlito"/>
              </a:rPr>
              <a:t>user thread </a:t>
            </a:r>
            <a:r>
              <a:rPr sz="2000" spc="-15" dirty="0">
                <a:latin typeface="Carlito"/>
                <a:cs typeface="Carlito"/>
              </a:rPr>
              <a:t>requires </a:t>
            </a:r>
            <a:r>
              <a:rPr sz="2000" spc="-10" dirty="0">
                <a:latin typeface="Carlito"/>
                <a:cs typeface="Carlito"/>
              </a:rPr>
              <a:t>creating </a:t>
            </a:r>
            <a:r>
              <a:rPr sz="2000" spc="-5" dirty="0">
                <a:latin typeface="Carlito"/>
                <a:cs typeface="Carlito"/>
              </a:rPr>
              <a:t>a unique </a:t>
            </a:r>
            <a:r>
              <a:rPr sz="2000" spc="-20" dirty="0">
                <a:latin typeface="Carlito"/>
                <a:cs typeface="Carlito"/>
              </a:rPr>
              <a:t>kernel</a:t>
            </a:r>
            <a:r>
              <a:rPr sz="2000" spc="24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thread</a:t>
            </a:r>
            <a:endParaRPr sz="20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5" dirty="0">
                <a:latin typeface="Carlito"/>
                <a:cs typeface="Carlito"/>
              </a:rPr>
              <a:t>Overhead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15" dirty="0">
                <a:latin typeface="Carlito"/>
                <a:cs typeface="Carlito"/>
              </a:rPr>
              <a:t>kernel-thread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creation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can </a:t>
            </a:r>
            <a:r>
              <a:rPr sz="2000" spc="-10" dirty="0">
                <a:latin typeface="Carlito"/>
                <a:cs typeface="Carlito"/>
              </a:rPr>
              <a:t>burden</a:t>
            </a:r>
            <a:r>
              <a:rPr sz="2000" spc="22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performance</a:t>
            </a:r>
            <a:r>
              <a:rPr lang="en-US" sz="2000" spc="-10" dirty="0">
                <a:latin typeface="Carlito"/>
                <a:cs typeface="Carlito"/>
              </a:rPr>
              <a:t> &amp; hence system becomes </a:t>
            </a:r>
            <a:r>
              <a:rPr lang="en-US" sz="2000" spc="-10" dirty="0">
                <a:solidFill>
                  <a:srgbClr val="FF0000"/>
                </a:solidFill>
                <a:latin typeface="Carlito"/>
                <a:cs typeface="Carlito"/>
              </a:rPr>
              <a:t>slower</a:t>
            </a:r>
            <a:endParaRPr sz="20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rlito"/>
                <a:cs typeface="Carlito"/>
              </a:rPr>
              <a:t>Number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10" dirty="0">
                <a:latin typeface="Carlito"/>
                <a:cs typeface="Carlito"/>
              </a:rPr>
              <a:t>user threads </a:t>
            </a:r>
            <a:r>
              <a:rPr lang="en-GB" sz="2000" spc="-10" dirty="0">
                <a:latin typeface="Carlito"/>
                <a:cs typeface="Carlito"/>
              </a:rPr>
              <a:t>and </a:t>
            </a:r>
            <a:r>
              <a:rPr sz="2000" spc="-10" dirty="0">
                <a:latin typeface="Carlito"/>
                <a:cs typeface="Carlito"/>
              </a:rPr>
              <a:t>number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20" dirty="0">
                <a:latin typeface="Carlito"/>
                <a:cs typeface="Carlito"/>
              </a:rPr>
              <a:t>kernel</a:t>
            </a:r>
            <a:r>
              <a:rPr sz="2000" spc="10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threads</a:t>
            </a:r>
            <a:r>
              <a:rPr lang="en-GB" sz="2000" spc="-10" dirty="0">
                <a:latin typeface="Carlito"/>
                <a:cs typeface="Carlito"/>
              </a:rPr>
              <a:t> must be </a:t>
            </a:r>
            <a:r>
              <a:rPr lang="en-IN" sz="2000" spc="-5" dirty="0">
                <a:solidFill>
                  <a:srgbClr val="FF0000"/>
                </a:solidFill>
                <a:latin typeface="Carlito"/>
                <a:cs typeface="Carlito"/>
              </a:rPr>
              <a:t>bounded</a:t>
            </a:r>
            <a:r>
              <a:rPr lang="en-IN" sz="2000" spc="-5" dirty="0">
                <a:latin typeface="Carlito"/>
                <a:cs typeface="Carlito"/>
              </a:rPr>
              <a:t>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7381" y="6419494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320497"/>
            <a:ext cx="9598356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30" dirty="0"/>
              <a:t>Many-to-Many</a:t>
            </a:r>
            <a:r>
              <a:rPr sz="4400" spc="45" dirty="0"/>
              <a:t> </a:t>
            </a:r>
            <a:r>
              <a:rPr sz="4400" spc="-10" dirty="0"/>
              <a:t>Model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380960" y="1234438"/>
            <a:ext cx="7500990" cy="5337833"/>
            <a:chOff x="1578863" y="1234439"/>
            <a:chExt cx="4337685" cy="3712210"/>
          </a:xfrm>
        </p:grpSpPr>
        <p:sp>
          <p:nvSpPr>
            <p:cNvPr id="5" name="object 5"/>
            <p:cNvSpPr/>
            <p:nvPr/>
          </p:nvSpPr>
          <p:spPr>
            <a:xfrm>
              <a:off x="1618487" y="1274063"/>
              <a:ext cx="4258056" cy="36332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8864" y="1234439"/>
              <a:ext cx="4337685" cy="3712210"/>
            </a:xfrm>
            <a:custGeom>
              <a:avLst/>
              <a:gdLst/>
              <a:ahLst/>
              <a:cxnLst/>
              <a:rect l="l" t="t" r="r" b="b"/>
              <a:pathLst>
                <a:path w="4337685" h="3712210">
                  <a:moveTo>
                    <a:pt x="4310888" y="26670"/>
                  </a:moveTo>
                  <a:lnTo>
                    <a:pt x="26416" y="26670"/>
                  </a:lnTo>
                  <a:lnTo>
                    <a:pt x="26416" y="39370"/>
                  </a:lnTo>
                  <a:lnTo>
                    <a:pt x="26416" y="3672840"/>
                  </a:lnTo>
                  <a:lnTo>
                    <a:pt x="26416" y="3685540"/>
                  </a:lnTo>
                  <a:lnTo>
                    <a:pt x="4310888" y="3685540"/>
                  </a:lnTo>
                  <a:lnTo>
                    <a:pt x="4310888" y="3672840"/>
                  </a:lnTo>
                  <a:lnTo>
                    <a:pt x="4310888" y="39624"/>
                  </a:lnTo>
                  <a:lnTo>
                    <a:pt x="4297680" y="39624"/>
                  </a:lnTo>
                  <a:lnTo>
                    <a:pt x="4297680" y="3672840"/>
                  </a:lnTo>
                  <a:lnTo>
                    <a:pt x="39624" y="3672840"/>
                  </a:lnTo>
                  <a:lnTo>
                    <a:pt x="39624" y="39370"/>
                  </a:lnTo>
                  <a:lnTo>
                    <a:pt x="4310888" y="39370"/>
                  </a:lnTo>
                  <a:lnTo>
                    <a:pt x="4310888" y="26670"/>
                  </a:lnTo>
                  <a:close/>
                </a:path>
                <a:path w="4337685" h="3712210">
                  <a:moveTo>
                    <a:pt x="4337304" y="13208"/>
                  </a:moveTo>
                  <a:lnTo>
                    <a:pt x="4324096" y="13208"/>
                  </a:lnTo>
                  <a:lnTo>
                    <a:pt x="4324096" y="3699256"/>
                  </a:lnTo>
                  <a:lnTo>
                    <a:pt x="4337304" y="3699256"/>
                  </a:lnTo>
                  <a:lnTo>
                    <a:pt x="4337304" y="13208"/>
                  </a:lnTo>
                  <a:close/>
                </a:path>
                <a:path w="4337685" h="3712210">
                  <a:moveTo>
                    <a:pt x="4337304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699510"/>
                  </a:lnTo>
                  <a:lnTo>
                    <a:pt x="0" y="3712210"/>
                  </a:lnTo>
                  <a:lnTo>
                    <a:pt x="4337304" y="3712210"/>
                  </a:lnTo>
                  <a:lnTo>
                    <a:pt x="4337304" y="3699510"/>
                  </a:lnTo>
                  <a:lnTo>
                    <a:pt x="13208" y="3699510"/>
                  </a:lnTo>
                  <a:lnTo>
                    <a:pt x="13208" y="12700"/>
                  </a:lnTo>
                  <a:lnTo>
                    <a:pt x="4337304" y="12700"/>
                  </a:lnTo>
                  <a:lnTo>
                    <a:pt x="433730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39140" y="2786058"/>
            <a:ext cx="32473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265" marR="5080" indent="-7105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Many </a:t>
            </a:r>
            <a:r>
              <a:rPr sz="1800" spc="-10" dirty="0">
                <a:latin typeface="Times New Roman"/>
                <a:cs typeface="Times New Roman"/>
              </a:rPr>
              <a:t>user-level </a:t>
            </a:r>
            <a:r>
              <a:rPr sz="1800" spc="-5" dirty="0">
                <a:latin typeface="Times New Roman"/>
                <a:cs typeface="Times New Roman"/>
              </a:rPr>
              <a:t>threads </a:t>
            </a:r>
            <a:r>
              <a:rPr sz="1800" spc="-10" dirty="0">
                <a:latin typeface="Times New Roman"/>
                <a:cs typeface="Times New Roman"/>
              </a:rPr>
              <a:t>mapped </a:t>
            </a:r>
            <a:r>
              <a:rPr sz="1800" dirty="0">
                <a:latin typeface="Times New Roman"/>
                <a:cs typeface="Times New Roman"/>
              </a:rPr>
              <a:t>to  </a:t>
            </a:r>
            <a:r>
              <a:rPr sz="1800" spc="-5" dirty="0">
                <a:latin typeface="Times New Roman"/>
                <a:cs typeface="Times New Roman"/>
              </a:rPr>
              <a:t>single kernel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thread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0"/>
            <a:ext cx="9494724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25" dirty="0">
                <a:latin typeface="Carlito"/>
                <a:cs typeface="Carlito"/>
              </a:rPr>
              <a:t>Many-to-Many</a:t>
            </a:r>
            <a:r>
              <a:rPr sz="4400" spc="10" dirty="0">
                <a:latin typeface="Carlito"/>
                <a:cs typeface="Carlito"/>
              </a:rPr>
              <a:t> </a:t>
            </a:r>
            <a:r>
              <a:rPr sz="4400" spc="-5" dirty="0">
                <a:latin typeface="Carlito"/>
                <a:cs typeface="Carlito"/>
              </a:rPr>
              <a:t>Model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51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522" y="695325"/>
            <a:ext cx="11358642" cy="33810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Many </a:t>
            </a:r>
            <a:r>
              <a:rPr sz="2000" spc="-10" dirty="0">
                <a:latin typeface="Carlito"/>
                <a:cs typeface="Carlito"/>
              </a:rPr>
              <a:t>user </a:t>
            </a:r>
            <a:r>
              <a:rPr sz="2000" spc="-15" dirty="0">
                <a:latin typeface="Carlito"/>
                <a:cs typeface="Carlito"/>
              </a:rPr>
              <a:t>level </a:t>
            </a:r>
            <a:r>
              <a:rPr sz="2000" spc="-10" dirty="0">
                <a:latin typeface="Carlito"/>
                <a:cs typeface="Carlito"/>
              </a:rPr>
              <a:t>threads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spc="-10" dirty="0">
                <a:latin typeface="Carlito"/>
                <a:cs typeface="Carlito"/>
              </a:rPr>
              <a:t>mapped </a:t>
            </a:r>
            <a:r>
              <a:rPr sz="2000" spc="-15" dirty="0">
                <a:latin typeface="Carlito"/>
                <a:cs typeface="Carlito"/>
              </a:rPr>
              <a:t>to</a:t>
            </a:r>
            <a:r>
              <a:rPr lang="en-US" sz="2000" spc="-15" dirty="0">
                <a:latin typeface="Carlito"/>
                <a:cs typeface="Carlito"/>
              </a:rPr>
              <a:t> an equal or smaller number of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kernel</a:t>
            </a:r>
            <a:r>
              <a:rPr sz="2000" spc="31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threads</a:t>
            </a:r>
            <a:endParaRPr lang="en-US" sz="2000" spc="-1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Combines the best features of one-to-one and many-to-one models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Allows </a:t>
            </a:r>
            <a:r>
              <a:rPr sz="2000" spc="-10" dirty="0">
                <a:latin typeface="Carlito"/>
                <a:cs typeface="Carlito"/>
              </a:rPr>
              <a:t>OS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create </a:t>
            </a:r>
            <a:r>
              <a:rPr sz="2000" spc="-5" dirty="0">
                <a:latin typeface="Carlito"/>
                <a:cs typeface="Carlito"/>
              </a:rPr>
              <a:t>a </a:t>
            </a:r>
            <a:r>
              <a:rPr sz="2000" spc="-15" dirty="0">
                <a:latin typeface="Carlito"/>
                <a:cs typeface="Carlito"/>
              </a:rPr>
              <a:t>sufficient </a:t>
            </a:r>
            <a:r>
              <a:rPr sz="2000" spc="-5" dirty="0">
                <a:latin typeface="Carlito"/>
                <a:cs typeface="Carlito"/>
              </a:rPr>
              <a:t>number of </a:t>
            </a:r>
            <a:r>
              <a:rPr sz="2000" spc="-20" dirty="0">
                <a:latin typeface="Carlito"/>
                <a:cs typeface="Carlito"/>
              </a:rPr>
              <a:t>kernel</a:t>
            </a:r>
            <a:r>
              <a:rPr sz="2000" spc="3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threads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rlito"/>
                <a:cs typeface="Carlito"/>
              </a:rPr>
              <a:t>Solaris prior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version</a:t>
            </a:r>
            <a:r>
              <a:rPr sz="2000" spc="1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9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rlito"/>
                <a:cs typeface="Carlito"/>
              </a:rPr>
              <a:t>Windows </a:t>
            </a:r>
            <a:r>
              <a:rPr sz="2000" spc="-20" dirty="0">
                <a:latin typeface="Carlito"/>
                <a:cs typeface="Carlito"/>
              </a:rPr>
              <a:t>NT/2000 </a:t>
            </a:r>
            <a:r>
              <a:rPr sz="2000" spc="-5" dirty="0">
                <a:latin typeface="Carlito"/>
                <a:cs typeface="Carlito"/>
              </a:rPr>
              <a:t>with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i="1" spc="-5" dirty="0">
                <a:latin typeface="Carlito"/>
                <a:cs typeface="Carlito"/>
              </a:rPr>
              <a:t>ThreadFiber</a:t>
            </a:r>
            <a:r>
              <a:rPr sz="2000" i="1" spc="5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package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Advantages</a:t>
            </a:r>
            <a:r>
              <a:rPr sz="2000" spc="-10" dirty="0"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5" dirty="0">
                <a:latin typeface="Carlito"/>
                <a:cs typeface="Carlito"/>
              </a:rPr>
              <a:t>Developers can </a:t>
            </a:r>
            <a:r>
              <a:rPr sz="2000" spc="-20" dirty="0">
                <a:latin typeface="Carlito"/>
                <a:cs typeface="Carlito"/>
              </a:rPr>
              <a:t>create </a:t>
            </a:r>
            <a:r>
              <a:rPr sz="2000" spc="-5" dirty="0">
                <a:latin typeface="Carlito"/>
                <a:cs typeface="Carlito"/>
              </a:rPr>
              <a:t>as </a:t>
            </a:r>
            <a:r>
              <a:rPr sz="2000" spc="-15" dirty="0">
                <a:latin typeface="Carlito"/>
                <a:cs typeface="Carlito"/>
              </a:rPr>
              <a:t>many </a:t>
            </a:r>
            <a:r>
              <a:rPr sz="2000" spc="-10" dirty="0">
                <a:latin typeface="Carlito"/>
                <a:cs typeface="Carlito"/>
              </a:rPr>
              <a:t>user </a:t>
            </a:r>
            <a:r>
              <a:rPr sz="2000" spc="-5" dirty="0">
                <a:latin typeface="Carlito"/>
                <a:cs typeface="Carlito"/>
              </a:rPr>
              <a:t>threads as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necessary</a:t>
            </a:r>
            <a:r>
              <a:rPr lang="en-US" sz="2000" spc="-10" dirty="0">
                <a:latin typeface="Carlito"/>
                <a:cs typeface="Carlito"/>
              </a:rPr>
              <a:t>(no restriction)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rlito"/>
                <a:cs typeface="Carlito"/>
              </a:rPr>
              <a:t>Corresponding </a:t>
            </a:r>
            <a:r>
              <a:rPr sz="2000" spc="-20" dirty="0">
                <a:latin typeface="Carlito"/>
                <a:cs typeface="Carlito"/>
              </a:rPr>
              <a:t>kernel </a:t>
            </a:r>
            <a:r>
              <a:rPr sz="2000" spc="-10" dirty="0">
                <a:latin typeface="Carlito"/>
                <a:cs typeface="Carlito"/>
              </a:rPr>
              <a:t>threads </a:t>
            </a:r>
            <a:r>
              <a:rPr sz="2000" spc="-15" dirty="0">
                <a:latin typeface="Carlito"/>
                <a:cs typeface="Carlito"/>
              </a:rPr>
              <a:t>can </a:t>
            </a:r>
            <a:r>
              <a:rPr sz="2000" spc="-20" dirty="0">
                <a:latin typeface="Carlito"/>
                <a:cs typeface="Carlito"/>
              </a:rPr>
              <a:t>execute </a:t>
            </a:r>
            <a:r>
              <a:rPr sz="2000" spc="-5" dirty="0">
                <a:latin typeface="Carlito"/>
                <a:cs typeface="Carlito"/>
              </a:rPr>
              <a:t>in</a:t>
            </a:r>
            <a:r>
              <a:rPr sz="2000" spc="20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parallel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 spc="-10" dirty="0">
                <a:latin typeface="Carlito"/>
                <a:cs typeface="Carlito"/>
              </a:rPr>
              <a:t>Blocking kernel system calls do not block the entire process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xmlns="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6906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6. 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xmlns="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74" y="1214422"/>
            <a:ext cx="10787137" cy="3385542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</a:t>
            </a:r>
            <a:r>
              <a:rPr lang="en-US" altLang="en-US" b="1" dirty="0"/>
              <a:t>API</a:t>
            </a:r>
            <a:r>
              <a:rPr lang="en-US" altLang="en-US" dirty="0"/>
              <a:t> for creating and managing </a:t>
            </a:r>
            <a:r>
              <a:rPr lang="en-US" altLang="en-US" dirty="0" smtClean="0"/>
              <a:t>threads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1"/>
                </a:solidFill>
              </a:rPr>
              <a:t>Two primary ways of </a:t>
            </a:r>
            <a:r>
              <a:rPr lang="en-US" altLang="en-US" dirty="0" smtClean="0">
                <a:solidFill>
                  <a:schemeClr val="tx1"/>
                </a:solidFill>
              </a:rPr>
              <a:t>implementing</a:t>
            </a:r>
          </a:p>
          <a:p>
            <a:endParaRPr lang="en-US" altLang="en-US" sz="4000" dirty="0">
              <a:solidFill>
                <a:schemeClr val="tx1"/>
              </a:solidFill>
            </a:endParaRPr>
          </a:p>
          <a:p>
            <a:pPr lvl="1"/>
            <a:r>
              <a:rPr lang="en-US" altLang="en-US" sz="4000" dirty="0">
                <a:solidFill>
                  <a:schemeClr val="tx1"/>
                </a:solidFill>
              </a:rPr>
              <a:t>Library entirely in user </a:t>
            </a:r>
            <a:r>
              <a:rPr lang="en-US" altLang="en-US" sz="4000" dirty="0" smtClean="0">
                <a:solidFill>
                  <a:schemeClr val="tx1"/>
                </a:solidFill>
              </a:rPr>
              <a:t>space</a:t>
            </a:r>
          </a:p>
          <a:p>
            <a:pPr lvl="1"/>
            <a:endParaRPr lang="en-US" altLang="en-US" sz="4000" dirty="0">
              <a:solidFill>
                <a:schemeClr val="tx1"/>
              </a:solidFill>
            </a:endParaRPr>
          </a:p>
          <a:p>
            <a:pPr lvl="1"/>
            <a:r>
              <a:rPr lang="en-US" altLang="en-US" sz="4000" dirty="0">
                <a:solidFill>
                  <a:schemeClr val="tx1"/>
                </a:solidFill>
              </a:rPr>
              <a:t>Kernel-level library supported by the 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xmlns="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0275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xmlns="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12" y="1252539"/>
            <a:ext cx="11215766" cy="2154436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altLang="en-US" dirty="0"/>
              <a:t>May be provided either as user-level or kernel-level</a:t>
            </a:r>
          </a:p>
          <a:p>
            <a:pPr algn="just"/>
            <a:r>
              <a:rPr lang="en-US" altLang="en-US" dirty="0"/>
              <a:t>A POSIX standard (IEEE 1003.1c) API for thread creation and </a:t>
            </a:r>
            <a:r>
              <a:rPr lang="en-US" altLang="en-US" dirty="0" smtClean="0"/>
              <a:t>synchronization </a:t>
            </a:r>
            <a:r>
              <a:rPr lang="en-US" altLang="en-US" b="1" i="1" dirty="0" smtClean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 smtClean="0"/>
              <a:t>implementation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API specifies behavior of the thread library, implementation is up to development of the library</a:t>
            </a:r>
          </a:p>
          <a:p>
            <a:pPr algn="just"/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6453190" y="642918"/>
            <a:ext cx="5158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POSIX stands for Portable Operating System Interface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xmlns="" id="{0043C8C3-F0F7-45F5-8A7A-9650671B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0275"/>
            <a:ext cx="8229600" cy="553998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xmlns="" id="{9A3D775D-6FA1-4646-A7D2-CE6E80B5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9588" y="949324"/>
            <a:ext cx="10572824" cy="562294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xmlns="" id="{9245F2F6-2CCF-4D21-8E1F-CB638D27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4522"/>
            <a:ext cx="8229600" cy="553998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xmlns="" id="{78685247-D5BA-441C-A8DF-77393E66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95340" y="857232"/>
            <a:ext cx="10215634" cy="557216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xmlns="" id="{3030B908-CBBC-46B7-AB64-06E0AE9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939" y="222868"/>
            <a:ext cx="7793037" cy="553998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>
            <a:extLst>
              <a:ext uri="{FF2B5EF4-FFF2-40B4-BE49-F238E27FC236}">
                <a16:creationId xmlns:a16="http://schemas.microsoft.com/office/drawing/2014/main" xmlns="" id="{67BD81D9-A50E-47F3-9F79-4E6B618DD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2464" y="928670"/>
            <a:ext cx="9858444" cy="521497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xmlns="" id="{7CECD3BA-62CC-49CF-A3B0-2E894A8A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176" y="226237"/>
            <a:ext cx="8615524" cy="553998"/>
          </a:xfrm>
        </p:spPr>
        <p:txBody>
          <a:bodyPr/>
          <a:lstStyle/>
          <a:p>
            <a:r>
              <a:rPr lang="en-US" altLang="en-US" dirty="0"/>
              <a:t>Windows  Multithreaded C Program</a:t>
            </a:r>
          </a:p>
        </p:txBody>
      </p:sp>
      <p:pic>
        <p:nvPicPr>
          <p:cNvPr id="49154" name="Picture 1">
            <a:extLst>
              <a:ext uri="{FF2B5EF4-FFF2-40B4-BE49-F238E27FC236}">
                <a16:creationId xmlns:a16="http://schemas.microsoft.com/office/drawing/2014/main" xmlns="" id="{059F8F90-7DAA-4C82-9441-2A6B6B64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9588" y="1071546"/>
            <a:ext cx="10287072" cy="528641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xmlns="" id="{1E8315E7-366C-43D5-A792-8CEC9E0C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360" y="222869"/>
            <a:ext cx="8026141" cy="461665"/>
          </a:xfrm>
        </p:spPr>
        <p:txBody>
          <a:bodyPr/>
          <a:lstStyle/>
          <a:p>
            <a:r>
              <a:rPr lang="en-US" altLang="en-US" sz="3000" dirty="0"/>
              <a:t>Windows  Multithreaded C Program (Cont.)</a:t>
            </a:r>
          </a:p>
        </p:txBody>
      </p:sp>
      <p:pic>
        <p:nvPicPr>
          <p:cNvPr id="50178" name="Picture 3">
            <a:extLst>
              <a:ext uri="{FF2B5EF4-FFF2-40B4-BE49-F238E27FC236}">
                <a16:creationId xmlns:a16="http://schemas.microsoft.com/office/drawing/2014/main" xmlns="" id="{52F3D5AE-9E92-48CC-B027-69AF98715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712" y="785794"/>
            <a:ext cx="10501386" cy="57658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xmlns="" id="{C1AEEAB0-CD68-4885-8DE2-6E1B4D46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6237"/>
            <a:ext cx="8229600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Java Threads</a:t>
            </a:r>
          </a:p>
        </p:txBody>
      </p:sp>
      <p:sp>
        <p:nvSpPr>
          <p:cNvPr id="51202" name="Rectangle 5">
            <a:extLst>
              <a:ext uri="{FF2B5EF4-FFF2-40B4-BE49-F238E27FC236}">
                <a16:creationId xmlns:a16="http://schemas.microsoft.com/office/drawing/2014/main" xmlns="" id="{570CFFC5-7BD7-485F-B933-EB13E069C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12" y="1000109"/>
            <a:ext cx="10501386" cy="383181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lvl="1"/>
            <a:endParaRPr lang="en-US" altLang="en-US" sz="900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Standard </a:t>
            </a:r>
            <a:r>
              <a:rPr lang="en-US" altLang="en-US" dirty="0"/>
              <a:t>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>
            <a:extLst>
              <a:ext uri="{FF2B5EF4-FFF2-40B4-BE49-F238E27FC236}">
                <a16:creationId xmlns:a16="http://schemas.microsoft.com/office/drawing/2014/main" xmlns="" id="{0C728E61-EF06-4D16-9CCE-0AA7C762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3968" y="2571744"/>
            <a:ext cx="5286412" cy="17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xmlns="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4522"/>
            <a:ext cx="8229600" cy="553998"/>
          </a:xfrm>
        </p:spPr>
        <p:txBody>
          <a:bodyPr/>
          <a:lstStyle/>
          <a:p>
            <a:r>
              <a:rPr lang="en-US" altLang="en-US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xmlns="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414" y="1062039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xmlns="" id="{3A6E59B6-1369-4D02-9B41-9466C54EE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17875" y="1492250"/>
            <a:ext cx="4826000" cy="15748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xmlns="" id="{5D600B74-6680-4450-BB6F-CBCFF22A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Creating a thread: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xmlns="" id="{3157C5FE-DF44-43EE-B465-730C09A7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73413" y="3494088"/>
            <a:ext cx="4800600" cy="736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>
            <a:extLst>
              <a:ext uri="{FF2B5EF4-FFF2-40B4-BE49-F238E27FC236}">
                <a16:creationId xmlns:a16="http://schemas.microsoft.com/office/drawing/2014/main" xmlns="" id="{B7EDA4AE-092F-4D4E-9689-344AD518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xmlns="" id="{6EBBEE03-6B80-4FB8-8BA5-A69C6B30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17875" y="4657725"/>
            <a:ext cx="4114800" cy="12700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xmlns="" id="{13BB46A0-1D14-4FC6-A460-C90F6E2D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747" y="31191"/>
            <a:ext cx="5993013" cy="1107996"/>
          </a:xfrm>
        </p:spPr>
        <p:txBody>
          <a:bodyPr/>
          <a:lstStyle/>
          <a:p>
            <a:r>
              <a:rPr lang="en-US" altLang="en-US" dirty="0"/>
              <a:t>Java Executor Framework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xmlns="" id="{0D32A769-ACA8-4BB5-9FC7-1A36C936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1290" y="2428868"/>
            <a:ext cx="6660515" cy="3385542"/>
          </a:xfrm>
        </p:spPr>
        <p:txBody>
          <a:bodyPr/>
          <a:lstStyle/>
          <a:p>
            <a:r>
              <a:rPr lang="en-US" altLang="en-US" dirty="0"/>
              <a:t>Rather than explicitly creating threads, Java also allows thread creation around the Executor interface: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The Executor is used as follows: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xmlns="" id="{925F2420-3B38-4BBF-95DB-0D1FB6F5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8480" y="857232"/>
            <a:ext cx="4267200" cy="11684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>
            <a:extLst>
              <a:ext uri="{FF2B5EF4-FFF2-40B4-BE49-F238E27FC236}">
                <a16:creationId xmlns:a16="http://schemas.microsoft.com/office/drawing/2014/main" xmlns="" id="{83D93813-F376-44DC-802B-F865A1A1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09984" y="3429000"/>
            <a:ext cx="3695700" cy="7493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xmlns="" id="{59A55039-19E6-4761-9A88-54FE62723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747" y="31191"/>
            <a:ext cx="6350203" cy="1107996"/>
          </a:xfrm>
        </p:spPr>
        <p:txBody>
          <a:bodyPr/>
          <a:lstStyle/>
          <a:p>
            <a:r>
              <a:rPr lang="en-US" altLang="en-US" dirty="0"/>
              <a:t>Java Executor Framework</a:t>
            </a:r>
          </a:p>
        </p:txBody>
      </p:sp>
      <p:pic>
        <p:nvPicPr>
          <p:cNvPr id="55298" name="Picture 4">
            <a:extLst>
              <a:ext uri="{FF2B5EF4-FFF2-40B4-BE49-F238E27FC236}">
                <a16:creationId xmlns:a16="http://schemas.microsoft.com/office/drawing/2014/main" xmlns="" id="{FA43B0FA-FE5E-400F-8A43-708B3CC2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712" y="714356"/>
            <a:ext cx="10287072" cy="58579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xmlns="" id="{D3D9F2F0-9A6E-4213-BD42-4A873B70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747" y="31191"/>
            <a:ext cx="7278897" cy="1107996"/>
          </a:xfrm>
        </p:spPr>
        <p:txBody>
          <a:bodyPr/>
          <a:lstStyle/>
          <a:p>
            <a:r>
              <a:rPr lang="en-US" altLang="en-US" dirty="0"/>
              <a:t>Java Executor Framework (Cont.)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xmlns="" id="{60CA2FFB-E1A5-46F6-B0CB-5515AE97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3836" y="571480"/>
            <a:ext cx="10501386" cy="592935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9050"/>
            <a:ext cx="106680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spc="-15" dirty="0"/>
              <a:t>8. </a:t>
            </a:r>
            <a:r>
              <a:rPr sz="4400" spc="-15" dirty="0"/>
              <a:t>Threading</a:t>
            </a:r>
            <a:r>
              <a:rPr sz="4400" spc="-5" dirty="0"/>
              <a:t> </a:t>
            </a:r>
            <a:r>
              <a:rPr sz="4400" spc="-10" dirty="0"/>
              <a:t>Issues</a:t>
            </a:r>
            <a:r>
              <a:rPr lang="en-US" sz="4400" spc="-10" dirty="0"/>
              <a:t>- 1) fork() &amp; exec()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64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19137"/>
            <a:ext cx="12192000" cy="448969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770"/>
              </a:spcBef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Issues to be considered while using multithreaded programs</a:t>
            </a:r>
          </a:p>
          <a:p>
            <a:pPr marL="12065">
              <a:lnSpc>
                <a:spcPct val="100000"/>
              </a:lnSpc>
              <a:spcBef>
                <a:spcPts val="770"/>
              </a:spcBef>
              <a:tabLst>
                <a:tab pos="241935" algn="l"/>
              </a:tabLst>
            </a:pPr>
            <a:r>
              <a:rPr lang="en-US" sz="2800" b="1" spc="-5" dirty="0">
                <a:latin typeface="Caladea"/>
                <a:cs typeface="Caladea"/>
              </a:rPr>
              <a:t>1) </a:t>
            </a:r>
            <a:r>
              <a:rPr sz="2800" b="1" spc="-5" dirty="0">
                <a:latin typeface="Caladea"/>
                <a:cs typeface="Caladea"/>
              </a:rPr>
              <a:t>fork() </a:t>
            </a:r>
            <a:r>
              <a:rPr sz="2800" spc="-5" dirty="0">
                <a:latin typeface="Caladea"/>
                <a:cs typeface="Caladea"/>
              </a:rPr>
              <a:t>and </a:t>
            </a:r>
            <a:r>
              <a:rPr sz="2800" b="1" spc="-20" dirty="0">
                <a:latin typeface="Caladea"/>
                <a:cs typeface="Caladea"/>
              </a:rPr>
              <a:t>exec() </a:t>
            </a:r>
            <a:r>
              <a:rPr sz="2800" spc="-10" dirty="0">
                <a:latin typeface="Caladea"/>
                <a:cs typeface="Caladea"/>
              </a:rPr>
              <a:t>system</a:t>
            </a:r>
            <a:r>
              <a:rPr sz="2800" spc="-180" dirty="0">
                <a:latin typeface="Caladea"/>
                <a:cs typeface="Caladea"/>
              </a:rPr>
              <a:t> </a:t>
            </a:r>
            <a:r>
              <a:rPr sz="2800" dirty="0">
                <a:latin typeface="Caladea"/>
                <a:cs typeface="Caladea"/>
              </a:rPr>
              <a:t>calls</a:t>
            </a:r>
            <a:endParaRPr lang="en-US" sz="2800" dirty="0">
              <a:latin typeface="Caladea"/>
              <a:cs typeface="Caladea"/>
            </a:endParaRP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Fork() is used to create a separate, duplicate process</a:t>
            </a: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Now the question is, if one thread in a program calls fork(), whether the </a:t>
            </a:r>
            <a:r>
              <a:rPr lang="en-US" sz="2800" dirty="0">
                <a:solidFill>
                  <a:srgbClr val="FF0000"/>
                </a:solidFill>
                <a:latin typeface="Caladea"/>
                <a:cs typeface="Caladea"/>
              </a:rPr>
              <a:t>entire process is copied </a:t>
            </a:r>
            <a:r>
              <a:rPr lang="en-US" sz="2800" dirty="0">
                <a:latin typeface="Caladea"/>
                <a:cs typeface="Caladea"/>
              </a:rPr>
              <a:t>or new process is created only for that </a:t>
            </a:r>
            <a:r>
              <a:rPr lang="en-US" sz="2800" dirty="0">
                <a:solidFill>
                  <a:srgbClr val="FF0000"/>
                </a:solidFill>
                <a:latin typeface="Caladea"/>
                <a:cs typeface="Caladea"/>
              </a:rPr>
              <a:t>single thread</a:t>
            </a:r>
            <a:r>
              <a:rPr lang="en-US" sz="2800" dirty="0">
                <a:latin typeface="Caladea"/>
                <a:cs typeface="Caladea"/>
              </a:rPr>
              <a:t>?</a:t>
            </a: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Actually it is system dependent.</a:t>
            </a: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In some systems(Unix), it duplicates all threads(creates entirely new process) &amp; as well as duplicates only the thread that invokes fork()</a:t>
            </a:r>
            <a:endParaRPr sz="2800" dirty="0">
              <a:latin typeface="Caladea"/>
              <a:cs typeface="Calad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19050"/>
            <a:ext cx="6441187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" dirty="0"/>
              <a:t>Threading</a:t>
            </a:r>
            <a:r>
              <a:rPr sz="4400" spc="-5" dirty="0"/>
              <a:t> </a:t>
            </a:r>
            <a:r>
              <a:rPr sz="4400" spc="-10" dirty="0"/>
              <a:t>Issues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65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19137"/>
            <a:ext cx="12192000" cy="438709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20" dirty="0">
                <a:latin typeface="Caladea"/>
                <a:cs typeface="Caladea"/>
              </a:rPr>
              <a:t>exec() </a:t>
            </a:r>
            <a:r>
              <a:rPr sz="2800" spc="-10" dirty="0">
                <a:latin typeface="Caladea"/>
                <a:cs typeface="Caladea"/>
              </a:rPr>
              <a:t>system</a:t>
            </a:r>
            <a:r>
              <a:rPr sz="2800" spc="-180" dirty="0">
                <a:latin typeface="Caladea"/>
                <a:cs typeface="Caladea"/>
              </a:rPr>
              <a:t> </a:t>
            </a:r>
            <a:r>
              <a:rPr sz="2800" dirty="0">
                <a:latin typeface="Caladea"/>
                <a:cs typeface="Caladea"/>
              </a:rPr>
              <a:t>calls</a:t>
            </a:r>
            <a:endParaRPr lang="en-US" sz="2800" dirty="0">
              <a:latin typeface="Caladea"/>
              <a:cs typeface="Caladea"/>
            </a:endParaRP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solidFill>
                  <a:srgbClr val="FF0000"/>
                </a:solidFill>
                <a:latin typeface="Caladea"/>
                <a:cs typeface="Caladea"/>
              </a:rPr>
              <a:t>exec() is used to run an executable file in the context of an already existing process, replacing the previous executable</a:t>
            </a: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solidFill>
                  <a:srgbClr val="FF0000"/>
                </a:solidFill>
                <a:latin typeface="Caladea"/>
                <a:cs typeface="Caladea"/>
              </a:rPr>
              <a:t>If a thread invokes exec(), the program specified in the parameter to exec() will replace the entire process, including all threads</a:t>
            </a: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Challenging is to decide, which of the 2 versions of fork() is to be used.</a:t>
            </a:r>
          </a:p>
          <a:p>
            <a:pPr marL="698500" lvl="1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dirty="0">
                <a:latin typeface="Caladea"/>
                <a:cs typeface="Caladea"/>
              </a:rPr>
              <a:t>If exec() is called immediately after forking, then duplicating all threads is unnecessary, as the program specified in the parameters to exec() will replace the process</a:t>
            </a:r>
          </a:p>
        </p:txBody>
      </p:sp>
    </p:spTree>
    <p:extLst>
      <p:ext uri="{BB962C8B-B14F-4D97-AF65-F5344CB8AC3E}">
        <p14:creationId xmlns:p14="http://schemas.microsoft.com/office/powerpoint/2010/main" xmlns="" val="338260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6826" y="4359542"/>
            <a:ext cx="5879593" cy="2373236"/>
            <a:chOff x="2807207" y="4331208"/>
            <a:chExt cx="5547488" cy="2373236"/>
          </a:xfrm>
        </p:grpSpPr>
        <p:sp>
          <p:nvSpPr>
            <p:cNvPr id="3" name="object 3"/>
            <p:cNvSpPr/>
            <p:nvPr/>
          </p:nvSpPr>
          <p:spPr>
            <a:xfrm>
              <a:off x="6554850" y="4340352"/>
              <a:ext cx="1790573" cy="23640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20840" y="4331208"/>
              <a:ext cx="1633855" cy="2082164"/>
            </a:xfrm>
            <a:custGeom>
              <a:avLst/>
              <a:gdLst/>
              <a:ahLst/>
              <a:cxnLst/>
              <a:rect l="l" t="t" r="r" b="b"/>
              <a:pathLst>
                <a:path w="1633854" h="2082164">
                  <a:moveTo>
                    <a:pt x="0" y="2081783"/>
                  </a:moveTo>
                  <a:lnTo>
                    <a:pt x="1633727" y="2081783"/>
                  </a:lnTo>
                  <a:lnTo>
                    <a:pt x="1633727" y="0"/>
                  </a:lnTo>
                  <a:lnTo>
                    <a:pt x="0" y="0"/>
                  </a:lnTo>
                  <a:lnTo>
                    <a:pt x="0" y="2081783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6351" y="4340351"/>
              <a:ext cx="1993392" cy="23640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207" y="4331208"/>
              <a:ext cx="2011680" cy="2057400"/>
            </a:xfrm>
            <a:custGeom>
              <a:avLst/>
              <a:gdLst/>
              <a:ahLst/>
              <a:cxnLst/>
              <a:rect l="l" t="t" r="r" b="b"/>
              <a:pathLst>
                <a:path w="2011679" h="2057400">
                  <a:moveTo>
                    <a:pt x="0" y="2057400"/>
                  </a:moveTo>
                  <a:lnTo>
                    <a:pt x="2011680" y="2057400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31133" y="5297297"/>
              <a:ext cx="2788920" cy="304800"/>
            </a:xfrm>
            <a:custGeom>
              <a:avLst/>
              <a:gdLst/>
              <a:ahLst/>
              <a:cxnLst/>
              <a:rect l="l" t="t" r="r" b="b"/>
              <a:pathLst>
                <a:path w="2788920" h="304800">
                  <a:moveTo>
                    <a:pt x="1424558" y="0"/>
                  </a:moveTo>
                  <a:lnTo>
                    <a:pt x="1380870" y="507"/>
                  </a:lnTo>
                  <a:lnTo>
                    <a:pt x="1337182" y="1777"/>
                  </a:lnTo>
                  <a:lnTo>
                    <a:pt x="1293621" y="3809"/>
                  </a:lnTo>
                  <a:lnTo>
                    <a:pt x="1250061" y="6476"/>
                  </a:lnTo>
                  <a:lnTo>
                    <a:pt x="1206500" y="9905"/>
                  </a:lnTo>
                  <a:lnTo>
                    <a:pt x="1162939" y="13842"/>
                  </a:lnTo>
                  <a:lnTo>
                    <a:pt x="1119377" y="18541"/>
                  </a:lnTo>
                  <a:lnTo>
                    <a:pt x="1075943" y="23875"/>
                  </a:lnTo>
                  <a:lnTo>
                    <a:pt x="1032509" y="29717"/>
                  </a:lnTo>
                  <a:lnTo>
                    <a:pt x="945895" y="43179"/>
                  </a:lnTo>
                  <a:lnTo>
                    <a:pt x="859281" y="58673"/>
                  </a:lnTo>
                  <a:lnTo>
                    <a:pt x="772794" y="76199"/>
                  </a:lnTo>
                  <a:lnTo>
                    <a:pt x="686562" y="95249"/>
                  </a:lnTo>
                  <a:lnTo>
                    <a:pt x="600328" y="115823"/>
                  </a:lnTo>
                  <a:lnTo>
                    <a:pt x="514222" y="137794"/>
                  </a:lnTo>
                  <a:lnTo>
                    <a:pt x="428370" y="160908"/>
                  </a:lnTo>
                  <a:lnTo>
                    <a:pt x="256666" y="209803"/>
                  </a:lnTo>
                  <a:lnTo>
                    <a:pt x="0" y="287019"/>
                  </a:lnTo>
                  <a:lnTo>
                    <a:pt x="5333" y="304533"/>
                  </a:lnTo>
                  <a:lnTo>
                    <a:pt x="261874" y="227329"/>
                  </a:lnTo>
                  <a:lnTo>
                    <a:pt x="433324" y="178434"/>
                  </a:lnTo>
                  <a:lnTo>
                    <a:pt x="519049" y="155447"/>
                  </a:lnTo>
                  <a:lnTo>
                    <a:pt x="604774" y="133603"/>
                  </a:lnTo>
                  <a:lnTo>
                    <a:pt x="690752" y="113029"/>
                  </a:lnTo>
                  <a:lnTo>
                    <a:pt x="776731" y="93979"/>
                  </a:lnTo>
                  <a:lnTo>
                    <a:pt x="862838" y="76580"/>
                  </a:lnTo>
                  <a:lnTo>
                    <a:pt x="949070" y="61213"/>
                  </a:lnTo>
                  <a:lnTo>
                    <a:pt x="1035303" y="47878"/>
                  </a:lnTo>
                  <a:lnTo>
                    <a:pt x="1078356" y="42036"/>
                  </a:lnTo>
                  <a:lnTo>
                    <a:pt x="1121664" y="36702"/>
                  </a:lnTo>
                  <a:lnTo>
                    <a:pt x="1164843" y="32130"/>
                  </a:lnTo>
                  <a:lnTo>
                    <a:pt x="1208151" y="28066"/>
                  </a:lnTo>
                  <a:lnTo>
                    <a:pt x="1251457" y="24637"/>
                  </a:lnTo>
                  <a:lnTo>
                    <a:pt x="1294764" y="21970"/>
                  </a:lnTo>
                  <a:lnTo>
                    <a:pt x="1338071" y="20065"/>
                  </a:lnTo>
                  <a:lnTo>
                    <a:pt x="1381378" y="18795"/>
                  </a:lnTo>
                  <a:lnTo>
                    <a:pt x="1424813" y="18287"/>
                  </a:lnTo>
                  <a:lnTo>
                    <a:pt x="1757141" y="18287"/>
                  </a:lnTo>
                  <a:lnTo>
                    <a:pt x="1731264" y="15366"/>
                  </a:lnTo>
                  <a:lnTo>
                    <a:pt x="1687449" y="11302"/>
                  </a:lnTo>
                  <a:lnTo>
                    <a:pt x="1643506" y="7873"/>
                  </a:lnTo>
                  <a:lnTo>
                    <a:pt x="1599691" y="4952"/>
                  </a:lnTo>
                  <a:lnTo>
                    <a:pt x="1555877" y="2666"/>
                  </a:lnTo>
                  <a:lnTo>
                    <a:pt x="1512062" y="1142"/>
                  </a:lnTo>
                  <a:lnTo>
                    <a:pt x="1468374" y="253"/>
                  </a:lnTo>
                  <a:lnTo>
                    <a:pt x="1424558" y="0"/>
                  </a:lnTo>
                  <a:close/>
                </a:path>
                <a:path w="2788920" h="304800">
                  <a:moveTo>
                    <a:pt x="2663124" y="215490"/>
                  </a:moveTo>
                  <a:lnTo>
                    <a:pt x="2649981" y="268223"/>
                  </a:lnTo>
                  <a:lnTo>
                    <a:pt x="2788539" y="237235"/>
                  </a:lnTo>
                  <a:lnTo>
                    <a:pt x="2766737" y="218566"/>
                  </a:lnTo>
                  <a:lnTo>
                    <a:pt x="2675381" y="218566"/>
                  </a:lnTo>
                  <a:lnTo>
                    <a:pt x="2663124" y="215490"/>
                  </a:lnTo>
                  <a:close/>
                </a:path>
                <a:path w="2788920" h="304800">
                  <a:moveTo>
                    <a:pt x="2667549" y="197735"/>
                  </a:moveTo>
                  <a:lnTo>
                    <a:pt x="2663124" y="215490"/>
                  </a:lnTo>
                  <a:lnTo>
                    <a:pt x="2675381" y="218566"/>
                  </a:lnTo>
                  <a:lnTo>
                    <a:pt x="2679827" y="200786"/>
                  </a:lnTo>
                  <a:lnTo>
                    <a:pt x="2667549" y="197735"/>
                  </a:lnTo>
                  <a:close/>
                </a:path>
                <a:path w="2788920" h="304800">
                  <a:moveTo>
                    <a:pt x="2680716" y="144906"/>
                  </a:moveTo>
                  <a:lnTo>
                    <a:pt x="2667549" y="197735"/>
                  </a:lnTo>
                  <a:lnTo>
                    <a:pt x="2679827" y="200786"/>
                  </a:lnTo>
                  <a:lnTo>
                    <a:pt x="2675381" y="218566"/>
                  </a:lnTo>
                  <a:lnTo>
                    <a:pt x="2766737" y="218566"/>
                  </a:lnTo>
                  <a:lnTo>
                    <a:pt x="2680716" y="144906"/>
                  </a:lnTo>
                  <a:close/>
                </a:path>
                <a:path w="2788920" h="304800">
                  <a:moveTo>
                    <a:pt x="1757141" y="18287"/>
                  </a:moveTo>
                  <a:lnTo>
                    <a:pt x="1424813" y="18287"/>
                  </a:lnTo>
                  <a:lnTo>
                    <a:pt x="1468246" y="18541"/>
                  </a:lnTo>
                  <a:lnTo>
                    <a:pt x="1511680" y="19303"/>
                  </a:lnTo>
                  <a:lnTo>
                    <a:pt x="1555241" y="20954"/>
                  </a:lnTo>
                  <a:lnTo>
                    <a:pt x="1598676" y="23240"/>
                  </a:lnTo>
                  <a:lnTo>
                    <a:pt x="1642237" y="26161"/>
                  </a:lnTo>
                  <a:lnTo>
                    <a:pt x="1685925" y="29590"/>
                  </a:lnTo>
                  <a:lnTo>
                    <a:pt x="1729613" y="33654"/>
                  </a:lnTo>
                  <a:lnTo>
                    <a:pt x="1816989" y="43433"/>
                  </a:lnTo>
                  <a:lnTo>
                    <a:pt x="1904491" y="55244"/>
                  </a:lnTo>
                  <a:lnTo>
                    <a:pt x="1992121" y="68960"/>
                  </a:lnTo>
                  <a:lnTo>
                    <a:pt x="2080005" y="84454"/>
                  </a:lnTo>
                  <a:lnTo>
                    <a:pt x="2167890" y="101345"/>
                  </a:lnTo>
                  <a:lnTo>
                    <a:pt x="2255901" y="119633"/>
                  </a:lnTo>
                  <a:lnTo>
                    <a:pt x="2344039" y="138937"/>
                  </a:lnTo>
                  <a:lnTo>
                    <a:pt x="2432304" y="159257"/>
                  </a:lnTo>
                  <a:lnTo>
                    <a:pt x="2663124" y="215490"/>
                  </a:lnTo>
                  <a:lnTo>
                    <a:pt x="2667549" y="197735"/>
                  </a:lnTo>
                  <a:lnTo>
                    <a:pt x="2524887" y="162432"/>
                  </a:lnTo>
                  <a:lnTo>
                    <a:pt x="2347976" y="121157"/>
                  </a:lnTo>
                  <a:lnTo>
                    <a:pt x="2259711" y="101599"/>
                  </a:lnTo>
                  <a:lnTo>
                    <a:pt x="2171318" y="83438"/>
                  </a:lnTo>
                  <a:lnTo>
                    <a:pt x="2083180" y="66420"/>
                  </a:lnTo>
                  <a:lnTo>
                    <a:pt x="1995042" y="50926"/>
                  </a:lnTo>
                  <a:lnTo>
                    <a:pt x="1907031" y="37210"/>
                  </a:lnTo>
                  <a:lnTo>
                    <a:pt x="1819020" y="25272"/>
                  </a:lnTo>
                  <a:lnTo>
                    <a:pt x="1757141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10283" y="692"/>
            <a:ext cx="6835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Semantics of </a:t>
            </a:r>
            <a:r>
              <a:rPr spc="-10" dirty="0">
                <a:latin typeface="BPG Courier S GPL&amp;GNU"/>
                <a:cs typeface="BPG Courier S GPL&amp;GNU"/>
              </a:rPr>
              <a:t>fork()</a:t>
            </a:r>
            <a:r>
              <a:rPr spc="-1330" dirty="0">
                <a:latin typeface="BPG Courier S GPL&amp;GNU"/>
                <a:cs typeface="BPG Courier S GPL&amp;GNU"/>
              </a:rPr>
              <a:t> </a:t>
            </a:r>
            <a:r>
              <a:rPr spc="-5" dirty="0"/>
              <a:t>and </a:t>
            </a:r>
            <a:r>
              <a:rPr spc="-10" dirty="0">
                <a:latin typeface="BPG Courier S GPL&amp;GNU"/>
                <a:cs typeface="BPG Courier S GPL&amp;GNU"/>
              </a:rPr>
              <a:t>exec()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0" y="623772"/>
            <a:ext cx="6229350" cy="10655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adea"/>
                <a:cs typeface="Caladea"/>
              </a:rPr>
              <a:t>Does </a:t>
            </a:r>
            <a:r>
              <a:rPr sz="1800" spc="-5" dirty="0">
                <a:latin typeface="BPG Courier S GPL&amp;GNU"/>
                <a:cs typeface="BPG Courier S GPL&amp;GNU"/>
              </a:rPr>
              <a:t>fork()</a:t>
            </a:r>
            <a:r>
              <a:rPr sz="1800" spc="-615" dirty="0">
                <a:latin typeface="BPG Courier S GPL&amp;GNU"/>
                <a:cs typeface="BPG Courier S GPL&amp;GNU"/>
              </a:rPr>
              <a:t> </a:t>
            </a:r>
            <a:r>
              <a:rPr sz="1800" spc="-5" dirty="0">
                <a:latin typeface="Caladea"/>
                <a:cs typeface="Caladea"/>
              </a:rPr>
              <a:t>duplicate </a:t>
            </a:r>
            <a:r>
              <a:rPr sz="1800" spc="-15" dirty="0">
                <a:latin typeface="Caladea"/>
                <a:cs typeface="Caladea"/>
              </a:rPr>
              <a:t>only </a:t>
            </a:r>
            <a:r>
              <a:rPr sz="1800" spc="-10" dirty="0">
                <a:latin typeface="Caladea"/>
                <a:cs typeface="Caladea"/>
              </a:rPr>
              <a:t>the </a:t>
            </a:r>
            <a:r>
              <a:rPr sz="1800" spc="-5" dirty="0">
                <a:latin typeface="Caladea"/>
                <a:cs typeface="Caladea"/>
              </a:rPr>
              <a:t>calling </a:t>
            </a:r>
            <a:r>
              <a:rPr sz="1800" spc="-10" dirty="0">
                <a:latin typeface="Caladea"/>
                <a:cs typeface="Caladea"/>
              </a:rPr>
              <a:t>thread </a:t>
            </a:r>
            <a:r>
              <a:rPr sz="1800" spc="-5" dirty="0">
                <a:latin typeface="Caladea"/>
                <a:cs typeface="Caladea"/>
              </a:rPr>
              <a:t>or all threads?</a:t>
            </a:r>
            <a:endParaRPr sz="1800" dirty="0">
              <a:latin typeface="Caladea"/>
              <a:cs typeface="Calade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Caladea"/>
                <a:cs typeface="Caladea"/>
              </a:rPr>
              <a:t>Some </a:t>
            </a:r>
            <a:r>
              <a:rPr sz="1800" spc="-5" dirty="0">
                <a:latin typeface="Caladea"/>
                <a:cs typeface="Caladea"/>
              </a:rPr>
              <a:t>UNIX </a:t>
            </a:r>
            <a:r>
              <a:rPr sz="1800" spc="-15" dirty="0">
                <a:latin typeface="Caladea"/>
                <a:cs typeface="Caladea"/>
              </a:rPr>
              <a:t>systems have two </a:t>
            </a:r>
            <a:r>
              <a:rPr sz="1800" spc="-5" dirty="0">
                <a:latin typeface="Caladea"/>
                <a:cs typeface="Caladea"/>
              </a:rPr>
              <a:t>versions of</a:t>
            </a:r>
            <a:r>
              <a:rPr sz="1800" spc="80" dirty="0">
                <a:latin typeface="Caladea"/>
                <a:cs typeface="Caladea"/>
              </a:rPr>
              <a:t> </a:t>
            </a:r>
            <a:r>
              <a:rPr sz="1800" spc="-5" dirty="0">
                <a:latin typeface="BPG Courier S GPL&amp;GNU"/>
                <a:cs typeface="BPG Courier S GPL&amp;GNU"/>
              </a:rPr>
              <a:t>fork()</a:t>
            </a:r>
            <a:endParaRPr sz="1800" dirty="0">
              <a:latin typeface="BPG Courier S GPL&amp;GNU"/>
              <a:cs typeface="BPG Courier S GPL&amp;GNU"/>
            </a:endParaRPr>
          </a:p>
          <a:p>
            <a:pPr marL="241300" indent="-22860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BPG Courier S GPL&amp;GNU"/>
                <a:cs typeface="BPG Courier S GPL&amp;GNU"/>
              </a:rPr>
              <a:t>exec()</a:t>
            </a:r>
            <a:r>
              <a:rPr sz="1800" spc="-620" dirty="0">
                <a:latin typeface="BPG Courier S GPL&amp;GNU"/>
                <a:cs typeface="BPG Courier S GPL&amp;GNU"/>
              </a:rPr>
              <a:t> </a:t>
            </a:r>
            <a:r>
              <a:rPr sz="1800" spc="-15" dirty="0">
                <a:latin typeface="Caladea"/>
                <a:cs typeface="Caladea"/>
              </a:rPr>
              <a:t>usually </a:t>
            </a:r>
            <a:r>
              <a:rPr sz="1800" spc="-5" dirty="0">
                <a:latin typeface="Caladea"/>
                <a:cs typeface="Caladea"/>
              </a:rPr>
              <a:t>replaces all threads with </a:t>
            </a:r>
            <a:r>
              <a:rPr sz="1800" dirty="0">
                <a:latin typeface="Caladea"/>
                <a:cs typeface="Caladea"/>
              </a:rPr>
              <a:t>new </a:t>
            </a:r>
            <a:r>
              <a:rPr sz="1800" spc="-10" dirty="0">
                <a:latin typeface="Caladea"/>
                <a:cs typeface="Caladea"/>
              </a:rPr>
              <a:t>program</a:t>
            </a:r>
            <a:endParaRPr sz="1800" dirty="0">
              <a:latin typeface="Caladea"/>
              <a:cs typeface="Calade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97682" y="1738342"/>
            <a:ext cx="3703320" cy="2478403"/>
            <a:chOff x="2798064" y="2173223"/>
            <a:chExt cx="3703320" cy="2075814"/>
          </a:xfrm>
        </p:grpSpPr>
        <p:sp>
          <p:nvSpPr>
            <p:cNvPr id="11" name="object 11"/>
            <p:cNvSpPr/>
            <p:nvPr/>
          </p:nvSpPr>
          <p:spPr>
            <a:xfrm>
              <a:off x="2816352" y="2191511"/>
              <a:ext cx="1993392" cy="20391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07208" y="2182367"/>
              <a:ext cx="2011680" cy="2057400"/>
            </a:xfrm>
            <a:custGeom>
              <a:avLst/>
              <a:gdLst/>
              <a:ahLst/>
              <a:cxnLst/>
              <a:rect l="l" t="t" r="r" b="b"/>
              <a:pathLst>
                <a:path w="2011679" h="2057400">
                  <a:moveTo>
                    <a:pt x="0" y="2057399"/>
                  </a:moveTo>
                  <a:lnTo>
                    <a:pt x="2011680" y="20573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2057399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34181" y="3063112"/>
              <a:ext cx="2767330" cy="307975"/>
            </a:xfrm>
            <a:custGeom>
              <a:avLst/>
              <a:gdLst/>
              <a:ahLst/>
              <a:cxnLst/>
              <a:rect l="l" t="t" r="r" b="b"/>
              <a:pathLst>
                <a:path w="2767329" h="307975">
                  <a:moveTo>
                    <a:pt x="1413637" y="0"/>
                  </a:moveTo>
                  <a:lnTo>
                    <a:pt x="1370330" y="635"/>
                  </a:lnTo>
                  <a:lnTo>
                    <a:pt x="1327023" y="1904"/>
                  </a:lnTo>
                  <a:lnTo>
                    <a:pt x="1283716" y="3937"/>
                  </a:lnTo>
                  <a:lnTo>
                    <a:pt x="1240409" y="6603"/>
                  </a:lnTo>
                  <a:lnTo>
                    <a:pt x="1197229" y="10033"/>
                  </a:lnTo>
                  <a:lnTo>
                    <a:pt x="1154049" y="14224"/>
                  </a:lnTo>
                  <a:lnTo>
                    <a:pt x="1110869" y="18923"/>
                  </a:lnTo>
                  <a:lnTo>
                    <a:pt x="1067689" y="24257"/>
                  </a:lnTo>
                  <a:lnTo>
                    <a:pt x="1024636" y="30099"/>
                  </a:lnTo>
                  <a:lnTo>
                    <a:pt x="938530" y="43814"/>
                  </a:lnTo>
                  <a:lnTo>
                    <a:pt x="852678" y="59436"/>
                  </a:lnTo>
                  <a:lnTo>
                    <a:pt x="766826" y="77088"/>
                  </a:lnTo>
                  <a:lnTo>
                    <a:pt x="681228" y="96265"/>
                  </a:lnTo>
                  <a:lnTo>
                    <a:pt x="595630" y="117221"/>
                  </a:lnTo>
                  <a:lnTo>
                    <a:pt x="510286" y="139319"/>
                  </a:lnTo>
                  <a:lnTo>
                    <a:pt x="424942" y="162687"/>
                  </a:lnTo>
                  <a:lnTo>
                    <a:pt x="339725" y="186944"/>
                  </a:lnTo>
                  <a:lnTo>
                    <a:pt x="254762" y="212089"/>
                  </a:lnTo>
                  <a:lnTo>
                    <a:pt x="0" y="290067"/>
                  </a:lnTo>
                  <a:lnTo>
                    <a:pt x="5334" y="307594"/>
                  </a:lnTo>
                  <a:lnTo>
                    <a:pt x="259969" y="229615"/>
                  </a:lnTo>
                  <a:lnTo>
                    <a:pt x="430022" y="180212"/>
                  </a:lnTo>
                  <a:lnTo>
                    <a:pt x="515112" y="156972"/>
                  </a:lnTo>
                  <a:lnTo>
                    <a:pt x="600329" y="134874"/>
                  </a:lnTo>
                  <a:lnTo>
                    <a:pt x="685546" y="114046"/>
                  </a:lnTo>
                  <a:lnTo>
                    <a:pt x="770890" y="94869"/>
                  </a:lnTo>
                  <a:lnTo>
                    <a:pt x="856361" y="77342"/>
                  </a:lnTo>
                  <a:lnTo>
                    <a:pt x="941832" y="61849"/>
                  </a:lnTo>
                  <a:lnTo>
                    <a:pt x="1027430" y="48260"/>
                  </a:lnTo>
                  <a:lnTo>
                    <a:pt x="1070229" y="42290"/>
                  </a:lnTo>
                  <a:lnTo>
                    <a:pt x="1113028" y="36957"/>
                  </a:lnTo>
                  <a:lnTo>
                    <a:pt x="1155954" y="32385"/>
                  </a:lnTo>
                  <a:lnTo>
                    <a:pt x="1198880" y="28321"/>
                  </a:lnTo>
                  <a:lnTo>
                    <a:pt x="1241806" y="24891"/>
                  </a:lnTo>
                  <a:lnTo>
                    <a:pt x="1284859" y="22225"/>
                  </a:lnTo>
                  <a:lnTo>
                    <a:pt x="1327785" y="20065"/>
                  </a:lnTo>
                  <a:lnTo>
                    <a:pt x="1370838" y="18923"/>
                  </a:lnTo>
                  <a:lnTo>
                    <a:pt x="1413891" y="18287"/>
                  </a:lnTo>
                  <a:lnTo>
                    <a:pt x="1740394" y="18287"/>
                  </a:lnTo>
                  <a:lnTo>
                    <a:pt x="1718056" y="15748"/>
                  </a:lnTo>
                  <a:lnTo>
                    <a:pt x="1674495" y="11557"/>
                  </a:lnTo>
                  <a:lnTo>
                    <a:pt x="1630934" y="8000"/>
                  </a:lnTo>
                  <a:lnTo>
                    <a:pt x="1587500" y="5079"/>
                  </a:lnTo>
                  <a:lnTo>
                    <a:pt x="1543939" y="2794"/>
                  </a:lnTo>
                  <a:lnTo>
                    <a:pt x="1500505" y="1142"/>
                  </a:lnTo>
                  <a:lnTo>
                    <a:pt x="1457071" y="253"/>
                  </a:lnTo>
                  <a:lnTo>
                    <a:pt x="1413637" y="0"/>
                  </a:lnTo>
                  <a:close/>
                </a:path>
                <a:path w="2767329" h="307975">
                  <a:moveTo>
                    <a:pt x="2641885" y="217352"/>
                  </a:moveTo>
                  <a:lnTo>
                    <a:pt x="2628519" y="270001"/>
                  </a:lnTo>
                  <a:lnTo>
                    <a:pt x="2767203" y="239775"/>
                  </a:lnTo>
                  <a:lnTo>
                    <a:pt x="2744862" y="220472"/>
                  </a:lnTo>
                  <a:lnTo>
                    <a:pt x="2654173" y="220472"/>
                  </a:lnTo>
                  <a:lnTo>
                    <a:pt x="2641885" y="217352"/>
                  </a:lnTo>
                  <a:close/>
                </a:path>
                <a:path w="2767329" h="307975">
                  <a:moveTo>
                    <a:pt x="2646370" y="199685"/>
                  </a:moveTo>
                  <a:lnTo>
                    <a:pt x="2641885" y="217352"/>
                  </a:lnTo>
                  <a:lnTo>
                    <a:pt x="2654173" y="220472"/>
                  </a:lnTo>
                  <a:lnTo>
                    <a:pt x="2658618" y="202819"/>
                  </a:lnTo>
                  <a:lnTo>
                    <a:pt x="2646370" y="199685"/>
                  </a:lnTo>
                  <a:close/>
                </a:path>
                <a:path w="2767329" h="307975">
                  <a:moveTo>
                    <a:pt x="2659761" y="146938"/>
                  </a:moveTo>
                  <a:lnTo>
                    <a:pt x="2646370" y="199685"/>
                  </a:lnTo>
                  <a:lnTo>
                    <a:pt x="2658618" y="202819"/>
                  </a:lnTo>
                  <a:lnTo>
                    <a:pt x="2654173" y="220472"/>
                  </a:lnTo>
                  <a:lnTo>
                    <a:pt x="2744862" y="220472"/>
                  </a:lnTo>
                  <a:lnTo>
                    <a:pt x="2659761" y="146938"/>
                  </a:lnTo>
                  <a:close/>
                </a:path>
                <a:path w="2767329" h="307975">
                  <a:moveTo>
                    <a:pt x="1740394" y="18287"/>
                  </a:moveTo>
                  <a:lnTo>
                    <a:pt x="1413891" y="18287"/>
                  </a:lnTo>
                  <a:lnTo>
                    <a:pt x="1456944" y="18541"/>
                  </a:lnTo>
                  <a:lnTo>
                    <a:pt x="1500124" y="19431"/>
                  </a:lnTo>
                  <a:lnTo>
                    <a:pt x="1543304" y="21082"/>
                  </a:lnTo>
                  <a:lnTo>
                    <a:pt x="1586484" y="23367"/>
                  </a:lnTo>
                  <a:lnTo>
                    <a:pt x="1629664" y="26288"/>
                  </a:lnTo>
                  <a:lnTo>
                    <a:pt x="1672971" y="29845"/>
                  </a:lnTo>
                  <a:lnTo>
                    <a:pt x="1716278" y="33909"/>
                  </a:lnTo>
                  <a:lnTo>
                    <a:pt x="1803146" y="43814"/>
                  </a:lnTo>
                  <a:lnTo>
                    <a:pt x="1889887" y="55752"/>
                  </a:lnTo>
                  <a:lnTo>
                    <a:pt x="1976882" y="69596"/>
                  </a:lnTo>
                  <a:lnTo>
                    <a:pt x="2064131" y="85216"/>
                  </a:lnTo>
                  <a:lnTo>
                    <a:pt x="2151253" y="102362"/>
                  </a:lnTo>
                  <a:lnTo>
                    <a:pt x="2238629" y="120650"/>
                  </a:lnTo>
                  <a:lnTo>
                    <a:pt x="2326132" y="140335"/>
                  </a:lnTo>
                  <a:lnTo>
                    <a:pt x="2413635" y="160909"/>
                  </a:lnTo>
                  <a:lnTo>
                    <a:pt x="2641885" y="217352"/>
                  </a:lnTo>
                  <a:lnTo>
                    <a:pt x="2646370" y="199685"/>
                  </a:lnTo>
                  <a:lnTo>
                    <a:pt x="2417826" y="143001"/>
                  </a:lnTo>
                  <a:lnTo>
                    <a:pt x="2330069" y="122427"/>
                  </a:lnTo>
                  <a:lnTo>
                    <a:pt x="2242439" y="102870"/>
                  </a:lnTo>
                  <a:lnTo>
                    <a:pt x="2154809" y="84454"/>
                  </a:lnTo>
                  <a:lnTo>
                    <a:pt x="2067306" y="67183"/>
                  </a:lnTo>
                  <a:lnTo>
                    <a:pt x="1979803" y="51562"/>
                  </a:lnTo>
                  <a:lnTo>
                    <a:pt x="1892427" y="37591"/>
                  </a:lnTo>
                  <a:lnTo>
                    <a:pt x="1805178" y="25653"/>
                  </a:lnTo>
                  <a:lnTo>
                    <a:pt x="1740394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49061" y="2595498"/>
            <a:ext cx="98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BPG Courier S GPL&amp;GNU"/>
                <a:cs typeface="BPG Courier S GPL&amp;GNU"/>
              </a:rPr>
              <a:t>fork1()</a:t>
            </a:r>
            <a:endParaRPr sz="1800" dirty="0">
              <a:latin typeface="BPG Courier S GPL&amp;GNU"/>
              <a:cs typeface="BPG Courier S GPL&amp;GNU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36562" y="1760177"/>
            <a:ext cx="2030095" cy="2430816"/>
            <a:chOff x="6711695" y="2173223"/>
            <a:chExt cx="2030095" cy="2075814"/>
          </a:xfrm>
        </p:grpSpPr>
        <p:sp>
          <p:nvSpPr>
            <p:cNvPr id="16" name="object 16"/>
            <p:cNvSpPr/>
            <p:nvPr/>
          </p:nvSpPr>
          <p:spPr>
            <a:xfrm>
              <a:off x="6729983" y="2191511"/>
              <a:ext cx="1993392" cy="20391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20839" y="2182367"/>
              <a:ext cx="2011680" cy="2057400"/>
            </a:xfrm>
            <a:custGeom>
              <a:avLst/>
              <a:gdLst/>
              <a:ahLst/>
              <a:cxnLst/>
              <a:rect l="l" t="t" r="r" b="b"/>
              <a:pathLst>
                <a:path w="2011679" h="2057400">
                  <a:moveTo>
                    <a:pt x="0" y="2057399"/>
                  </a:moveTo>
                  <a:lnTo>
                    <a:pt x="2011679" y="20573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2057399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66334" y="4828413"/>
            <a:ext cx="98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BPG Courier S GPL&amp;GNU"/>
                <a:cs typeface="BPG Courier S GPL&amp;GNU"/>
              </a:rPr>
              <a:t>fork2()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66</a:t>
            </a:fld>
            <a:endParaRPr spc="-5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0"/>
            <a:ext cx="9822941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000" spc="-15" dirty="0"/>
              <a:t>Threading</a:t>
            </a:r>
            <a:r>
              <a:rPr lang="en-US" sz="4000" spc="-5" dirty="0"/>
              <a:t> </a:t>
            </a:r>
            <a:r>
              <a:rPr lang="en-US" sz="4000" spc="-10" dirty="0"/>
              <a:t>Issues- 2)</a:t>
            </a:r>
            <a:r>
              <a:rPr sz="4000" spc="-10" dirty="0">
                <a:latin typeface="Carlito"/>
                <a:cs typeface="Carlito"/>
              </a:rPr>
              <a:t>Thread</a:t>
            </a:r>
            <a:r>
              <a:rPr sz="4000" spc="-70" dirty="0">
                <a:latin typeface="Carlito"/>
                <a:cs typeface="Carlito"/>
              </a:rPr>
              <a:t> </a:t>
            </a:r>
            <a:r>
              <a:rPr sz="4000" spc="-5" dirty="0">
                <a:latin typeface="Carlito"/>
                <a:cs typeface="Carlito"/>
              </a:rPr>
              <a:t>Cancellation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67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944136"/>
            <a:ext cx="12192000" cy="4151136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z="2000" b="1" dirty="0">
                <a:latin typeface="Carlito"/>
                <a:cs typeface="Carlito"/>
              </a:rPr>
              <a:t>Thread cancellation </a:t>
            </a:r>
            <a:r>
              <a:rPr lang="en-US" sz="2000" dirty="0">
                <a:latin typeface="Carlito"/>
                <a:cs typeface="Carlito"/>
              </a:rPr>
              <a:t>is the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task of terminating a thread before it completes its action</a:t>
            </a:r>
            <a:r>
              <a:rPr lang="en-US" sz="2000" dirty="0">
                <a:latin typeface="Carlito"/>
                <a:cs typeface="Carlito"/>
              </a:rPr>
              <a:t>. </a:t>
            </a: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A thread that is to be cancelled is referred as </a:t>
            </a:r>
            <a:r>
              <a:rPr lang="en-US" sz="2000" b="1" dirty="0">
                <a:latin typeface="Carlito"/>
                <a:cs typeface="Carlito"/>
              </a:rPr>
              <a:t>target thread</a:t>
            </a:r>
            <a:r>
              <a:rPr lang="en-US" sz="2000" dirty="0">
                <a:latin typeface="Carlito"/>
                <a:cs typeface="Carlito"/>
              </a:rPr>
              <a:t>. </a:t>
            </a: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Threads that are no longer needed may be cancelled by another thread in one of 2 way's </a:t>
            </a:r>
          </a:p>
          <a:p>
            <a:pPr marL="698500" lvl="1" indent="-229235">
              <a:spcBef>
                <a:spcPts val="3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Asynchronous Cancellation </a:t>
            </a:r>
          </a:p>
          <a:p>
            <a:pPr marL="698500" lvl="1" indent="-229235">
              <a:spcBef>
                <a:spcPts val="3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Deferred Cancellation</a:t>
            </a:r>
          </a:p>
          <a:p>
            <a:pPr marL="228600" lvl="1" indent="-228600">
              <a:spcBef>
                <a:spcPts val="37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In </a:t>
            </a:r>
            <a:r>
              <a:rPr lang="en-US" sz="2000" b="1" dirty="0">
                <a:latin typeface="Carlito"/>
                <a:cs typeface="Carlito"/>
              </a:rPr>
              <a:t>asynchronous cancellation</a:t>
            </a:r>
            <a:r>
              <a:rPr lang="en-US" sz="2000" dirty="0">
                <a:latin typeface="Carlito"/>
                <a:cs typeface="Carlito"/>
              </a:rPr>
              <a:t>, one thread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immediately terminates </a:t>
            </a:r>
            <a:r>
              <a:rPr lang="en-US" sz="2000" dirty="0">
                <a:latin typeface="Carlito"/>
                <a:cs typeface="Carlito"/>
              </a:rPr>
              <a:t>the target thread.</a:t>
            </a:r>
          </a:p>
          <a:p>
            <a:pPr marL="228600" lvl="1" indent="-228600">
              <a:spcBef>
                <a:spcPts val="37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Threads which are sharing the resources &amp; as well as threads involved in inter-thread data transfer with the target thread gets affected. </a:t>
            </a:r>
          </a:p>
          <a:p>
            <a:pPr marL="228600" lvl="1" indent="-228600">
              <a:spcBef>
                <a:spcPts val="37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To overcome these disadvantages, deferred cancellation is preferred. </a:t>
            </a:r>
          </a:p>
          <a:p>
            <a:pPr marL="228600" lvl="1" indent="-228600">
              <a:spcBef>
                <a:spcPts val="37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sz="2000" dirty="0">
                <a:latin typeface="Carlito"/>
                <a:cs typeface="Carlito"/>
              </a:rPr>
              <a:t>In </a:t>
            </a:r>
            <a:r>
              <a:rPr lang="en-US" sz="2000" b="1" dirty="0">
                <a:latin typeface="Carlito"/>
                <a:cs typeface="Carlito"/>
              </a:rPr>
              <a:t>deferred cancellation</a:t>
            </a:r>
            <a:r>
              <a:rPr lang="en-US" sz="2000" dirty="0">
                <a:latin typeface="Carlito"/>
                <a:cs typeface="Carlito"/>
              </a:rPr>
              <a:t>, target thread itself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sets a flag indicating the thread </a:t>
            </a:r>
            <a:r>
              <a:rPr lang="en-US" sz="2000" dirty="0">
                <a:latin typeface="Carlito"/>
                <a:cs typeface="Carlito"/>
              </a:rPr>
              <a:t>should cancel itself when it is convenient. It is then up to the cancelled thread to check this flag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periodically</a:t>
            </a:r>
            <a:r>
              <a:rPr lang="en-US" sz="2000" dirty="0">
                <a:latin typeface="Carlito"/>
                <a:cs typeface="Carlito"/>
              </a:rPr>
              <a:t> &amp; exit nicely when it sees the flag set.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3338" y="0"/>
            <a:ext cx="103632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3200" spc="-15" dirty="0"/>
              <a:t>Threading</a:t>
            </a:r>
            <a:r>
              <a:rPr lang="en-US" sz="3200" spc="-5" dirty="0"/>
              <a:t> </a:t>
            </a:r>
            <a:r>
              <a:rPr lang="en-US" sz="3200" spc="-10" dirty="0"/>
              <a:t>Issues- 3) </a:t>
            </a:r>
            <a:r>
              <a:rPr sz="3200" spc="-10" dirty="0"/>
              <a:t>Signal</a:t>
            </a:r>
            <a:r>
              <a:rPr sz="3200" spc="-25" dirty="0"/>
              <a:t> </a:t>
            </a:r>
            <a:r>
              <a:rPr sz="3200" spc="-5" dirty="0"/>
              <a:t>Handling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68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33338" y="503984"/>
            <a:ext cx="12192000" cy="50135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indent="-3810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spc="-5" dirty="0">
                <a:latin typeface="Carlito"/>
                <a:cs typeface="Carlito"/>
              </a:rPr>
              <a:t>Signals </a:t>
            </a:r>
            <a:r>
              <a:rPr sz="2000" spc="-10" dirty="0">
                <a:latin typeface="Carlito"/>
                <a:cs typeface="Carlito"/>
              </a:rPr>
              <a:t>are used </a:t>
            </a:r>
            <a:r>
              <a:rPr lang="en-US" sz="2000" spc="-10" dirty="0">
                <a:latin typeface="Carlito"/>
                <a:cs typeface="Carlito"/>
              </a:rPr>
              <a:t>to inform </a:t>
            </a:r>
            <a:r>
              <a:rPr sz="2000" spc="-10" dirty="0">
                <a:latin typeface="Carlito"/>
                <a:cs typeface="Carlito"/>
              </a:rPr>
              <a:t>process</a:t>
            </a:r>
            <a:r>
              <a:rPr lang="en-US" sz="2000" spc="-10" dirty="0">
                <a:latin typeface="Carlito"/>
                <a:cs typeface="Carlito"/>
              </a:rPr>
              <a:t>es indicating some events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lang="en-US" sz="2000" spc="-10" dirty="0">
                <a:latin typeface="Carlito"/>
                <a:cs typeface="Carlito"/>
              </a:rPr>
              <a:t>are</a:t>
            </a:r>
            <a:r>
              <a:rPr sz="2000" spc="6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occurred</a:t>
            </a:r>
            <a:endParaRPr lang="en-US" sz="2000" spc="-10" dirty="0">
              <a:latin typeface="Carlito"/>
              <a:cs typeface="Carlito"/>
            </a:endParaRPr>
          </a:p>
          <a:p>
            <a:pPr marL="393700" indent="-3810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lang="en-US" sz="2000" spc="-10" dirty="0">
                <a:latin typeface="Carlito"/>
                <a:cs typeface="Carlito"/>
              </a:rPr>
              <a:t>Signals are used only in the </a:t>
            </a:r>
            <a:r>
              <a:rPr lang="en-US" sz="2000" spc="-10" dirty="0" err="1">
                <a:latin typeface="Carlito"/>
                <a:cs typeface="Carlito"/>
              </a:rPr>
              <a:t>unix</a:t>
            </a:r>
            <a:endParaRPr lang="en-US" sz="2000" spc="-10" dirty="0">
              <a:latin typeface="Carlito"/>
              <a:cs typeface="Carlito"/>
            </a:endParaRPr>
          </a:p>
          <a:p>
            <a:pPr marL="393700" indent="-3810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lang="en-US" sz="2000" spc="-10" dirty="0">
                <a:latin typeface="Carlito"/>
                <a:cs typeface="Carlito"/>
              </a:rPr>
              <a:t>A signal may be received either synchronously or asynchronously</a:t>
            </a:r>
          </a:p>
          <a:p>
            <a:pPr marL="393700" indent="-3810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lang="en-US" sz="2000" spc="-10" dirty="0">
                <a:latin typeface="Carlito"/>
                <a:cs typeface="Carlito"/>
              </a:rPr>
              <a:t>Now the question is, when a multithreaded process receives a signal, to which thread should this signal be delivered?</a:t>
            </a:r>
            <a:endParaRPr lang="en-US" sz="2000" dirty="0">
              <a:latin typeface="Carlito"/>
              <a:cs typeface="Carlito"/>
            </a:endParaRPr>
          </a:p>
          <a:p>
            <a:pPr marL="393700" indent="-3810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lang="en-US" sz="2000" spc="-5" dirty="0">
                <a:latin typeface="Carlito"/>
                <a:cs typeface="Carlito"/>
              </a:rPr>
              <a:t>For this, there are 4 o</a:t>
            </a:r>
            <a:r>
              <a:rPr sz="2000" spc="-5" dirty="0">
                <a:latin typeface="Carlito"/>
                <a:cs typeface="Carlito"/>
              </a:rPr>
              <a:t>ptions:</a:t>
            </a:r>
            <a:endParaRPr sz="2000" dirty="0">
              <a:latin typeface="Carlito"/>
              <a:cs typeface="Carlito"/>
            </a:endParaRPr>
          </a:p>
          <a:p>
            <a:pPr marL="459739">
              <a:lnSpc>
                <a:spcPct val="100000"/>
              </a:lnSpc>
              <a:spcBef>
                <a:spcPts val="270"/>
              </a:spcBef>
              <a:tabLst>
                <a:tab pos="814069" algn="l"/>
                <a:tab pos="814705" algn="l"/>
              </a:tabLst>
            </a:pPr>
            <a:r>
              <a:rPr lang="en-US" sz="2000" spc="-15" dirty="0">
                <a:latin typeface="Carlito"/>
                <a:cs typeface="Carlito"/>
              </a:rPr>
              <a:t>1) </a:t>
            </a:r>
            <a:r>
              <a:rPr sz="2000" spc="-15" dirty="0">
                <a:latin typeface="Carlito"/>
                <a:cs typeface="Carlito"/>
              </a:rPr>
              <a:t>Deliver </a:t>
            </a:r>
            <a:r>
              <a:rPr sz="2000" spc="-5" dirty="0">
                <a:latin typeface="Carlito"/>
                <a:cs typeface="Carlito"/>
              </a:rPr>
              <a:t>the signal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thread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which th</a:t>
            </a:r>
            <a:r>
              <a:rPr lang="en-US" sz="2000" spc="-5" dirty="0">
                <a:latin typeface="Carlito"/>
                <a:cs typeface="Carlito"/>
              </a:rPr>
              <a:t>at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signal</a:t>
            </a:r>
            <a:r>
              <a:rPr sz="2000" spc="2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applies</a:t>
            </a:r>
            <a:endParaRPr sz="20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901700" lvl="1" indent="-444500">
              <a:lnSpc>
                <a:spcPct val="100000"/>
              </a:lnSpc>
              <a:spcBef>
                <a:spcPts val="260"/>
              </a:spcBef>
              <a:tabLst>
                <a:tab pos="1213485" algn="l"/>
                <a:tab pos="1214120" algn="l"/>
              </a:tabLst>
            </a:pPr>
            <a:r>
              <a:rPr lang="en-US" sz="2000" spc="-15" dirty="0">
                <a:latin typeface="Carlito"/>
                <a:cs typeface="Carlito"/>
              </a:rPr>
              <a:t>2) </a:t>
            </a:r>
            <a:r>
              <a:rPr sz="2000" spc="-15" dirty="0">
                <a:latin typeface="Carlito"/>
                <a:cs typeface="Carlito"/>
              </a:rPr>
              <a:t>Deliver </a:t>
            </a:r>
            <a:r>
              <a:rPr sz="2000" spc="-5" dirty="0">
                <a:latin typeface="Carlito"/>
                <a:cs typeface="Carlito"/>
              </a:rPr>
              <a:t>the signal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15" dirty="0">
                <a:solidFill>
                  <a:srgbClr val="FF0000"/>
                </a:solidFill>
                <a:latin typeface="Carlito"/>
                <a:cs typeface="Carlito"/>
              </a:rPr>
              <a:t>every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thread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in the</a:t>
            </a:r>
            <a:r>
              <a:rPr sz="2000" spc="17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process</a:t>
            </a:r>
            <a:endParaRPr lang="en-US" sz="2000" dirty="0">
              <a:latin typeface="Carlito"/>
              <a:cs typeface="Carlito"/>
            </a:endParaRPr>
          </a:p>
          <a:p>
            <a:pPr marL="459739">
              <a:lnSpc>
                <a:spcPct val="100000"/>
              </a:lnSpc>
              <a:spcBef>
                <a:spcPts val="265"/>
              </a:spcBef>
              <a:tabLst>
                <a:tab pos="814069" algn="l"/>
                <a:tab pos="814705" algn="l"/>
              </a:tabLst>
            </a:pPr>
            <a:r>
              <a:rPr lang="en-US" sz="2000" spc="-15" dirty="0">
                <a:latin typeface="Carlito"/>
                <a:cs typeface="Carlito"/>
              </a:rPr>
              <a:t>3) </a:t>
            </a:r>
            <a:r>
              <a:rPr sz="2000" spc="-15" dirty="0">
                <a:latin typeface="Carlito"/>
                <a:cs typeface="Carlito"/>
              </a:rPr>
              <a:t>Deliver </a:t>
            </a:r>
            <a:r>
              <a:rPr sz="2000" spc="-5" dirty="0">
                <a:latin typeface="Carlito"/>
                <a:cs typeface="Carlito"/>
              </a:rPr>
              <a:t>the signal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certain threads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in the</a:t>
            </a:r>
            <a:r>
              <a:rPr sz="2000" spc="20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process</a:t>
            </a:r>
            <a:endParaRPr sz="2000" dirty="0">
              <a:latin typeface="Carlito"/>
              <a:cs typeface="Carlito"/>
            </a:endParaRPr>
          </a:p>
          <a:p>
            <a:pPr marL="459739">
              <a:lnSpc>
                <a:spcPct val="100000"/>
              </a:lnSpc>
              <a:spcBef>
                <a:spcPts val="265"/>
              </a:spcBef>
              <a:tabLst>
                <a:tab pos="814069" algn="l"/>
                <a:tab pos="814705" algn="l"/>
              </a:tabLst>
            </a:pPr>
            <a:r>
              <a:rPr lang="en-US" sz="2000" spc="-10" dirty="0">
                <a:latin typeface="Carlito"/>
                <a:cs typeface="Carlito"/>
              </a:rPr>
              <a:t>4) </a:t>
            </a:r>
            <a:r>
              <a:rPr sz="2000" spc="-10" dirty="0">
                <a:latin typeface="Carlito"/>
                <a:cs typeface="Carlito"/>
              </a:rPr>
              <a:t>Assign </a:t>
            </a:r>
            <a:r>
              <a:rPr sz="2000" spc="-5" dirty="0"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specific thread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receive </a:t>
            </a:r>
            <a:r>
              <a:rPr sz="2000" spc="-5" dirty="0">
                <a:latin typeface="Carlito"/>
                <a:cs typeface="Carlito"/>
              </a:rPr>
              <a:t>all signals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32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process</a:t>
            </a:r>
            <a:endParaRPr lang="en-US" sz="2000" dirty="0">
              <a:latin typeface="Carlito"/>
              <a:cs typeface="Carlito"/>
            </a:endParaRPr>
          </a:p>
          <a:p>
            <a:pPr marL="458788" indent="-458788">
              <a:lnSpc>
                <a:spcPct val="10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814069" algn="l"/>
                <a:tab pos="814705" algn="l"/>
              </a:tabLst>
            </a:pPr>
            <a:r>
              <a:rPr lang="en-US" sz="2000" spc="-10" dirty="0">
                <a:latin typeface="Carlito"/>
                <a:cs typeface="Carlito"/>
              </a:rPr>
              <a:t>The best choice may depend on which specific signal is involved. </a:t>
            </a:r>
          </a:p>
          <a:p>
            <a:pPr marL="458788" indent="-458788">
              <a:lnSpc>
                <a:spcPct val="10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814069" algn="l"/>
                <a:tab pos="814705" algn="l"/>
              </a:tabLst>
            </a:pPr>
            <a:r>
              <a:rPr lang="en-US" sz="2000" spc="-10" dirty="0">
                <a:latin typeface="Carlito"/>
                <a:cs typeface="Carlito"/>
              </a:rPr>
              <a:t>UNIX allows individual threads to indicate which signals they are accepting &amp; which they are ignoring</a:t>
            </a:r>
          </a:p>
          <a:p>
            <a:pPr marL="458788" indent="-458788">
              <a:lnSpc>
                <a:spcPct val="10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814069" algn="l"/>
                <a:tab pos="814705" algn="l"/>
              </a:tabLst>
            </a:pPr>
            <a:r>
              <a:rPr lang="en-US" sz="2000" spc="-10" dirty="0">
                <a:latin typeface="Carlito"/>
                <a:cs typeface="Carlito"/>
              </a:rPr>
              <a:t>However, signals can be delivered to only one thread, which is generally the first thread that is accepting that particular signal</a:t>
            </a:r>
          </a:p>
          <a:p>
            <a:pPr marL="458788" indent="-458788">
              <a:lnSpc>
                <a:spcPct val="10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814069" algn="l"/>
                <a:tab pos="814705" algn="l"/>
              </a:tabLst>
            </a:pPr>
            <a:r>
              <a:rPr lang="en-US" sz="2000" spc="-10" dirty="0">
                <a:latin typeface="Carlito"/>
                <a:cs typeface="Carlito"/>
              </a:rPr>
              <a:t>UNIX provides 2 separate system calls </a:t>
            </a:r>
            <a:r>
              <a:rPr lang="en-US" sz="2000" b="1" spc="-10" dirty="0">
                <a:latin typeface="Carlito"/>
                <a:cs typeface="Carlito"/>
              </a:rPr>
              <a:t>kill(</a:t>
            </a:r>
            <a:r>
              <a:rPr lang="en-US" sz="2000" b="1" spc="-10" dirty="0" err="1">
                <a:latin typeface="Carlito"/>
                <a:cs typeface="Carlito"/>
              </a:rPr>
              <a:t>pid,signal</a:t>
            </a:r>
            <a:r>
              <a:rPr lang="en-US" sz="2000" b="1" spc="-10" dirty="0">
                <a:latin typeface="Carlito"/>
                <a:cs typeface="Carlito"/>
              </a:rPr>
              <a:t>) &amp; </a:t>
            </a:r>
            <a:r>
              <a:rPr lang="en-US" sz="2000" b="1" spc="-10" dirty="0" err="1">
                <a:latin typeface="Carlito"/>
                <a:cs typeface="Carlito"/>
              </a:rPr>
              <a:t>pthread_kill</a:t>
            </a:r>
            <a:r>
              <a:rPr lang="en-US" sz="2000" b="1" spc="-10" dirty="0">
                <a:latin typeface="Carlito"/>
                <a:cs typeface="Carlito"/>
              </a:rPr>
              <a:t>(</a:t>
            </a:r>
            <a:r>
              <a:rPr lang="en-US" sz="2000" b="1" spc="-10" dirty="0" err="1">
                <a:latin typeface="Carlito"/>
                <a:cs typeface="Carlito"/>
              </a:rPr>
              <a:t>tid,signal</a:t>
            </a:r>
            <a:r>
              <a:rPr lang="en-US" sz="2000" b="1" spc="-10" dirty="0">
                <a:latin typeface="Carlito"/>
                <a:cs typeface="Carlito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3812"/>
            <a:ext cx="1089660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000" spc="-15" dirty="0"/>
              <a:t>Threading</a:t>
            </a:r>
            <a:r>
              <a:rPr lang="en-US" sz="4000" spc="-5" dirty="0"/>
              <a:t> </a:t>
            </a:r>
            <a:r>
              <a:rPr lang="en-US" sz="4000" spc="-10" dirty="0"/>
              <a:t>Issues- 4) </a:t>
            </a:r>
            <a:r>
              <a:rPr sz="4000" spc="-10" dirty="0"/>
              <a:t>Thread</a:t>
            </a:r>
            <a:r>
              <a:rPr sz="4000" spc="-100" dirty="0"/>
              <a:t> </a:t>
            </a:r>
            <a:r>
              <a:rPr sz="4000" spc="-15" dirty="0"/>
              <a:t>Pools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69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660717"/>
            <a:ext cx="12192000" cy="3150863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25" dirty="0">
                <a:latin typeface="Caladea"/>
                <a:cs typeface="Caladea"/>
              </a:rPr>
              <a:t>Creating new threads </a:t>
            </a:r>
            <a:r>
              <a:rPr lang="en-US" sz="2000" spc="-25" dirty="0" err="1">
                <a:latin typeface="Caladea"/>
                <a:cs typeface="Caladea"/>
              </a:rPr>
              <a:t>everytime</a:t>
            </a:r>
            <a:r>
              <a:rPr lang="en-US" sz="2000" spc="-25" dirty="0">
                <a:latin typeface="Caladea"/>
                <a:cs typeface="Caladea"/>
              </a:rPr>
              <a:t> when it is needed &amp; deleting after it is done, can be inefficient &amp; can also lead to a (unlimited) number of threads being created. </a:t>
            </a:r>
          </a:p>
          <a:p>
            <a:pPr marL="241300" indent="-2286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25" dirty="0">
                <a:latin typeface="Caladea"/>
                <a:cs typeface="Caladea"/>
              </a:rPr>
              <a:t>An alternative solution is to create a number of threads when the process first starts &amp; put those threads into a Thread pool.</a:t>
            </a:r>
          </a:p>
          <a:p>
            <a:pPr marL="241300" indent="-2286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25" dirty="0">
                <a:latin typeface="Caladea"/>
                <a:cs typeface="Caladea"/>
              </a:rPr>
              <a:t>Threads are allocated from the pool as needed &amp; then returned back to the pool when no Longer needed.</a:t>
            </a:r>
          </a:p>
          <a:p>
            <a:pPr marL="241300" indent="-2286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25" dirty="0">
                <a:latin typeface="Caladea"/>
                <a:cs typeface="Caladea"/>
              </a:rPr>
              <a:t>When no threads are available in the pool, the process may have to wait until one becomes </a:t>
            </a:r>
            <a:r>
              <a:rPr lang="en-US" sz="2000" spc="-25" dirty="0" err="1">
                <a:latin typeface="Caladea"/>
                <a:cs typeface="Caladea"/>
              </a:rPr>
              <a:t>fre</a:t>
            </a:r>
            <a:r>
              <a:rPr lang="en-US" sz="2000" spc="-25" dirty="0">
                <a:latin typeface="Caladea"/>
                <a:cs typeface="Caladea"/>
              </a:rPr>
              <a:t>/available</a:t>
            </a:r>
          </a:p>
          <a:p>
            <a:pPr marL="241300" indent="-2286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25" dirty="0">
                <a:latin typeface="Caladea"/>
                <a:cs typeface="Caladea"/>
              </a:rPr>
              <a:t>Win32 provides thread pool through “</a:t>
            </a:r>
            <a:r>
              <a:rPr lang="en-US" sz="2000" b="1" spc="-25" dirty="0" err="1">
                <a:latin typeface="Caladea"/>
                <a:cs typeface="Caladea"/>
              </a:rPr>
              <a:t>PoolFunction</a:t>
            </a:r>
            <a:r>
              <a:rPr lang="en-US" sz="2000" b="1" spc="-25" dirty="0">
                <a:latin typeface="Caladea"/>
                <a:cs typeface="Caladea"/>
              </a:rPr>
              <a:t>()</a:t>
            </a:r>
            <a:r>
              <a:rPr lang="en-US" sz="2000" spc="-25" dirty="0">
                <a:latin typeface="Caladea"/>
                <a:cs typeface="Caladea"/>
              </a:rPr>
              <a:t>” function</a:t>
            </a:r>
          </a:p>
          <a:p>
            <a:pPr marL="241300" indent="-2286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25" dirty="0">
                <a:latin typeface="Caladea"/>
                <a:cs typeface="Caladea"/>
              </a:rPr>
              <a:t>Java provides through </a:t>
            </a:r>
            <a:r>
              <a:rPr lang="en-US" sz="2000" b="1" spc="-25" dirty="0" err="1">
                <a:latin typeface="Caladea"/>
                <a:cs typeface="Caladea"/>
              </a:rPr>
              <a:t>java.util.concurrent</a:t>
            </a:r>
            <a:r>
              <a:rPr lang="en-US" sz="2000" spc="-25" dirty="0">
                <a:latin typeface="Caladea"/>
                <a:cs typeface="Caladea"/>
              </a:rPr>
              <a:t> package</a:t>
            </a:r>
            <a:endParaRPr sz="2000" dirty="0">
              <a:latin typeface="Caladea"/>
              <a:cs typeface="Calad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4762"/>
            <a:ext cx="121079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spc="-15" dirty="0"/>
              <a:t>Threading</a:t>
            </a:r>
            <a:r>
              <a:rPr lang="en-US" sz="4400" spc="-5" dirty="0"/>
              <a:t> </a:t>
            </a:r>
            <a:r>
              <a:rPr lang="en-US" sz="4400" spc="-10" dirty="0"/>
              <a:t>Issues- 5) </a:t>
            </a:r>
            <a:r>
              <a:rPr sz="4400" spc="-10" dirty="0">
                <a:latin typeface="Carlito"/>
                <a:cs typeface="Carlito"/>
              </a:rPr>
              <a:t>Thread-specific</a:t>
            </a:r>
            <a:r>
              <a:rPr sz="4400" spc="-20" dirty="0">
                <a:latin typeface="Carlito"/>
                <a:cs typeface="Carlito"/>
              </a:rPr>
              <a:t> </a:t>
            </a:r>
            <a:r>
              <a:rPr sz="4400" spc="-30" dirty="0">
                <a:latin typeface="Carlito"/>
                <a:cs typeface="Carlito"/>
              </a:rPr>
              <a:t>Data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70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82511"/>
            <a:ext cx="12191999" cy="30348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A process may Contain one thread (single threaded) or multiple threads (multi threaded). 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Threads belonging to process shares the data of that process .Actually, this sharing of data is one benefit of multithreaded programming.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But in some situations, each thread might need it's own copy of Certain data. Such data is called </a:t>
            </a:r>
            <a:r>
              <a:rPr lang="en-US" sz="2000" b="1" spc="-10" dirty="0">
                <a:latin typeface="Carlito"/>
                <a:cs typeface="Carlito"/>
              </a:rPr>
              <a:t>thread specific data</a:t>
            </a:r>
            <a:r>
              <a:rPr lang="en-US" sz="2000" spc="-10" dirty="0">
                <a:latin typeface="Carlito"/>
                <a:cs typeface="Carlito"/>
              </a:rPr>
              <a:t>. 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If data is sharing, that cannot be modified by any thread.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 Sometimes, a thread needs some data &amp; later it has to perform some Calculation/processing on that. For this reason, thread needs its own copy of specific data.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4762"/>
            <a:ext cx="121079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spc="-15" dirty="0"/>
              <a:t>Threading</a:t>
            </a:r>
            <a:r>
              <a:rPr lang="en-US" sz="4400" spc="-5" dirty="0"/>
              <a:t> </a:t>
            </a:r>
            <a:r>
              <a:rPr lang="en-US" sz="4400" spc="-10" dirty="0"/>
              <a:t>Issues- 6) </a:t>
            </a:r>
            <a:r>
              <a:rPr lang="en-US" sz="4400" spc="-10" dirty="0">
                <a:latin typeface="Carlito"/>
              </a:rPr>
              <a:t>Scheduler activations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71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82511"/>
            <a:ext cx="12191999" cy="315022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Final issue to be considered in an multithreaded programming is the communication between the kernel &amp; the thread library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Actually, some interface is required between the user thread &amp; the kernel thread, particularly for many-to-many model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This interface is an data structure typically known as Light Weighted Process (LWP).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Generally, this interface is an virtual processor called Lightweight process</a:t>
            </a: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There is one-to-one correspondence between LWP’s &amp; kernel threads</a:t>
            </a: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40665" algn="l"/>
                <a:tab pos="241300" algn="l"/>
              </a:tabLst>
            </a:pPr>
            <a:endParaRPr sz="2000" dirty="0">
              <a:latin typeface="Carlito"/>
              <a:cs typeface="Carlito"/>
            </a:endParaRPr>
          </a:p>
        </p:txBody>
      </p:sp>
      <p:pic>
        <p:nvPicPr>
          <p:cNvPr id="5" name="Picture 2" descr="4_12_Lightweigh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686801" y="2928934"/>
            <a:ext cx="3505199" cy="383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8867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84323" y="2533853"/>
            <a:ext cx="808364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9. </a:t>
            </a:r>
            <a:r>
              <a:rPr spc="-5" dirty="0"/>
              <a:t>Basic Concepts </a:t>
            </a:r>
            <a:r>
              <a:rPr dirty="0"/>
              <a:t>of </a:t>
            </a:r>
            <a:r>
              <a:rPr spc="-5" dirty="0"/>
              <a:t>CPU</a:t>
            </a:r>
            <a:r>
              <a:rPr spc="-60" dirty="0"/>
              <a:t> </a:t>
            </a:r>
            <a:r>
              <a:rPr dirty="0"/>
              <a:t>Scheduling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/>
              <a:pPr marL="37465">
                <a:lnSpc>
                  <a:spcPts val="1595"/>
                </a:lnSpc>
              </a:pPr>
              <a:t>72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60289" y="1653438"/>
            <a:ext cx="374015" cy="253365"/>
          </a:xfrm>
          <a:custGeom>
            <a:avLst/>
            <a:gdLst/>
            <a:ahLst/>
            <a:cxnLst/>
            <a:rect l="l" t="t" r="r" b="b"/>
            <a:pathLst>
              <a:path w="374014" h="253364">
                <a:moveTo>
                  <a:pt x="328712" y="0"/>
                </a:moveTo>
                <a:lnTo>
                  <a:pt x="44775" y="0"/>
                </a:lnTo>
                <a:lnTo>
                  <a:pt x="19900" y="35345"/>
                </a:lnTo>
                <a:lnTo>
                  <a:pt x="4975" y="78933"/>
                </a:lnTo>
                <a:lnTo>
                  <a:pt x="0" y="126643"/>
                </a:lnTo>
                <a:lnTo>
                  <a:pt x="4975" y="174354"/>
                </a:lnTo>
                <a:lnTo>
                  <a:pt x="19900" y="217942"/>
                </a:lnTo>
                <a:lnTo>
                  <a:pt x="44775" y="253288"/>
                </a:lnTo>
                <a:lnTo>
                  <a:pt x="328712" y="253288"/>
                </a:lnTo>
                <a:lnTo>
                  <a:pt x="353587" y="217942"/>
                </a:lnTo>
                <a:lnTo>
                  <a:pt x="368512" y="174354"/>
                </a:lnTo>
                <a:lnTo>
                  <a:pt x="373487" y="126643"/>
                </a:lnTo>
                <a:lnTo>
                  <a:pt x="368512" y="78933"/>
                </a:lnTo>
                <a:lnTo>
                  <a:pt x="353587" y="35345"/>
                </a:lnTo>
                <a:lnTo>
                  <a:pt x="3287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173204"/>
            <a:ext cx="12192000" cy="16847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2412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rlito"/>
                <a:cs typeface="Carlito"/>
              </a:rPr>
              <a:t>Basic Concepts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/>
              <a:pPr marL="37465">
                <a:lnSpc>
                  <a:spcPts val="1595"/>
                </a:lnSpc>
              </a:pPr>
              <a:t>73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228599" y="443070"/>
            <a:ext cx="11884087" cy="513730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rlito"/>
                <a:cs typeface="Carlito"/>
              </a:rPr>
              <a:t>CPU </a:t>
            </a:r>
            <a:r>
              <a:rPr sz="2000" spc="-5" dirty="0">
                <a:latin typeface="Carlito"/>
                <a:cs typeface="Carlito"/>
              </a:rPr>
              <a:t>scheduling </a:t>
            </a:r>
            <a:r>
              <a:rPr lang="en-US" sz="2000" spc="-5" dirty="0">
                <a:latin typeface="Carlito"/>
                <a:cs typeface="Carlito"/>
              </a:rPr>
              <a:t>(Process Scheduling) </a:t>
            </a:r>
            <a:r>
              <a:rPr sz="2000" spc="-5" dirty="0">
                <a:latin typeface="Carlito"/>
                <a:cs typeface="Carlito"/>
              </a:rPr>
              <a:t>is the basis of </a:t>
            </a:r>
            <a:r>
              <a:rPr sz="2000" spc="-15" dirty="0">
                <a:latin typeface="Carlito"/>
                <a:cs typeface="Carlito"/>
              </a:rPr>
              <a:t>multiprogrammed</a:t>
            </a:r>
            <a:r>
              <a:rPr sz="2000" spc="19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OSs</a:t>
            </a:r>
            <a:endParaRPr sz="2000" dirty="0">
              <a:latin typeface="Carlito"/>
              <a:cs typeface="Carlito"/>
            </a:endParaRP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sz="2000" spc="-20" dirty="0">
                <a:latin typeface="Carlito"/>
                <a:cs typeface="Carlito"/>
              </a:rPr>
              <a:t>By </a:t>
            </a:r>
            <a:r>
              <a:rPr sz="2000" spc="-10" dirty="0">
                <a:latin typeface="Carlito"/>
                <a:cs typeface="Carlito"/>
              </a:rPr>
              <a:t>switching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lang="en-GB" sz="2000" spc="-10" dirty="0">
                <a:latin typeface="Carlito"/>
                <a:cs typeface="Carlito"/>
              </a:rPr>
              <a:t>CPU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among </a:t>
            </a:r>
            <a:r>
              <a:rPr sz="2000" spc="-15" dirty="0">
                <a:latin typeface="Carlito"/>
                <a:cs typeface="Carlito"/>
              </a:rPr>
              <a:t>processes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OS </a:t>
            </a:r>
            <a:r>
              <a:rPr sz="2000" spc="-15" dirty="0">
                <a:latin typeface="Carlito"/>
                <a:cs typeface="Carlito"/>
              </a:rPr>
              <a:t>can </a:t>
            </a:r>
            <a:r>
              <a:rPr sz="2000" spc="-25" dirty="0">
                <a:latin typeface="Carlito"/>
                <a:cs typeface="Carlito"/>
              </a:rPr>
              <a:t>make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computer</a:t>
            </a:r>
            <a:r>
              <a:rPr sz="2000" spc="34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more</a:t>
            </a:r>
            <a:r>
              <a:rPr lang="en-US" sz="2000" spc="-1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productive</a:t>
            </a:r>
            <a:endParaRPr lang="en-US" sz="2000" spc="-10" dirty="0">
              <a:latin typeface="Carlito"/>
              <a:cs typeface="Carlito"/>
            </a:endParaRP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In a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single-processor system</a:t>
            </a:r>
            <a:r>
              <a:rPr lang="en-US" sz="2000" dirty="0">
                <a:latin typeface="Carlito"/>
                <a:cs typeface="Carlito"/>
              </a:rPr>
              <a:t>, only one process can run at a time; all the other processes in the queue has to wait until the CPU is free.</a:t>
            </a: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The objective of multiprogramming is to have some process running at all times, to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maximize CPU utilization</a:t>
            </a:r>
            <a:r>
              <a:rPr lang="en-US" sz="2000" dirty="0">
                <a:latin typeface="Carlito"/>
                <a:cs typeface="Carlito"/>
              </a:rPr>
              <a:t>.</a:t>
            </a: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Assume, one process is running &amp; some other processes are waiting for CPU. CPU becomes free after completing the task of already running process. </a:t>
            </a: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Sometimes, running process may need some I/O resources to complete the task &amp; they request for I/O. But, at that time, I/O is busy. So, the running 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process go to wait state &amp; now CPU is idle</a:t>
            </a:r>
            <a:r>
              <a:rPr lang="en-US" sz="2000" dirty="0">
                <a:latin typeface="Carlito"/>
                <a:cs typeface="Carlito"/>
              </a:rPr>
              <a:t>.</a:t>
            </a: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Instead of making CPU idle, we can allocate CPU to one of the waiting processes which are waiting for CPU. </a:t>
            </a: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So, every time one process has to wait, another process can take over the use of CPU.</a:t>
            </a:r>
          </a:p>
          <a:p>
            <a:pPr marL="228600" lvl="1" indent="-22860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228600" algn="l"/>
              </a:tabLst>
            </a:pPr>
            <a:r>
              <a:rPr lang="en-US" sz="2000" dirty="0">
                <a:latin typeface="Carlito"/>
                <a:cs typeface="Carlito"/>
              </a:rPr>
              <a:t>Allocating CPU from one process to another is done by </a:t>
            </a:r>
            <a:r>
              <a:rPr lang="en-US" sz="2000" b="1" dirty="0">
                <a:latin typeface="Carlito"/>
                <a:cs typeface="Carlito"/>
              </a:rPr>
              <a:t>scheduler</a:t>
            </a:r>
            <a:r>
              <a:rPr lang="en-US" sz="2000" dirty="0">
                <a:latin typeface="Carlito"/>
                <a:cs typeface="Carlito"/>
              </a:rPr>
              <a:t> &amp; the procedure is called </a:t>
            </a:r>
            <a:r>
              <a:rPr lang="en-US" sz="2000" b="1" dirty="0">
                <a:solidFill>
                  <a:srgbClr val="FF0000"/>
                </a:solidFill>
                <a:latin typeface="Carlito"/>
                <a:cs typeface="Carlito"/>
              </a:rPr>
              <a:t>process scheduling</a:t>
            </a:r>
            <a:r>
              <a:rPr lang="en-US" sz="2000" dirty="0">
                <a:solidFill>
                  <a:srgbClr val="FF0000"/>
                </a:solidFill>
                <a:latin typeface="Carlito"/>
                <a:cs typeface="Carlito"/>
              </a:rPr>
              <a:t>.</a:t>
            </a:r>
            <a:endParaRPr sz="20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469900" marR="370840" lvl="1">
              <a:lnSpc>
                <a:spcPts val="2160"/>
              </a:lnSpc>
              <a:spcBef>
                <a:spcPts val="535"/>
              </a:spcBef>
              <a:tabLst>
                <a:tab pos="697865" algn="l"/>
                <a:tab pos="698500" algn="l"/>
              </a:tabLst>
            </a:pPr>
            <a:endParaRPr sz="2000" dirty="0">
              <a:solidFill>
                <a:srgbClr val="FF0000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9050"/>
            <a:ext cx="84639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Carlito"/>
                <a:cs typeface="Carlito"/>
              </a:rPr>
              <a:t>CPU/IO </a:t>
            </a:r>
            <a:r>
              <a:rPr spc="-25" dirty="0">
                <a:latin typeface="Carlito"/>
                <a:cs typeface="Carlito"/>
              </a:rPr>
              <a:t>Burst</a:t>
            </a:r>
            <a:r>
              <a:rPr spc="-45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Cycle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/>
              <a:pPr marL="37465">
                <a:lnSpc>
                  <a:spcPts val="1595"/>
                </a:lnSpc>
              </a:pPr>
              <a:t>74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0" y="585231"/>
            <a:ext cx="12107925" cy="25006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460375" indent="-44830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400" spc="-5" dirty="0">
                <a:latin typeface="Carlito"/>
                <a:cs typeface="Carlito"/>
              </a:rPr>
              <a:t>Almost every process needs CPU for some time to complete their calculations and /or computations.</a:t>
            </a:r>
          </a:p>
          <a:p>
            <a:pPr marL="460375" indent="-44830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400" spc="-5" dirty="0">
                <a:latin typeface="Carlito"/>
                <a:cs typeface="Carlito"/>
              </a:rPr>
              <a:t>Meanwhile, every process needs I/O services in order to make some data transfer.</a:t>
            </a:r>
          </a:p>
          <a:p>
            <a:pPr marL="460375" indent="-44830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400" spc="-5" dirty="0">
                <a:latin typeface="Carlito"/>
                <a:cs typeface="Carlito"/>
              </a:rPr>
              <a:t>When process is using </a:t>
            </a:r>
            <a:r>
              <a:rPr lang="en-US" sz="2400" spc="-5" dirty="0">
                <a:solidFill>
                  <a:srgbClr val="FF0000"/>
                </a:solidFill>
                <a:latin typeface="Carlito"/>
                <a:cs typeface="Carlito"/>
              </a:rPr>
              <a:t>CPU time</a:t>
            </a:r>
            <a:r>
              <a:rPr lang="en-US" sz="2400" spc="-5" dirty="0">
                <a:latin typeface="Carlito"/>
                <a:cs typeface="Carlito"/>
              </a:rPr>
              <a:t>, then it is referred as </a:t>
            </a:r>
            <a:r>
              <a:rPr lang="en-US" sz="2400" b="1" spc="-5" dirty="0">
                <a:latin typeface="Carlito"/>
                <a:cs typeface="Carlito"/>
              </a:rPr>
              <a:t>CPU-burst</a:t>
            </a:r>
          </a:p>
          <a:p>
            <a:pPr marL="460375" indent="-44830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400" spc="-5" dirty="0">
                <a:latin typeface="Carlito"/>
                <a:cs typeface="Carlito"/>
              </a:rPr>
              <a:t>When process is using </a:t>
            </a:r>
            <a:r>
              <a:rPr lang="en-US" sz="2400" spc="-5" dirty="0">
                <a:solidFill>
                  <a:srgbClr val="FF0000"/>
                </a:solidFill>
                <a:latin typeface="Carlito"/>
                <a:cs typeface="Carlito"/>
              </a:rPr>
              <a:t>I/O</a:t>
            </a:r>
            <a:r>
              <a:rPr lang="en-US" sz="2400" spc="-5" dirty="0">
                <a:latin typeface="Carlito"/>
                <a:cs typeface="Carlito"/>
              </a:rPr>
              <a:t>, then it is referred as </a:t>
            </a:r>
            <a:r>
              <a:rPr lang="en-US" sz="2400" b="1" spc="-5" dirty="0">
                <a:latin typeface="Carlito"/>
                <a:cs typeface="Carlito"/>
              </a:rPr>
              <a:t>I/O-burst</a:t>
            </a:r>
          </a:p>
          <a:p>
            <a:pPr marL="460375" indent="-44830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400" spc="-5" dirty="0">
                <a:latin typeface="Carlito"/>
                <a:cs typeface="Carlito"/>
              </a:rPr>
              <a:t>Processes alternate between these 2 states.</a:t>
            </a:r>
          </a:p>
          <a:p>
            <a:pPr marL="460375" indent="-448309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400" spc="-5" dirty="0">
                <a:latin typeface="Carlito"/>
                <a:cs typeface="Carlito"/>
              </a:rPr>
              <a:t>Always, process begins &amp; ends with CPU burst</a:t>
            </a:r>
          </a:p>
        </p:txBody>
      </p:sp>
      <p:grpSp>
        <p:nvGrpSpPr>
          <p:cNvPr id="5" name="object 4"/>
          <p:cNvGrpSpPr/>
          <p:nvPr/>
        </p:nvGrpSpPr>
        <p:grpSpPr>
          <a:xfrm>
            <a:off x="8171242" y="2362200"/>
            <a:ext cx="4020758" cy="4495800"/>
            <a:chOff x="3374135" y="1121410"/>
            <a:chExt cx="2697480" cy="4880610"/>
          </a:xfrm>
        </p:grpSpPr>
        <p:sp>
          <p:nvSpPr>
            <p:cNvPr id="6" name="object 5"/>
            <p:cNvSpPr/>
            <p:nvPr/>
          </p:nvSpPr>
          <p:spPr>
            <a:xfrm>
              <a:off x="3413759" y="1161288"/>
              <a:ext cx="2618232" cy="4800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/>
            <p:cNvSpPr/>
            <p:nvPr/>
          </p:nvSpPr>
          <p:spPr>
            <a:xfrm>
              <a:off x="3374136" y="1121409"/>
              <a:ext cx="2697480" cy="4880610"/>
            </a:xfrm>
            <a:custGeom>
              <a:avLst/>
              <a:gdLst/>
              <a:ahLst/>
              <a:cxnLst/>
              <a:rect l="l" t="t" r="r" b="b"/>
              <a:pathLst>
                <a:path w="2697479" h="4880610">
                  <a:moveTo>
                    <a:pt x="2671064" y="26670"/>
                  </a:moveTo>
                  <a:lnTo>
                    <a:pt x="26416" y="26670"/>
                  </a:lnTo>
                  <a:lnTo>
                    <a:pt x="26416" y="39370"/>
                  </a:lnTo>
                  <a:lnTo>
                    <a:pt x="26416" y="4839970"/>
                  </a:lnTo>
                  <a:lnTo>
                    <a:pt x="26416" y="4853940"/>
                  </a:lnTo>
                  <a:lnTo>
                    <a:pt x="2671064" y="4853940"/>
                  </a:lnTo>
                  <a:lnTo>
                    <a:pt x="2671064" y="4840478"/>
                  </a:lnTo>
                  <a:lnTo>
                    <a:pt x="2671064" y="4839970"/>
                  </a:lnTo>
                  <a:lnTo>
                    <a:pt x="2671064" y="39878"/>
                  </a:lnTo>
                  <a:lnTo>
                    <a:pt x="2657856" y="39878"/>
                  </a:lnTo>
                  <a:lnTo>
                    <a:pt x="2657856" y="4839970"/>
                  </a:lnTo>
                  <a:lnTo>
                    <a:pt x="39624" y="4839970"/>
                  </a:lnTo>
                  <a:lnTo>
                    <a:pt x="39624" y="39370"/>
                  </a:lnTo>
                  <a:lnTo>
                    <a:pt x="2671064" y="39370"/>
                  </a:lnTo>
                  <a:lnTo>
                    <a:pt x="2671064" y="26670"/>
                  </a:lnTo>
                  <a:close/>
                </a:path>
                <a:path w="2697479" h="4880610">
                  <a:moveTo>
                    <a:pt x="2697480" y="0"/>
                  </a:moveTo>
                  <a:lnTo>
                    <a:pt x="2684272" y="0"/>
                  </a:lnTo>
                  <a:lnTo>
                    <a:pt x="2684272" y="13970"/>
                  </a:lnTo>
                  <a:lnTo>
                    <a:pt x="2684272" y="4866640"/>
                  </a:lnTo>
                  <a:lnTo>
                    <a:pt x="13208" y="4866640"/>
                  </a:lnTo>
                  <a:lnTo>
                    <a:pt x="13208" y="13970"/>
                  </a:lnTo>
                  <a:lnTo>
                    <a:pt x="2684272" y="13970"/>
                  </a:lnTo>
                  <a:lnTo>
                    <a:pt x="2684272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4866640"/>
                  </a:lnTo>
                  <a:lnTo>
                    <a:pt x="0" y="4880610"/>
                  </a:lnTo>
                  <a:lnTo>
                    <a:pt x="2697480" y="4880610"/>
                  </a:lnTo>
                  <a:lnTo>
                    <a:pt x="2697480" y="4866894"/>
                  </a:lnTo>
                  <a:lnTo>
                    <a:pt x="2697480" y="4866640"/>
                  </a:lnTo>
                  <a:lnTo>
                    <a:pt x="2697480" y="13970"/>
                  </a:lnTo>
                  <a:lnTo>
                    <a:pt x="2697480" y="13462"/>
                  </a:lnTo>
                  <a:lnTo>
                    <a:pt x="269748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337"/>
            <a:ext cx="773760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CPU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Scheduler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75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0959" y="476407"/>
            <a:ext cx="11726965" cy="46410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Whenever </a:t>
            </a: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CPU </a:t>
            </a:r>
            <a:r>
              <a:rPr sz="2000" spc="-15" dirty="0">
                <a:latin typeface="Carlito"/>
                <a:cs typeface="Carlito"/>
              </a:rPr>
              <a:t>becomes </a:t>
            </a:r>
            <a:r>
              <a:rPr sz="2000" spc="-5" dirty="0">
                <a:latin typeface="Carlito"/>
                <a:cs typeface="Carlito"/>
              </a:rPr>
              <a:t>idle, </a:t>
            </a:r>
            <a:r>
              <a:rPr lang="en-US" sz="2000" spc="-5" dirty="0">
                <a:latin typeface="Carlito"/>
                <a:cs typeface="Carlito"/>
              </a:rPr>
              <a:t>it is the job of CPU scheduler to select the next process to be executed, which are in the ready queue</a:t>
            </a:r>
            <a:endParaRPr lang="en-US" sz="2000" dirty="0">
              <a:latin typeface="Carlito"/>
              <a:cs typeface="Carlito"/>
            </a:endParaRPr>
          </a:p>
          <a:p>
            <a:pPr marL="241300" indent="-228600">
              <a:lnSpc>
                <a:spcPts val="2280"/>
              </a:lnSpc>
              <a:spcBef>
                <a:spcPts val="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rlito"/>
                <a:cs typeface="Carlito"/>
              </a:rPr>
              <a:t>CPU </a:t>
            </a:r>
            <a:r>
              <a:rPr sz="2000" b="1" spc="-5" dirty="0">
                <a:latin typeface="Carlito"/>
                <a:cs typeface="Carlito"/>
              </a:rPr>
              <a:t>scheduler </a:t>
            </a:r>
            <a:r>
              <a:rPr sz="2000" b="1" dirty="0">
                <a:latin typeface="Carlito"/>
                <a:cs typeface="Carlito"/>
              </a:rPr>
              <a:t>(or </a:t>
            </a:r>
            <a:r>
              <a:rPr sz="2000" b="1" spc="-5" dirty="0">
                <a:latin typeface="Carlito"/>
                <a:cs typeface="Carlito"/>
              </a:rPr>
              <a:t>short </a:t>
            </a:r>
            <a:r>
              <a:rPr sz="2000" b="1" spc="-10" dirty="0">
                <a:latin typeface="Carlito"/>
                <a:cs typeface="Carlito"/>
              </a:rPr>
              <a:t>term </a:t>
            </a:r>
            <a:r>
              <a:rPr sz="2000" b="1" spc="-5" dirty="0">
                <a:latin typeface="Carlito"/>
                <a:cs typeface="Carlito"/>
              </a:rPr>
              <a:t>scheduler) </a:t>
            </a:r>
            <a:r>
              <a:rPr sz="2000" spc="-10" dirty="0">
                <a:latin typeface="Carlito"/>
                <a:cs typeface="Carlito"/>
              </a:rPr>
              <a:t>selects </a:t>
            </a:r>
            <a:r>
              <a:rPr sz="2000" spc="-15" dirty="0">
                <a:latin typeface="Carlito"/>
                <a:cs typeface="Carlito"/>
              </a:rPr>
              <a:t>from </a:t>
            </a:r>
            <a:r>
              <a:rPr sz="2000" spc="-5" dirty="0">
                <a:latin typeface="Carlito"/>
                <a:cs typeface="Carlito"/>
              </a:rPr>
              <a:t>among the</a:t>
            </a:r>
            <a:r>
              <a:rPr sz="2000" spc="23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processes</a:t>
            </a:r>
            <a:r>
              <a:rPr lang="en-US" sz="2000" spc="-15" dirty="0"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in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memory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spc="-10" dirty="0">
                <a:latin typeface="Carlito"/>
                <a:cs typeface="Carlito"/>
              </a:rPr>
              <a:t>are ready to </a:t>
            </a:r>
            <a:r>
              <a:rPr sz="2000" spc="-20" dirty="0">
                <a:latin typeface="Carlito"/>
                <a:cs typeface="Carlito"/>
              </a:rPr>
              <a:t>execute,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15" dirty="0">
                <a:latin typeface="Carlito"/>
                <a:cs typeface="Carlito"/>
              </a:rPr>
              <a:t>allocates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CPU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one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26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them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ts val="228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rlito"/>
                <a:cs typeface="Carlito"/>
              </a:rPr>
              <a:t>Conceptually all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processes </a:t>
            </a:r>
            <a:r>
              <a:rPr sz="2000" spc="-5" dirty="0">
                <a:latin typeface="Carlito"/>
                <a:cs typeface="Carlito"/>
              </a:rPr>
              <a:t>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ready </a:t>
            </a:r>
            <a:r>
              <a:rPr sz="2000" spc="-5" dirty="0">
                <a:latin typeface="Carlito"/>
                <a:cs typeface="Carlito"/>
              </a:rPr>
              <a:t>queue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lined up </a:t>
            </a:r>
            <a:r>
              <a:rPr sz="2000" spc="-10" dirty="0">
                <a:latin typeface="Carlito"/>
                <a:cs typeface="Carlito"/>
              </a:rPr>
              <a:t>waiting </a:t>
            </a:r>
            <a:r>
              <a:rPr sz="2000" spc="-25" dirty="0">
                <a:latin typeface="Carlito"/>
                <a:cs typeface="Carlito"/>
              </a:rPr>
              <a:t>for</a:t>
            </a:r>
            <a:r>
              <a:rPr sz="2000" spc="24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a</a:t>
            </a:r>
            <a:r>
              <a:rPr lang="en-US" sz="2000" spc="-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chance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run on the</a:t>
            </a:r>
            <a:r>
              <a:rPr sz="2000" spc="2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CPU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20" dirty="0">
                <a:latin typeface="Carlito"/>
                <a:cs typeface="Carlito"/>
              </a:rPr>
              <a:t>Records </a:t>
            </a:r>
            <a:r>
              <a:rPr sz="2000" spc="-5" dirty="0">
                <a:latin typeface="Carlito"/>
                <a:cs typeface="Carlito"/>
              </a:rPr>
              <a:t>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queue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15" dirty="0">
                <a:latin typeface="Carlito"/>
                <a:cs typeface="Carlito"/>
              </a:rPr>
              <a:t>generally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PCB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114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processes</a:t>
            </a:r>
            <a:endParaRPr lang="en-US" sz="2000" b="1" spc="-15" dirty="0">
              <a:latin typeface="Carlito"/>
              <a:cs typeface="Carlito"/>
            </a:endParaRPr>
          </a:p>
          <a:p>
            <a:pPr marL="228600" lvl="1" indent="-228600">
              <a:lnSpc>
                <a:spcPct val="10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697865" algn="l"/>
                <a:tab pos="698500" algn="l"/>
              </a:tabLst>
            </a:pPr>
            <a:r>
              <a:rPr lang="en-US" sz="2000" b="1" spc="-15" dirty="0">
                <a:latin typeface="Carlito"/>
                <a:cs typeface="Carlito"/>
              </a:rPr>
              <a:t>Pre-emptive scheduling</a:t>
            </a:r>
          </a:p>
          <a:p>
            <a:pPr marL="0" lvl="1">
              <a:lnSpc>
                <a:spcPct val="100000"/>
              </a:lnSpc>
              <a:spcBef>
                <a:spcPts val="265"/>
              </a:spcBef>
              <a:tabLst>
                <a:tab pos="269875" algn="l"/>
                <a:tab pos="698500" algn="l"/>
              </a:tabLst>
            </a:pPr>
            <a:r>
              <a:rPr lang="en-US" sz="2000" b="1" spc="-15" dirty="0">
                <a:latin typeface="Carlito"/>
                <a:cs typeface="Carlito"/>
              </a:rPr>
              <a:t>	</a:t>
            </a:r>
            <a:r>
              <a:rPr lang="en-US" sz="2000" spc="-15" dirty="0">
                <a:latin typeface="Carlito"/>
                <a:cs typeface="Carlito"/>
              </a:rPr>
              <a:t>CPU scheduler selects the next process in 4 situations</a:t>
            </a:r>
          </a:p>
          <a:p>
            <a:pPr marL="355600" lvl="1" indent="-173038">
              <a:lnSpc>
                <a:spcPct val="100000"/>
              </a:lnSpc>
              <a:spcBef>
                <a:spcPts val="265"/>
              </a:spcBef>
              <a:tabLst>
                <a:tab pos="269875" algn="l"/>
                <a:tab pos="698500" algn="l"/>
              </a:tabLst>
            </a:pPr>
            <a:r>
              <a:rPr lang="en-US" sz="2000" b="1" spc="-15" dirty="0">
                <a:latin typeface="Carlito"/>
                <a:cs typeface="Carlito"/>
              </a:rPr>
              <a:t>	</a:t>
            </a:r>
            <a:r>
              <a:rPr lang="en-US" sz="2000" spc="-15" dirty="0">
                <a:latin typeface="Carlito"/>
                <a:cs typeface="Carlito"/>
              </a:rPr>
              <a:t>1) when a process switches from the running state to the waiting rate (such as, for an I/O request or invocation of wait() system call) </a:t>
            </a:r>
            <a:r>
              <a:rPr lang="en-US" sz="2000" spc="-15" dirty="0" smtClean="0">
                <a:latin typeface="Carlito"/>
                <a:cs typeface="Carlito"/>
              </a:rPr>
              <a:t>-NPE</a:t>
            </a:r>
            <a:endParaRPr lang="en-US" sz="2000" spc="-15" dirty="0">
              <a:latin typeface="Carlito"/>
              <a:cs typeface="Carlito"/>
            </a:endParaRPr>
          </a:p>
          <a:p>
            <a:pPr marL="0" lvl="1">
              <a:lnSpc>
                <a:spcPct val="100000"/>
              </a:lnSpc>
              <a:spcBef>
                <a:spcPts val="265"/>
              </a:spcBef>
              <a:tabLst>
                <a:tab pos="182563" algn="l"/>
                <a:tab pos="269875" algn="l"/>
              </a:tabLst>
            </a:pPr>
            <a:r>
              <a:rPr lang="en-US" sz="2000" spc="-15" dirty="0">
                <a:latin typeface="Carlito"/>
                <a:cs typeface="Carlito"/>
              </a:rPr>
              <a:t>    </a:t>
            </a:r>
            <a:r>
              <a:rPr lang="en-US" sz="2000" spc="-15" dirty="0" smtClean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r>
              <a:rPr lang="en-US" sz="2000" spc="-15" dirty="0">
                <a:solidFill>
                  <a:srgbClr val="FF0000"/>
                </a:solidFill>
                <a:latin typeface="Carlito"/>
                <a:cs typeface="Carlito"/>
              </a:rPr>
              <a:t>) when a process switches from running state to the ready state (for ex, in response to an interrupt).  </a:t>
            </a:r>
          </a:p>
          <a:p>
            <a:pPr marL="269875" lvl="1" indent="-269875">
              <a:lnSpc>
                <a:spcPct val="100000"/>
              </a:lnSpc>
              <a:spcBef>
                <a:spcPts val="265"/>
              </a:spcBef>
              <a:tabLst>
                <a:tab pos="539750" algn="l"/>
                <a:tab pos="698500" algn="l"/>
              </a:tabLst>
            </a:pPr>
            <a:r>
              <a:rPr lang="en-US" sz="2000" spc="-15" dirty="0">
                <a:solidFill>
                  <a:srgbClr val="FF0000"/>
                </a:solidFill>
                <a:latin typeface="Carlito"/>
                <a:cs typeface="Carlito"/>
              </a:rPr>
              <a:t>    </a:t>
            </a:r>
            <a:r>
              <a:rPr lang="en-US" sz="2000" spc="-15" dirty="0" smtClean="0">
                <a:solidFill>
                  <a:srgbClr val="FF0000"/>
                </a:solidFill>
                <a:latin typeface="Carlito"/>
                <a:cs typeface="Carlito"/>
              </a:rPr>
              <a:t>3) </a:t>
            </a:r>
            <a:r>
              <a:rPr lang="en-US" sz="2000" spc="-15" dirty="0">
                <a:solidFill>
                  <a:srgbClr val="FF0000"/>
                </a:solidFill>
                <a:latin typeface="Carlito"/>
                <a:cs typeface="Carlito"/>
              </a:rPr>
              <a:t>When a process switches from waiting state to ready state (say, at Completion of I/0 or a return from </a:t>
            </a:r>
            <a:r>
              <a:rPr lang="en-US" sz="2000" spc="-15" dirty="0" smtClean="0">
                <a:solidFill>
                  <a:srgbClr val="FF0000"/>
                </a:solidFill>
                <a:latin typeface="Carlito"/>
                <a:cs typeface="Carlito"/>
              </a:rPr>
              <a:t>  wait</a:t>
            </a:r>
            <a:r>
              <a:rPr lang="en-US" sz="2000" spc="-15" dirty="0">
                <a:solidFill>
                  <a:srgbClr val="FF0000"/>
                </a:solidFill>
                <a:latin typeface="Carlito"/>
                <a:cs typeface="Carlito"/>
              </a:rPr>
              <a:t>()</a:t>
            </a:r>
          </a:p>
          <a:p>
            <a:pPr marL="0" lvl="1">
              <a:lnSpc>
                <a:spcPct val="100000"/>
              </a:lnSpc>
              <a:spcBef>
                <a:spcPts val="265"/>
              </a:spcBef>
              <a:tabLst>
                <a:tab pos="269875" algn="l"/>
                <a:tab pos="698500" algn="l"/>
              </a:tabLst>
            </a:pPr>
            <a:r>
              <a:rPr lang="en-US" sz="2000" spc="-15" dirty="0">
                <a:latin typeface="Carlito"/>
                <a:cs typeface="Carlito"/>
              </a:rPr>
              <a:t>    </a:t>
            </a:r>
            <a:r>
              <a:rPr lang="en-US" sz="2000" spc="-15" dirty="0" smtClean="0">
                <a:latin typeface="Carlito"/>
                <a:cs typeface="Carlito"/>
              </a:rPr>
              <a:t>4</a:t>
            </a:r>
            <a:r>
              <a:rPr lang="en-US" sz="2000" spc="-15" dirty="0">
                <a:latin typeface="Carlito"/>
                <a:cs typeface="Carlito"/>
              </a:rPr>
              <a:t>) when a process </a:t>
            </a:r>
            <a:r>
              <a:rPr lang="en-US" sz="2000" spc="-15" dirty="0" smtClean="0">
                <a:latin typeface="Carlito"/>
                <a:cs typeface="Carlito"/>
              </a:rPr>
              <a:t>terminates - NPE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337"/>
            <a:ext cx="773760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CPU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Scheduler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76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1" y="476407"/>
            <a:ext cx="12192001" cy="5153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spc="-15" dirty="0">
                <a:latin typeface="Carlito"/>
                <a:cs typeface="Carlito"/>
              </a:rPr>
              <a:t>For situations 1 &amp; 4, there is no choice, CPU scheduler has to select new process 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spc="-15" dirty="0">
                <a:latin typeface="Carlito"/>
                <a:cs typeface="Carlito"/>
              </a:rPr>
              <a:t>For situations 2 &amp; 3, there is a choice - either continue running the current process or select a new process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spc="-15" dirty="0">
                <a:latin typeface="Carlito"/>
                <a:cs typeface="Carlito"/>
              </a:rPr>
              <a:t>If scheduling takes place only under situations 1 &amp; 4, then the scheduling is called </a:t>
            </a:r>
            <a:r>
              <a:rPr lang="en-US" sz="2000" b="1" spc="-15" dirty="0">
                <a:latin typeface="Carlito"/>
                <a:cs typeface="Carlito"/>
              </a:rPr>
              <a:t>non-preemptive scheduling </a:t>
            </a:r>
            <a:r>
              <a:rPr lang="en-US" sz="2000" spc="-15" dirty="0">
                <a:latin typeface="Carlito"/>
                <a:cs typeface="Carlito"/>
              </a:rPr>
              <a:t>or also called as </a:t>
            </a:r>
            <a:r>
              <a:rPr lang="en-US" sz="2000" b="1" spc="-15" dirty="0">
                <a:latin typeface="Carlito"/>
                <a:cs typeface="Carlito"/>
              </a:rPr>
              <a:t>co-operative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In non-preemptive scheduling, once a process starts running, it keeps running until it either voluntarily blocks or until it finishes.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If scheduling takes place only under situations 2 &amp; 3, then scheduling is called </a:t>
            </a:r>
            <a:r>
              <a:rPr lang="en-US" sz="2000" b="1" dirty="0">
                <a:latin typeface="Carlito"/>
                <a:cs typeface="Carlito"/>
              </a:rPr>
              <a:t>preemptive scheduling</a:t>
            </a:r>
            <a:r>
              <a:rPr lang="en-US" sz="2000" dirty="0">
                <a:latin typeface="Carlito"/>
                <a:cs typeface="Carlito"/>
              </a:rPr>
              <a:t>.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Preemptive scheduling is only possible on the hardware that supports a timer interrupt.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In preemptive scheduling, Currently running process is (stopped or) put it into the waiting state &amp; new process is selected if that new process is having highest priority than the currently running. 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dirty="0" err="1">
                <a:latin typeface="Carlito"/>
                <a:cs typeface="Carlito"/>
              </a:rPr>
              <a:t>upto</a:t>
            </a:r>
            <a:r>
              <a:rPr lang="en-US" sz="2000" dirty="0">
                <a:latin typeface="Carlito"/>
                <a:cs typeface="Carlito"/>
              </a:rPr>
              <a:t> windows 3.x, non-preemptive is used &amp; from windows 95 preemptive is using. </a:t>
            </a:r>
          </a:p>
          <a:p>
            <a:pPr marL="355600" lvl="1" indent="-342900">
              <a:lnSpc>
                <a:spcPts val="228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But, there are some few problems / disadvantages associated with preemptive, they are</a:t>
            </a:r>
          </a:p>
          <a:p>
            <a:pPr marL="469900" lvl="2">
              <a:lnSpc>
                <a:spcPts val="2280"/>
              </a:lnSpc>
              <a:spcBef>
                <a:spcPts val="90"/>
              </a:spcBef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*) when 2 process are sharing the data &amp; one process is updating that data &amp; assume it get preempted before updating. Then when another process access this shared data, it will get inconsistent data.</a:t>
            </a:r>
          </a:p>
          <a:p>
            <a:pPr marL="469900" lvl="2">
              <a:lnSpc>
                <a:spcPts val="2280"/>
              </a:lnSpc>
              <a:spcBef>
                <a:spcPts val="90"/>
              </a:spcBef>
              <a:tabLst>
                <a:tab pos="240665" algn="l"/>
                <a:tab pos="241300" algn="l"/>
              </a:tabLst>
            </a:pPr>
            <a:r>
              <a:rPr lang="en-US" sz="2000" dirty="0">
                <a:latin typeface="Carlito"/>
                <a:cs typeface="Carlito"/>
              </a:rPr>
              <a:t>*) preemption affects the design of OS Kernel. When OS Kernel is executing (say implementing / servicing system call) on behalf of process &amp; that process is preempted, then it affects OS kernel.</a:t>
            </a:r>
          </a:p>
          <a:p>
            <a:pPr marL="241300" indent="-228600">
              <a:lnSpc>
                <a:spcPts val="2280"/>
              </a:lnSpc>
              <a:spcBef>
                <a:spcPts val="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192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762"/>
            <a:ext cx="4283837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>
                <a:latin typeface="Carlito"/>
                <a:cs typeface="Carlito"/>
              </a:rPr>
              <a:t>Dispatcher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77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00087"/>
            <a:ext cx="12192000" cy="3854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arlito"/>
                <a:cs typeface="Carlito"/>
              </a:rPr>
              <a:t>Dispatcher</a:t>
            </a:r>
            <a:r>
              <a:rPr lang="en-US" sz="2400" b="1" spc="-5" dirty="0">
                <a:latin typeface="Carlito"/>
                <a:cs typeface="Carlito"/>
              </a:rPr>
              <a:t> </a:t>
            </a:r>
            <a:r>
              <a:rPr lang="en-US" sz="2400" spc="-5" dirty="0">
                <a:latin typeface="Carlito"/>
                <a:cs typeface="Carlito"/>
              </a:rPr>
              <a:t>is the </a:t>
            </a:r>
            <a:r>
              <a:rPr sz="2400" dirty="0">
                <a:latin typeface="Carlito"/>
                <a:cs typeface="Carlito"/>
              </a:rPr>
              <a:t>module </a:t>
            </a:r>
            <a:r>
              <a:rPr lang="en-US" sz="2400" dirty="0">
                <a:latin typeface="Carlito"/>
                <a:cs typeface="Carlito"/>
              </a:rPr>
              <a:t>that allocates CPU </a:t>
            </a:r>
            <a:r>
              <a:rPr sz="2400" spc="-10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</a:t>
            </a:r>
            <a:r>
              <a:rPr lang="en-US"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selected </a:t>
            </a:r>
            <a:r>
              <a:rPr sz="2400" dirty="0">
                <a:latin typeface="Carlito"/>
                <a:cs typeface="Carlito"/>
              </a:rPr>
              <a:t>by the short-term scheduler</a:t>
            </a:r>
            <a:r>
              <a:rPr lang="en-US" sz="2400" dirty="0">
                <a:latin typeface="Carlito"/>
                <a:cs typeface="Carlito"/>
              </a:rPr>
              <a:t>. T</a:t>
            </a:r>
            <a:r>
              <a:rPr sz="2400" dirty="0">
                <a:latin typeface="Carlito"/>
                <a:cs typeface="Carlito"/>
              </a:rPr>
              <a:t>his</a:t>
            </a:r>
            <a:r>
              <a:rPr sz="2400" spc="-2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involves:</a:t>
            </a:r>
            <a:endParaRPr sz="24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switching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context</a:t>
            </a:r>
            <a:endParaRPr sz="24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switching </a:t>
            </a:r>
            <a:r>
              <a:rPr sz="2400" spc="-1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</a:t>
            </a:r>
          </a:p>
          <a:p>
            <a:pPr marL="698500" marR="506730" lvl="1" indent="-228600">
              <a:lnSpc>
                <a:spcPts val="2590"/>
              </a:lnSpc>
              <a:spcBef>
                <a:spcPts val="55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jumping </a:t>
            </a:r>
            <a:r>
              <a:rPr sz="2400" spc="-10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proper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program</a:t>
            </a:r>
            <a:r>
              <a:rPr sz="2400" spc="-1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  restart </a:t>
            </a:r>
            <a:r>
              <a:rPr sz="2400" spc="-5" dirty="0">
                <a:latin typeface="Carlito"/>
                <a:cs typeface="Carlito"/>
              </a:rPr>
              <a:t>that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</a:t>
            </a:r>
            <a:endParaRPr lang="en-US" sz="2400" spc="-15" dirty="0">
              <a:latin typeface="Carlito"/>
              <a:cs typeface="Carlito"/>
            </a:endParaRPr>
          </a:p>
          <a:p>
            <a:pPr marL="342900" marR="506730" lvl="1" indent="-342900">
              <a:lnSpc>
                <a:spcPts val="259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lang="en-US" sz="2400" dirty="0">
                <a:latin typeface="Carlito"/>
                <a:cs typeface="Carlito"/>
              </a:rPr>
              <a:t>The dispatcher needs to be as fast as possible, as it is run on every context switch.</a:t>
            </a:r>
          </a:p>
          <a:p>
            <a:pPr marL="342900" marR="506730" lvl="1" indent="-342900">
              <a:lnSpc>
                <a:spcPts val="259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lang="en-US" sz="2400" dirty="0">
                <a:latin typeface="Carlito"/>
                <a:cs typeface="Carlito"/>
              </a:rPr>
              <a:t>The time consumed by the dispatcher to do the above said functions is known as </a:t>
            </a:r>
            <a:r>
              <a:rPr lang="en-US" sz="2400" b="1" dirty="0">
                <a:latin typeface="Carlito"/>
                <a:cs typeface="Carlito"/>
              </a:rPr>
              <a:t>dispatch latency.</a:t>
            </a:r>
          </a:p>
          <a:p>
            <a:pPr marL="241300" marR="5080" indent="-228600">
              <a:lnSpc>
                <a:spcPts val="259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spc="-5" dirty="0">
                <a:latin typeface="Carlito"/>
                <a:cs typeface="Carlito"/>
              </a:rPr>
              <a:t>Dispatch latency </a:t>
            </a:r>
            <a:r>
              <a:rPr sz="2400" dirty="0">
                <a:latin typeface="Carlito"/>
                <a:cs typeface="Carlito"/>
              </a:rPr>
              <a:t>– time it </a:t>
            </a:r>
            <a:r>
              <a:rPr sz="2400" spc="-20" dirty="0">
                <a:latin typeface="Carlito"/>
                <a:cs typeface="Carlito"/>
              </a:rPr>
              <a:t>takes </a:t>
            </a:r>
            <a:r>
              <a:rPr sz="2400" spc="-15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dispatcher </a:t>
            </a:r>
            <a:r>
              <a:rPr sz="2400" spc="-10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stop</a:t>
            </a:r>
            <a:r>
              <a:rPr sz="2400" spc="-1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one  </a:t>
            </a: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start </a:t>
            </a:r>
            <a:r>
              <a:rPr sz="2400" dirty="0">
                <a:latin typeface="Carlito"/>
                <a:cs typeface="Carlito"/>
              </a:rPr>
              <a:t>another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running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3632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3200" spc="-10" dirty="0">
                <a:latin typeface="Carlito"/>
                <a:cs typeface="Carlito"/>
              </a:rPr>
              <a:t>10. </a:t>
            </a:r>
            <a:r>
              <a:rPr sz="3200" spc="-10" dirty="0">
                <a:latin typeface="Carlito"/>
                <a:cs typeface="Carlito"/>
              </a:rPr>
              <a:t>Scheduling Criteria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78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19050" y="609600"/>
            <a:ext cx="12211050" cy="3396442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203835" indent="-228600">
              <a:lnSpc>
                <a:spcPts val="303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There are many different scheduling algorithms. Deciding which is the best scheduling algorithm in particular situation is difficult.</a:t>
            </a:r>
          </a:p>
          <a:p>
            <a:pPr marL="241300" marR="203835" indent="-228600">
              <a:lnSpc>
                <a:spcPts val="303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There are several different criteria to consider, when trying to select the best scheduling algorithm for a particular situation &amp; environment. </a:t>
            </a:r>
          </a:p>
          <a:p>
            <a:pPr marL="241300" marR="203835" indent="-228600">
              <a:lnSpc>
                <a:spcPts val="303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Those criteria's are </a:t>
            </a:r>
          </a:p>
          <a:p>
            <a:pPr marL="12700" marR="203835">
              <a:lnSpc>
                <a:spcPts val="3030"/>
              </a:lnSpc>
              <a:spcBef>
                <a:spcPts val="484"/>
              </a:spcBef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	* </a:t>
            </a:r>
            <a:r>
              <a:rPr lang="en-US" sz="2400" b="1" dirty="0">
                <a:latin typeface="Carlito"/>
                <a:cs typeface="Carlito"/>
              </a:rPr>
              <a:t>CPU utilization : </a:t>
            </a:r>
            <a:r>
              <a:rPr lang="en-US" sz="2400" dirty="0">
                <a:latin typeface="Carlito"/>
                <a:cs typeface="Carlito"/>
              </a:rPr>
              <a:t>Always CPU should be kept busy always as possible. </a:t>
            </a:r>
          </a:p>
          <a:p>
            <a:pPr marL="12700" marR="203835">
              <a:lnSpc>
                <a:spcPts val="3030"/>
              </a:lnSpc>
              <a:spcBef>
                <a:spcPts val="484"/>
              </a:spcBef>
              <a:tabLst>
                <a:tab pos="241300" algn="l"/>
              </a:tabLst>
            </a:pPr>
            <a:r>
              <a:rPr lang="en-US" sz="2400" dirty="0">
                <a:latin typeface="Carlito"/>
                <a:cs typeface="Carlito"/>
              </a:rPr>
              <a:t>	* </a:t>
            </a:r>
            <a:r>
              <a:rPr lang="en-US" sz="2400" b="1" dirty="0">
                <a:latin typeface="Carlito"/>
                <a:cs typeface="Carlito"/>
              </a:rPr>
              <a:t>Throughput </a:t>
            </a:r>
            <a:r>
              <a:rPr lang="en-US" sz="2400" dirty="0">
                <a:latin typeface="Carlito"/>
                <a:cs typeface="Carlito"/>
              </a:rPr>
              <a:t>:In order to measure, amount of work done by CPU, throughput is used. Number of processes that are Completed per unit of  time is called as throughput</a:t>
            </a:r>
            <a:r>
              <a:rPr lang="en-US" sz="2400" dirty="0" smtClean="0">
                <a:latin typeface="Carlito"/>
                <a:cs typeface="Carlito"/>
              </a:rPr>
              <a:t>.</a:t>
            </a:r>
            <a:endParaRPr lang="en-US"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762"/>
            <a:ext cx="8040243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>
                <a:latin typeface="Carlito"/>
                <a:cs typeface="Carlito"/>
              </a:rPr>
              <a:t>Scheduling </a:t>
            </a:r>
            <a:r>
              <a:rPr sz="4400" spc="-15" dirty="0">
                <a:latin typeface="Carlito"/>
                <a:cs typeface="Carlito"/>
              </a:rPr>
              <a:t>Criteria</a:t>
            </a:r>
            <a:r>
              <a:rPr sz="4400" spc="90" dirty="0">
                <a:latin typeface="Carlito"/>
                <a:cs typeface="Carlito"/>
              </a:rPr>
              <a:t> </a:t>
            </a:r>
            <a:r>
              <a:rPr sz="4400" spc="-10" dirty="0">
                <a:latin typeface="Carlito"/>
                <a:cs typeface="Carlito"/>
              </a:rPr>
              <a:t>(2)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79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00087"/>
            <a:ext cx="12126975" cy="372794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1040"/>
              </a:spcBef>
              <a:tabLst>
                <a:tab pos="240665" algn="l"/>
                <a:tab pos="241300" algn="l"/>
              </a:tabLst>
            </a:pPr>
            <a:r>
              <a:rPr lang="en-US" sz="2000" spc="-20" dirty="0">
                <a:latin typeface="Carlito"/>
                <a:cs typeface="Carlito"/>
              </a:rPr>
              <a:t>   *) </a:t>
            </a:r>
            <a:r>
              <a:rPr sz="2000" b="1" spc="-20" dirty="0">
                <a:latin typeface="Carlito"/>
                <a:cs typeface="Carlito"/>
              </a:rPr>
              <a:t>Turnaround </a:t>
            </a:r>
            <a:r>
              <a:rPr sz="2000" b="1" spc="-5" dirty="0">
                <a:latin typeface="Carlito"/>
                <a:cs typeface="Carlito"/>
              </a:rPr>
              <a:t>time</a:t>
            </a:r>
            <a:r>
              <a:rPr sz="2000" spc="-5" dirty="0">
                <a:latin typeface="Carlito"/>
                <a:cs typeface="Carlito"/>
              </a:rPr>
              <a:t> – amount </a:t>
            </a:r>
            <a:r>
              <a:rPr sz="2000" dirty="0">
                <a:latin typeface="Carlito"/>
                <a:cs typeface="Carlito"/>
              </a:rPr>
              <a:t>of </a:t>
            </a:r>
            <a:r>
              <a:rPr sz="2000" spc="-5" dirty="0">
                <a:latin typeface="Carlito"/>
                <a:cs typeface="Carlito"/>
              </a:rPr>
              <a:t>time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execute </a:t>
            </a:r>
            <a:r>
              <a:rPr sz="2000" spc="-5" dirty="0">
                <a:latin typeface="Carlito"/>
                <a:cs typeface="Carlito"/>
              </a:rPr>
              <a:t>a </a:t>
            </a:r>
            <a:r>
              <a:rPr sz="2000" dirty="0">
                <a:latin typeface="Carlito"/>
                <a:cs typeface="Carlito"/>
              </a:rPr>
              <a:t>particular </a:t>
            </a:r>
            <a:r>
              <a:rPr sz="2000" spc="-10" dirty="0">
                <a:latin typeface="Carlito"/>
                <a:cs typeface="Carlito"/>
              </a:rPr>
              <a:t>process. Interval  </a:t>
            </a:r>
            <a:r>
              <a:rPr sz="2000" spc="-15" dirty="0">
                <a:latin typeface="Carlito"/>
                <a:cs typeface="Carlito"/>
              </a:rPr>
              <a:t>from </a:t>
            </a:r>
            <a:r>
              <a:rPr sz="2000" spc="-5" dirty="0">
                <a:latin typeface="Carlito"/>
                <a:cs typeface="Carlito"/>
              </a:rPr>
              <a:t>the time of </a:t>
            </a:r>
            <a:r>
              <a:rPr sz="2000" spc="-10" dirty="0">
                <a:latin typeface="Carlito"/>
                <a:cs typeface="Carlito"/>
              </a:rPr>
              <a:t>submission </a:t>
            </a:r>
            <a:r>
              <a:rPr sz="2000" spc="-5" dirty="0">
                <a:latin typeface="Carlito"/>
                <a:cs typeface="Carlito"/>
              </a:rPr>
              <a:t>of a </a:t>
            </a:r>
            <a:r>
              <a:rPr sz="2000" spc="-10" dirty="0">
                <a:latin typeface="Carlito"/>
                <a:cs typeface="Carlito"/>
              </a:rPr>
              <a:t>process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the time of</a:t>
            </a:r>
            <a:r>
              <a:rPr sz="2000" spc="20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completion</a:t>
            </a:r>
            <a:endParaRPr lang="en-US" sz="2000" spc="-10" dirty="0">
              <a:latin typeface="Carlito"/>
              <a:cs typeface="Carlito"/>
            </a:endParaRPr>
          </a:p>
          <a:p>
            <a:pPr marL="12700" marR="5080">
              <a:lnSpc>
                <a:spcPts val="2160"/>
              </a:lnSpc>
              <a:spcBef>
                <a:spcPts val="1040"/>
              </a:spcBef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        turnaround time is the sum of the periods spent waiting to get into main memory, waiting in the ready queue, executing on the CPU &amp; doing I/O.</a:t>
            </a:r>
            <a:endParaRPr sz="2000" dirty="0">
              <a:latin typeface="Carlito"/>
              <a:cs typeface="Carlito"/>
            </a:endParaRPr>
          </a:p>
          <a:p>
            <a:pPr marL="12700" marR="430530">
              <a:lnSpc>
                <a:spcPts val="2160"/>
              </a:lnSpc>
              <a:spcBef>
                <a:spcPts val="1010"/>
              </a:spcBef>
              <a:tabLst>
                <a:tab pos="240665" algn="l"/>
                <a:tab pos="241300" algn="l"/>
              </a:tabLst>
            </a:pPr>
            <a:r>
              <a:rPr lang="en-US" sz="2000" spc="-15" dirty="0">
                <a:latin typeface="Carlito"/>
                <a:cs typeface="Carlito"/>
              </a:rPr>
              <a:t>    *) </a:t>
            </a:r>
            <a:r>
              <a:rPr sz="2000" b="1" spc="-15" dirty="0">
                <a:latin typeface="Carlito"/>
                <a:cs typeface="Carlito"/>
              </a:rPr>
              <a:t>Waiting </a:t>
            </a:r>
            <a:r>
              <a:rPr sz="2000" b="1" spc="-5" dirty="0">
                <a:latin typeface="Carlito"/>
                <a:cs typeface="Carlito"/>
              </a:rPr>
              <a:t>time </a:t>
            </a:r>
            <a:r>
              <a:rPr sz="2000" spc="-5" dirty="0">
                <a:latin typeface="Carlito"/>
                <a:cs typeface="Carlito"/>
              </a:rPr>
              <a:t>– </a:t>
            </a:r>
            <a:r>
              <a:rPr sz="2000" spc="-10" dirty="0">
                <a:latin typeface="Carlito"/>
                <a:cs typeface="Carlito"/>
              </a:rPr>
              <a:t>amount </a:t>
            </a:r>
            <a:r>
              <a:rPr sz="2000" spc="-5" dirty="0">
                <a:latin typeface="Carlito"/>
                <a:cs typeface="Carlito"/>
              </a:rPr>
              <a:t>of time a </a:t>
            </a:r>
            <a:r>
              <a:rPr sz="2000" spc="-10" dirty="0">
                <a:latin typeface="Carlito"/>
                <a:cs typeface="Carlito"/>
              </a:rPr>
              <a:t>process </a:t>
            </a:r>
            <a:r>
              <a:rPr sz="2000" spc="-5" dirty="0">
                <a:latin typeface="Carlito"/>
                <a:cs typeface="Carlito"/>
              </a:rPr>
              <a:t>has </a:t>
            </a:r>
            <a:r>
              <a:rPr sz="2000" spc="-10" dirty="0">
                <a:latin typeface="Carlito"/>
                <a:cs typeface="Carlito"/>
              </a:rPr>
              <a:t>been waiting </a:t>
            </a:r>
            <a:r>
              <a:rPr sz="2000" spc="-5" dirty="0">
                <a:latin typeface="Carlito"/>
                <a:cs typeface="Carlito"/>
              </a:rPr>
              <a:t>in the </a:t>
            </a:r>
            <a:r>
              <a:rPr sz="2000" spc="-10" dirty="0">
                <a:latin typeface="Carlito"/>
                <a:cs typeface="Carlito"/>
              </a:rPr>
              <a:t>ready  </a:t>
            </a:r>
            <a:r>
              <a:rPr sz="2000" spc="-5" dirty="0">
                <a:latin typeface="Carlito"/>
                <a:cs typeface="Carlito"/>
              </a:rPr>
              <a:t>queue</a:t>
            </a:r>
            <a:endParaRPr sz="2000" dirty="0">
              <a:latin typeface="Carlito"/>
              <a:cs typeface="Carlito"/>
            </a:endParaRPr>
          </a:p>
          <a:p>
            <a:pPr marL="12700" marR="755015">
              <a:lnSpc>
                <a:spcPts val="2160"/>
              </a:lnSpc>
              <a:spcBef>
                <a:spcPts val="990"/>
              </a:spcBef>
              <a:tabLst>
                <a:tab pos="240665" algn="l"/>
                <a:tab pos="241300" algn="l"/>
              </a:tabLst>
            </a:pPr>
            <a:r>
              <a:rPr lang="en-US" sz="2000" spc="-15" dirty="0">
                <a:latin typeface="Carlito"/>
                <a:cs typeface="Carlito"/>
              </a:rPr>
              <a:t>    *) </a:t>
            </a:r>
            <a:r>
              <a:rPr sz="2000" b="1" spc="-15" dirty="0">
                <a:latin typeface="Carlito"/>
                <a:cs typeface="Carlito"/>
              </a:rPr>
              <a:t>Response </a:t>
            </a:r>
            <a:r>
              <a:rPr sz="2000" b="1" spc="-5" dirty="0">
                <a:latin typeface="Carlito"/>
                <a:cs typeface="Carlito"/>
              </a:rPr>
              <a:t>time </a:t>
            </a:r>
            <a:r>
              <a:rPr sz="2000" spc="-5" dirty="0">
                <a:latin typeface="Carlito"/>
                <a:cs typeface="Carlito"/>
              </a:rPr>
              <a:t>– </a:t>
            </a:r>
            <a:r>
              <a:rPr lang="en-US" sz="2000" spc="-5" dirty="0">
                <a:latin typeface="Carlito"/>
                <a:cs typeface="Carlito"/>
              </a:rPr>
              <a:t>In an interactive system, turnaround time may not be the best criterion. Often, a process can produce some output fairly early &amp; can continue computing new results while previous results are being output to the user. </a:t>
            </a:r>
          </a:p>
          <a:p>
            <a:pPr marL="12700" marR="755015">
              <a:lnSpc>
                <a:spcPts val="2160"/>
              </a:lnSpc>
              <a:spcBef>
                <a:spcPts val="990"/>
              </a:spcBef>
              <a:tabLst>
                <a:tab pos="240665" algn="l"/>
                <a:tab pos="241300" algn="l"/>
              </a:tabLst>
            </a:pPr>
            <a:r>
              <a:rPr lang="en-US" sz="2000" spc="-5" dirty="0">
                <a:latin typeface="Carlito"/>
                <a:cs typeface="Carlito"/>
              </a:rPr>
              <a:t>      thus, another measure is the time from the submission of a request until the first response is produced. This measure, Called </a:t>
            </a:r>
            <a:r>
              <a:rPr lang="en-US" sz="2000" b="1" spc="-5" dirty="0">
                <a:latin typeface="Carlito"/>
                <a:cs typeface="Carlito"/>
              </a:rPr>
              <a:t>response time</a:t>
            </a:r>
            <a:r>
              <a:rPr lang="en-US" sz="2000" spc="-5" dirty="0">
                <a:latin typeface="Carlito"/>
                <a:cs typeface="Carlito"/>
              </a:rPr>
              <a:t>, is the time it takes to start responding, not the time it takes to output the response.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5D1DC0F4-F8E0-318D-0C16-FFFD640D8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5742" y="4724400"/>
            <a:ext cx="6660515" cy="307777"/>
          </a:xfrm>
        </p:spPr>
        <p:txBody>
          <a:bodyPr/>
          <a:lstStyle/>
          <a:p>
            <a:r>
              <a:rPr lang="en-GB" dirty="0"/>
              <a:t>Waiting Time = CPU Allocation Time – Arrival Time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4757" y="152400"/>
            <a:ext cx="804024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>
                <a:latin typeface="Carlito"/>
                <a:cs typeface="Carlito"/>
              </a:rPr>
              <a:t>Optimization</a:t>
            </a:r>
            <a:r>
              <a:rPr sz="4400" spc="40">
                <a:latin typeface="Carlito"/>
                <a:cs typeface="Carlito"/>
              </a:rPr>
              <a:t> </a:t>
            </a:r>
            <a:r>
              <a:rPr sz="4400" spc="-15">
                <a:latin typeface="Carlito"/>
                <a:cs typeface="Carlito"/>
              </a:rPr>
              <a:t>Criteria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8401" y="990600"/>
            <a:ext cx="7315200" cy="2178802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42900" marR="276860" indent="-342900">
              <a:lnSpc>
                <a:spcPct val="100000"/>
              </a:lnSpc>
              <a:spcBef>
                <a:spcPts val="290"/>
              </a:spcBef>
              <a:buFont typeface="Courier New" panose="02070309020205020404" pitchFamily="49" charset="0"/>
              <a:buChar char="o"/>
            </a:pPr>
            <a:r>
              <a:rPr lang="en-GB" sz="2400" spc="-5" dirty="0">
                <a:latin typeface="Carlito"/>
                <a:cs typeface="Carlito"/>
              </a:rPr>
              <a:t>Maximize </a:t>
            </a:r>
            <a:r>
              <a:rPr sz="2400" spc="-5" dirty="0">
                <a:latin typeface="Carlito"/>
                <a:cs typeface="Carlito"/>
              </a:rPr>
              <a:t>CPU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utilization</a:t>
            </a:r>
            <a:endParaRPr sz="2400" dirty="0">
              <a:latin typeface="Carlito"/>
              <a:cs typeface="Carlito"/>
            </a:endParaRPr>
          </a:p>
          <a:p>
            <a:pPr marL="342900" marR="213360" indent="-342900">
              <a:lnSpc>
                <a:spcPct val="100000"/>
              </a:lnSpc>
              <a:spcBef>
                <a:spcPts val="190"/>
              </a:spcBef>
              <a:buFont typeface="Courier New" panose="02070309020205020404" pitchFamily="49" charset="0"/>
              <a:buChar char="o"/>
              <a:tabLst>
                <a:tab pos="228600" algn="l"/>
              </a:tabLst>
            </a:pPr>
            <a:r>
              <a:rPr sz="2400" spc="5" dirty="0">
                <a:latin typeface="Carlito"/>
                <a:cs typeface="Carlito"/>
              </a:rPr>
              <a:t>M</a:t>
            </a:r>
            <a:r>
              <a:rPr sz="2400" spc="-25" dirty="0">
                <a:latin typeface="Carlito"/>
                <a:cs typeface="Carlito"/>
              </a:rPr>
              <a:t>a</a:t>
            </a:r>
            <a:r>
              <a:rPr sz="2400" spc="-10" dirty="0">
                <a:latin typeface="Carlito"/>
                <a:cs typeface="Carlito"/>
              </a:rPr>
              <a:t>x</a:t>
            </a:r>
            <a:r>
              <a:rPr sz="2400" dirty="0">
                <a:latin typeface="Carlito"/>
                <a:cs typeface="Carlito"/>
              </a:rPr>
              <a:t>imi</a:t>
            </a:r>
            <a:r>
              <a:rPr sz="2400" spc="-40" dirty="0">
                <a:latin typeface="Carlito"/>
                <a:cs typeface="Carlito"/>
              </a:rPr>
              <a:t>z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lang="en-GB"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Throughput</a:t>
            </a:r>
            <a:endParaRPr lang="en-GB" sz="2400" spc="-5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Courier New" panose="02070309020205020404" pitchFamily="49" charset="0"/>
              <a:buChar char="o"/>
            </a:pPr>
            <a:r>
              <a:rPr sz="2400" spc="-10" dirty="0">
                <a:latin typeface="Carlito"/>
                <a:cs typeface="Carlito"/>
              </a:rPr>
              <a:t>M</a:t>
            </a:r>
            <a:r>
              <a:rPr lang="en-GB" sz="2400" spc="-10" dirty="0">
                <a:latin typeface="Carlito"/>
                <a:cs typeface="Carlito"/>
              </a:rPr>
              <a:t>in</a:t>
            </a:r>
            <a:r>
              <a:rPr sz="2400" spc="-10" dirty="0" err="1">
                <a:latin typeface="Carlito"/>
                <a:cs typeface="Carlito"/>
              </a:rPr>
              <a:t>imize</a:t>
            </a:r>
            <a:r>
              <a:rPr lang="en-GB" sz="2400" spc="-1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Turnaround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lang="en-GB" sz="24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Courier New" panose="02070309020205020404" pitchFamily="49" charset="0"/>
              <a:buChar char="o"/>
            </a:pPr>
            <a:r>
              <a:rPr sz="2400" spc="-5" dirty="0">
                <a:latin typeface="Carlito"/>
                <a:cs typeface="Carlito"/>
              </a:rPr>
              <a:t>Minimize</a:t>
            </a:r>
            <a:r>
              <a:rPr lang="en-GB"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Waiting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lang="en-GB" sz="24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Courier New" panose="02070309020205020404" pitchFamily="49" charset="0"/>
              <a:buChar char="o"/>
            </a:pPr>
            <a:r>
              <a:rPr sz="2400" spc="5" dirty="0">
                <a:latin typeface="Carlito"/>
                <a:cs typeface="Carlito"/>
              </a:rPr>
              <a:t>M</a:t>
            </a:r>
            <a:r>
              <a:rPr sz="2400" dirty="0">
                <a:latin typeface="Carlito"/>
                <a:cs typeface="Carlito"/>
              </a:rPr>
              <a:t>i</a:t>
            </a:r>
            <a:r>
              <a:rPr sz="2400" spc="5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imi</a:t>
            </a:r>
            <a:r>
              <a:rPr sz="2400" spc="-40" dirty="0">
                <a:latin typeface="Carlito"/>
                <a:cs typeface="Carlito"/>
              </a:rPr>
              <a:t>z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lang="en-GB"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Response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5410200" cy="1107996"/>
          </a:xfrm>
        </p:spPr>
        <p:txBody>
          <a:bodyPr/>
          <a:lstStyle/>
          <a:p>
            <a:r>
              <a:rPr lang="en-US" spc="-10" dirty="0">
                <a:latin typeface="Carlito"/>
                <a:cs typeface="Carlito"/>
              </a:rPr>
              <a:t>11. Scheduling Algorithms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4288" y="1066800"/>
            <a:ext cx="12192000" cy="332398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CPU should select one process out of many processes which are in ready queue after completing the current process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In order to select, there are so many scheduling algorithms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First Come First Serve (FCFS)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Shortest Job First (SJF)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Priority scheduling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Round Robin scheduling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384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3812"/>
            <a:ext cx="9810801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latin typeface="Carlito"/>
                <a:cs typeface="Carlito"/>
              </a:rPr>
              <a:t>First-Come, First-Served</a:t>
            </a:r>
            <a:r>
              <a:rPr lang="en-GB" spc="-1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Scheduling</a:t>
            </a:r>
            <a:r>
              <a:rPr lang="en-US" spc="-20" dirty="0">
                <a:latin typeface="Carlito"/>
                <a:cs typeface="Carlito"/>
              </a:rPr>
              <a:t> (FCFS)</a:t>
            </a:r>
            <a:r>
              <a:rPr lang="en-US" dirty="0">
                <a:latin typeface="Carlito"/>
                <a:cs typeface="Carlito"/>
              </a:rPr>
              <a:t> </a:t>
            </a:r>
            <a:endParaRPr spc="-1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584199"/>
            <a:ext cx="12192000" cy="44198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60375" indent="-448309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Simplest CPU </a:t>
            </a:r>
            <a:r>
              <a:rPr sz="2000" b="1" spc="-5" dirty="0">
                <a:solidFill>
                  <a:srgbClr val="44536A"/>
                </a:solidFill>
                <a:latin typeface="Carlito"/>
                <a:cs typeface="Carlito"/>
              </a:rPr>
              <a:t>scheduling</a:t>
            </a:r>
            <a:r>
              <a:rPr sz="2000" b="1" spc="5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algorithm</a:t>
            </a:r>
            <a:endParaRPr sz="2000" dirty="0">
              <a:latin typeface="Carlito"/>
              <a:cs typeface="Carlito"/>
            </a:endParaRPr>
          </a:p>
          <a:p>
            <a:pPr marL="460375" indent="-448309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Process that requested </a:t>
            </a:r>
            <a:r>
              <a:rPr sz="2000" b="1" dirty="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CPU </a:t>
            </a:r>
            <a:r>
              <a:rPr sz="2000" b="1" spc="-15" dirty="0">
                <a:solidFill>
                  <a:srgbClr val="44536A"/>
                </a:solidFill>
                <a:latin typeface="Carlito"/>
                <a:cs typeface="Carlito"/>
              </a:rPr>
              <a:t>first </a:t>
            </a: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is </a:t>
            </a:r>
            <a:r>
              <a:rPr sz="2000" b="1" spc="-15" dirty="0">
                <a:solidFill>
                  <a:srgbClr val="44536A"/>
                </a:solidFill>
                <a:latin typeface="Carlito"/>
                <a:cs typeface="Carlito"/>
              </a:rPr>
              <a:t>allocated </a:t>
            </a:r>
            <a:r>
              <a:rPr sz="2000" b="1" dirty="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CPU</a:t>
            </a:r>
            <a:r>
              <a:rPr sz="2000" b="1" spc="6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b="1" spc="-15" dirty="0">
                <a:solidFill>
                  <a:srgbClr val="44536A"/>
                </a:solidFill>
                <a:latin typeface="Carlito"/>
                <a:cs typeface="Carlito"/>
              </a:rPr>
              <a:t>first</a:t>
            </a:r>
            <a:endParaRPr sz="2000" dirty="0">
              <a:latin typeface="Carlito"/>
              <a:cs typeface="Carlito"/>
            </a:endParaRPr>
          </a:p>
          <a:p>
            <a:pPr marL="460375" indent="-448309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Implementation managed </a:t>
            </a:r>
            <a:r>
              <a:rPr sz="2000" b="1" dirty="0">
                <a:solidFill>
                  <a:srgbClr val="44536A"/>
                </a:solidFill>
                <a:latin typeface="Carlito"/>
                <a:cs typeface="Carlito"/>
              </a:rPr>
              <a:t>by </a:t>
            </a:r>
            <a:r>
              <a:rPr sz="2000" b="1" spc="-5" dirty="0">
                <a:solidFill>
                  <a:srgbClr val="44536A"/>
                </a:solidFill>
                <a:latin typeface="Carlito"/>
                <a:cs typeface="Carlito"/>
              </a:rPr>
              <a:t>a </a:t>
            </a:r>
            <a:r>
              <a:rPr sz="2000" b="1" spc="-15" dirty="0">
                <a:solidFill>
                  <a:srgbClr val="44536A"/>
                </a:solidFill>
                <a:latin typeface="Carlito"/>
                <a:cs typeface="Carlito"/>
              </a:rPr>
              <a:t>First </a:t>
            </a:r>
            <a:r>
              <a:rPr sz="2000" b="1" spc="-5" dirty="0">
                <a:solidFill>
                  <a:srgbClr val="44536A"/>
                </a:solidFill>
                <a:latin typeface="Carlito"/>
                <a:cs typeface="Carlito"/>
              </a:rPr>
              <a:t>In </a:t>
            </a:r>
            <a:r>
              <a:rPr sz="2000" b="1" spc="-15" dirty="0">
                <a:solidFill>
                  <a:srgbClr val="44536A"/>
                </a:solidFill>
                <a:latin typeface="Carlito"/>
                <a:cs typeface="Carlito"/>
              </a:rPr>
              <a:t>First </a:t>
            </a:r>
            <a:r>
              <a:rPr sz="2000" b="1" spc="-5" dirty="0">
                <a:solidFill>
                  <a:srgbClr val="44536A"/>
                </a:solidFill>
                <a:latin typeface="Carlito"/>
                <a:cs typeface="Carlito"/>
              </a:rPr>
              <a:t>Out </a:t>
            </a: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(FIFO)</a:t>
            </a:r>
            <a:r>
              <a:rPr sz="2000" b="1" spc="6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b="1" spc="-5" dirty="0">
                <a:solidFill>
                  <a:srgbClr val="44536A"/>
                </a:solidFill>
                <a:latin typeface="Carlito"/>
                <a:cs typeface="Carlito"/>
              </a:rPr>
              <a:t>queue</a:t>
            </a:r>
            <a:endParaRPr sz="2000" dirty="0">
              <a:latin typeface="Carlito"/>
              <a:cs typeface="Carlito"/>
            </a:endParaRPr>
          </a:p>
          <a:p>
            <a:pPr marL="814069" lvl="1" indent="-354330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814069" algn="l"/>
                <a:tab pos="814705" algn="l"/>
              </a:tabLst>
            </a:pP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When a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process </a:t>
            </a:r>
            <a:r>
              <a:rPr sz="2000" spc="-20" dirty="0">
                <a:solidFill>
                  <a:srgbClr val="44536A"/>
                </a:solidFill>
                <a:latin typeface="Carlito"/>
                <a:cs typeface="Carlito"/>
              </a:rPr>
              <a:t>enters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ready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queue its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PCB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is </a:t>
            </a:r>
            <a:r>
              <a:rPr sz="2000" spc="-15" dirty="0">
                <a:solidFill>
                  <a:srgbClr val="44536A"/>
                </a:solidFill>
                <a:latin typeface="Carlito"/>
                <a:cs typeface="Carlito"/>
              </a:rPr>
              <a:t>linked onto</a:t>
            </a:r>
            <a:r>
              <a:rPr sz="2000" spc="20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the</a:t>
            </a:r>
            <a:r>
              <a:rPr lang="en-GB" sz="200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tail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of the</a:t>
            </a:r>
            <a:r>
              <a:rPr sz="2000" spc="1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queue</a:t>
            </a:r>
            <a:endParaRPr sz="2000" dirty="0">
              <a:latin typeface="Carlito"/>
              <a:cs typeface="Carlito"/>
            </a:endParaRPr>
          </a:p>
          <a:p>
            <a:pPr marL="814069" lvl="1" indent="-354330">
              <a:lnSpc>
                <a:spcPts val="2280"/>
              </a:lnSpc>
              <a:spcBef>
                <a:spcPts val="260"/>
              </a:spcBef>
              <a:buFont typeface="Arial"/>
              <a:buChar char="•"/>
              <a:tabLst>
                <a:tab pos="814069" algn="l"/>
                <a:tab pos="814705" algn="l"/>
              </a:tabLst>
            </a:pP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When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CPU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is </a:t>
            </a:r>
            <a:r>
              <a:rPr sz="2000" spc="-15" dirty="0">
                <a:solidFill>
                  <a:srgbClr val="44536A"/>
                </a:solidFill>
                <a:latin typeface="Carlito"/>
                <a:cs typeface="Carlito"/>
              </a:rPr>
              <a:t>free,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it is </a:t>
            </a:r>
            <a:r>
              <a:rPr sz="2000" spc="-15" dirty="0">
                <a:solidFill>
                  <a:srgbClr val="44536A"/>
                </a:solidFill>
                <a:latin typeface="Carlito"/>
                <a:cs typeface="Carlito"/>
              </a:rPr>
              <a:t>allocated to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process </a:t>
            </a:r>
            <a:r>
              <a:rPr sz="2000" spc="-15" dirty="0">
                <a:solidFill>
                  <a:srgbClr val="44536A"/>
                </a:solidFill>
                <a:latin typeface="Carlito"/>
                <a:cs typeface="Carlito"/>
              </a:rPr>
              <a:t>at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head</a:t>
            </a:r>
            <a:r>
              <a:rPr sz="2000" spc="26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of</a:t>
            </a:r>
            <a:r>
              <a:rPr lang="en-GB" sz="200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the queue and the running </a:t>
            </a:r>
            <a:r>
              <a:rPr sz="2000" spc="-10" dirty="0">
                <a:solidFill>
                  <a:srgbClr val="44536A"/>
                </a:solidFill>
                <a:latin typeface="Carlito"/>
                <a:cs typeface="Carlito"/>
              </a:rPr>
              <a:t>process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is </a:t>
            </a:r>
            <a:r>
              <a:rPr sz="2000" spc="-20" dirty="0">
                <a:solidFill>
                  <a:srgbClr val="44536A"/>
                </a:solidFill>
                <a:latin typeface="Carlito"/>
                <a:cs typeface="Carlito"/>
              </a:rPr>
              <a:t>removed </a:t>
            </a:r>
            <a:r>
              <a:rPr sz="2000" spc="-15" dirty="0">
                <a:solidFill>
                  <a:srgbClr val="44536A"/>
                </a:solidFill>
                <a:latin typeface="Carlito"/>
                <a:cs typeface="Carlito"/>
              </a:rPr>
              <a:t>from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the</a:t>
            </a:r>
            <a:r>
              <a:rPr sz="2000" spc="165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4536A"/>
                </a:solidFill>
                <a:latin typeface="Carlito"/>
                <a:cs typeface="Carlito"/>
              </a:rPr>
              <a:t>queue</a:t>
            </a:r>
            <a:endParaRPr sz="2000" dirty="0">
              <a:latin typeface="Carlito"/>
              <a:cs typeface="Carlito"/>
            </a:endParaRPr>
          </a:p>
          <a:p>
            <a:pPr marL="460375" indent="-448309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000" b="1" spc="-30" dirty="0">
                <a:solidFill>
                  <a:srgbClr val="44536A"/>
                </a:solidFill>
                <a:latin typeface="Carlito"/>
                <a:cs typeface="Carlito"/>
              </a:rPr>
              <a:t>Disadvantage: </a:t>
            </a:r>
          </a:p>
          <a:p>
            <a:pPr marL="917575" lvl="1" indent="-448309"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z="2000" dirty="0">
                <a:solidFill>
                  <a:srgbClr val="44536A"/>
                </a:solidFill>
                <a:latin typeface="Carlito"/>
                <a:cs typeface="Carlito"/>
              </a:rPr>
              <a:t>If the currently running process (or the first process in the ready queue) takes much time then all other processes has to wait for long time</a:t>
            </a:r>
          </a:p>
          <a:p>
            <a:pPr marL="917575" lvl="1" indent="-448309"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Average waiting time under FCFS policy is often quite long</a:t>
            </a:r>
          </a:p>
          <a:p>
            <a:pPr marL="460375" indent="-448309">
              <a:lnSpc>
                <a:spcPts val="227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000" b="1" spc="-10" dirty="0">
                <a:solidFill>
                  <a:srgbClr val="44536A"/>
                </a:solidFill>
                <a:latin typeface="Carlito"/>
                <a:cs typeface="Carlito"/>
              </a:rPr>
              <a:t>Nonpreemptive algorithm </a:t>
            </a:r>
            <a:r>
              <a:rPr sz="2000" b="1" spc="-10" dirty="0">
                <a:solidFill>
                  <a:srgbClr val="44536A"/>
                </a:solidFill>
                <a:latin typeface="Wingdings"/>
                <a:cs typeface="Wingdings"/>
              </a:rPr>
              <a:t></a:t>
            </a:r>
            <a:r>
              <a:rPr sz="20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once the CPU has been allocated to a</a:t>
            </a:r>
            <a:r>
              <a:rPr lang="en-US" sz="200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4536A"/>
                </a:solidFill>
                <a:latin typeface="Carlito"/>
                <a:cs typeface="Carlito"/>
              </a:rPr>
              <a:t>process, the process keeps the CPU until it releases the CPU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18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First-Come, </a:t>
            </a:r>
            <a:r>
              <a:rPr sz="2800" spc="-5" dirty="0"/>
              <a:t>First-Served </a:t>
            </a:r>
            <a:r>
              <a:rPr lang="en-US" sz="2800" dirty="0"/>
              <a:t>Scheduling</a:t>
            </a:r>
            <a:r>
              <a:rPr sz="2800" dirty="0"/>
              <a:t>(FCFS)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05143923"/>
              </p:ext>
            </p:extLst>
          </p:nvPr>
        </p:nvGraphicFramePr>
        <p:xfrm>
          <a:off x="228600" y="568968"/>
          <a:ext cx="3001010" cy="1501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4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15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3570">
                <a:tc>
                  <a:txBody>
                    <a:bodyPr/>
                    <a:lstStyle/>
                    <a:p>
                      <a:pPr marR="179070" algn="ctr">
                        <a:lnSpc>
                          <a:spcPts val="1850"/>
                        </a:lnSpc>
                      </a:pPr>
                      <a:r>
                        <a:rPr sz="1600" u="sng" spc="-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Process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850"/>
                        </a:lnSpc>
                      </a:pPr>
                      <a:r>
                        <a:rPr sz="1600" u="sng" spc="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CPU </a:t>
                      </a:r>
                      <a:r>
                        <a:rPr sz="1600" u="sng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Burst </a:t>
                      </a:r>
                      <a:r>
                        <a:rPr sz="1600" u="sng" spc="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Time</a:t>
                      </a:r>
                      <a:r>
                        <a:rPr sz="1600" u="sng" spc="-160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 </a:t>
                      </a:r>
                      <a:r>
                        <a:rPr sz="1600" u="sng" spc="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(ms)</a:t>
                      </a:r>
                      <a:endParaRPr sz="160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2671">
                <a:tc>
                  <a:txBody>
                    <a:bodyPr/>
                    <a:lstStyle/>
                    <a:p>
                      <a:pPr marR="1828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1</a:t>
                      </a:r>
                      <a:endParaRPr sz="1575" baseline="-21164" dirty="0">
                        <a:latin typeface="Caladea"/>
                        <a:cs typeface="Calade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24</a:t>
                      </a:r>
                      <a:endParaRPr sz="1600">
                        <a:latin typeface="Caladea"/>
                        <a:cs typeface="Calade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6138">
                <a:tc>
                  <a:txBody>
                    <a:bodyPr/>
                    <a:lstStyle/>
                    <a:p>
                      <a:pPr marR="13462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</a:t>
                      </a:r>
                      <a:endParaRPr sz="1575" baseline="-21164">
                        <a:latin typeface="Caladea"/>
                        <a:cs typeface="Calade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3</a:t>
                      </a:r>
                      <a:endParaRPr sz="1600">
                        <a:latin typeface="Caladea"/>
                        <a:cs typeface="Caladea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0230">
                <a:tc>
                  <a:txBody>
                    <a:bodyPr/>
                    <a:lstStyle/>
                    <a:p>
                      <a:pPr marR="1346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3</a:t>
                      </a:r>
                      <a:endParaRPr sz="1575" baseline="-21164">
                        <a:latin typeface="Caladea"/>
                        <a:cs typeface="Calade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3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657600" y="762000"/>
            <a:ext cx="6388735" cy="490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5775" indent="-448309">
              <a:lnSpc>
                <a:spcPts val="1825"/>
              </a:lnSpc>
              <a:spcBef>
                <a:spcPts val="105"/>
              </a:spcBef>
              <a:buFont typeface="Arial"/>
              <a:buChar char="•"/>
              <a:tabLst>
                <a:tab pos="485775" algn="l"/>
                <a:tab pos="486409" algn="l"/>
              </a:tabLst>
            </a:pP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Suppose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that the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processes </a:t>
            </a:r>
            <a:r>
              <a:rPr sz="1600" spc="-5" dirty="0">
                <a:solidFill>
                  <a:srgbClr val="44536A"/>
                </a:solidFill>
                <a:latin typeface="Caladea"/>
                <a:cs typeface="Caladea"/>
              </a:rPr>
              <a:t>arrive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(at time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0)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in the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order: </a:t>
            </a:r>
            <a:r>
              <a:rPr sz="1600" i="1" dirty="0">
                <a:solidFill>
                  <a:srgbClr val="44536A"/>
                </a:solidFill>
                <a:latin typeface="Caladea"/>
                <a:cs typeface="Caladea"/>
              </a:rPr>
              <a:t>P</a:t>
            </a:r>
            <a:r>
              <a:rPr sz="1575" i="1" baseline="-21164" dirty="0">
                <a:solidFill>
                  <a:srgbClr val="44536A"/>
                </a:solidFill>
                <a:latin typeface="Caladea"/>
                <a:cs typeface="Caladea"/>
              </a:rPr>
              <a:t>1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, </a:t>
            </a:r>
            <a:r>
              <a:rPr sz="1600" i="1" dirty="0">
                <a:solidFill>
                  <a:srgbClr val="44536A"/>
                </a:solidFill>
                <a:latin typeface="Caladea"/>
                <a:cs typeface="Caladea"/>
              </a:rPr>
              <a:t>P</a:t>
            </a:r>
            <a:r>
              <a:rPr sz="1575" i="1" baseline="-21164" dirty="0">
                <a:solidFill>
                  <a:srgbClr val="44536A"/>
                </a:solidFill>
                <a:latin typeface="Caladea"/>
                <a:cs typeface="Caladea"/>
              </a:rPr>
              <a:t>2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,</a:t>
            </a:r>
            <a:r>
              <a:rPr sz="1600" spc="-17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i="1" dirty="0">
                <a:solidFill>
                  <a:srgbClr val="44536A"/>
                </a:solidFill>
                <a:latin typeface="Caladea"/>
                <a:cs typeface="Caladea"/>
              </a:rPr>
              <a:t>P</a:t>
            </a:r>
            <a:r>
              <a:rPr sz="1575" i="1" baseline="-21164" dirty="0">
                <a:solidFill>
                  <a:srgbClr val="44536A"/>
                </a:solidFill>
                <a:latin typeface="Caladea"/>
                <a:cs typeface="Caladea"/>
              </a:rPr>
              <a:t>3</a:t>
            </a:r>
            <a:endParaRPr sz="1575" baseline="-21164" dirty="0">
              <a:latin typeface="Caladea"/>
              <a:cs typeface="Caladea"/>
            </a:endParaRPr>
          </a:p>
          <a:p>
            <a:pPr marL="485775">
              <a:lnSpc>
                <a:spcPts val="1825"/>
              </a:lnSpc>
            </a:pP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The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Gantt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Chart </a:t>
            </a:r>
            <a:r>
              <a:rPr sz="1600" spc="-10" dirty="0">
                <a:solidFill>
                  <a:srgbClr val="44536A"/>
                </a:solidFill>
                <a:latin typeface="Caladea"/>
                <a:cs typeface="Caladea"/>
              </a:rPr>
              <a:t>for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the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schedule</a:t>
            </a:r>
            <a:r>
              <a:rPr sz="1600" spc="-20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is:</a:t>
            </a:r>
            <a:endParaRPr sz="1600" dirty="0">
              <a:latin typeface="Caladea"/>
              <a:cs typeface="Calade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74820518"/>
              </p:ext>
            </p:extLst>
          </p:nvPr>
        </p:nvGraphicFramePr>
        <p:xfrm>
          <a:off x="3712908" y="1828800"/>
          <a:ext cx="5257800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R="33464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4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7" baseline="-21604" dirty="0">
                          <a:latin typeface="Arial"/>
                          <a:cs typeface="Arial"/>
                        </a:rPr>
                        <a:t>1</a:t>
                      </a:r>
                      <a:endParaRPr sz="1350" baseline="-21604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4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7" baseline="-21604" dirty="0"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4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7" baseline="-21604" dirty="0">
                          <a:latin typeface="Arial"/>
                          <a:cs typeface="Arial"/>
                        </a:rPr>
                        <a:t>3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851967" y="2710624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Arial"/>
                <a:cs typeface="Arial"/>
              </a:rPr>
              <a:t>24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8600" y="2710623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49995" y="2710623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600" y="3048000"/>
            <a:ext cx="5638800" cy="673261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85775" indent="-448309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485775" algn="l"/>
                <a:tab pos="486409" algn="l"/>
              </a:tabLst>
            </a:pPr>
            <a:r>
              <a:rPr sz="1600" spc="-5" dirty="0">
                <a:solidFill>
                  <a:srgbClr val="44536A"/>
                </a:solidFill>
                <a:latin typeface="Caladea"/>
                <a:cs typeface="Caladea"/>
              </a:rPr>
              <a:t>Waiting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time </a:t>
            </a:r>
            <a:r>
              <a:rPr sz="1600" spc="-10" dirty="0">
                <a:solidFill>
                  <a:srgbClr val="44536A"/>
                </a:solidFill>
                <a:latin typeface="Caladea"/>
                <a:cs typeface="Caladea"/>
              </a:rPr>
              <a:t>for </a:t>
            </a:r>
            <a:r>
              <a:rPr sz="1600" i="1" dirty="0">
                <a:solidFill>
                  <a:srgbClr val="44536A"/>
                </a:solidFill>
                <a:latin typeface="Caladea"/>
                <a:cs typeface="Caladea"/>
              </a:rPr>
              <a:t>P</a:t>
            </a:r>
            <a:r>
              <a:rPr sz="1575" i="1" baseline="-21164" dirty="0">
                <a:solidFill>
                  <a:srgbClr val="44536A"/>
                </a:solidFill>
                <a:latin typeface="Caladea"/>
                <a:cs typeface="Caladea"/>
              </a:rPr>
              <a:t>1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= 0;</a:t>
            </a:r>
            <a:r>
              <a:rPr lang="en-US" sz="1600" dirty="0">
                <a:solidFill>
                  <a:srgbClr val="44536A"/>
                </a:solidFill>
                <a:latin typeface="Caladea"/>
                <a:cs typeface="Caladea"/>
              </a:rPr>
              <a:t>	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i="1" dirty="0">
                <a:solidFill>
                  <a:srgbClr val="44536A"/>
                </a:solidFill>
                <a:latin typeface="Caladea"/>
                <a:cs typeface="Caladea"/>
              </a:rPr>
              <a:t>P</a:t>
            </a:r>
            <a:r>
              <a:rPr sz="1575" i="1" baseline="-21164" dirty="0">
                <a:solidFill>
                  <a:srgbClr val="44536A"/>
                </a:solidFill>
                <a:latin typeface="Caladea"/>
                <a:cs typeface="Caladea"/>
              </a:rPr>
              <a:t>2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= 24; </a:t>
            </a:r>
            <a:r>
              <a:rPr lang="en-US" sz="1600" dirty="0">
                <a:solidFill>
                  <a:srgbClr val="44536A"/>
                </a:solidFill>
                <a:latin typeface="Caladea"/>
                <a:cs typeface="Caladea"/>
              </a:rPr>
              <a:t>	</a:t>
            </a:r>
            <a:r>
              <a:rPr sz="1600" i="1" dirty="0">
                <a:solidFill>
                  <a:srgbClr val="44536A"/>
                </a:solidFill>
                <a:latin typeface="Caladea"/>
                <a:cs typeface="Caladea"/>
              </a:rPr>
              <a:t>P</a:t>
            </a:r>
            <a:r>
              <a:rPr sz="1575" i="1" baseline="-21164" dirty="0">
                <a:solidFill>
                  <a:srgbClr val="44536A"/>
                </a:solidFill>
                <a:latin typeface="Caladea"/>
                <a:cs typeface="Caladea"/>
              </a:rPr>
              <a:t>3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=</a:t>
            </a:r>
            <a:r>
              <a:rPr sz="1600" spc="-114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27</a:t>
            </a:r>
            <a:endParaRPr sz="1600" dirty="0">
              <a:latin typeface="Caladea"/>
              <a:cs typeface="Caladea"/>
            </a:endParaRPr>
          </a:p>
          <a:p>
            <a:pPr marL="485775" indent="-448309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485775" algn="l"/>
                <a:tab pos="486409" algn="l"/>
              </a:tabLst>
            </a:pPr>
            <a:r>
              <a:rPr sz="1600" spc="-15" dirty="0">
                <a:solidFill>
                  <a:srgbClr val="44536A"/>
                </a:solidFill>
                <a:latin typeface="Caladea"/>
                <a:cs typeface="Caladea"/>
              </a:rPr>
              <a:t>Average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waiting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time: (0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+ 24 + 27)/3 =</a:t>
            </a:r>
            <a:r>
              <a:rPr sz="1600" spc="8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17</a:t>
            </a:r>
            <a:r>
              <a:rPr lang="en-US" sz="1600" dirty="0">
                <a:solidFill>
                  <a:srgbClr val="44536A"/>
                </a:solidFill>
                <a:latin typeface="Caladea"/>
                <a:cs typeface="Caladea"/>
              </a:rPr>
              <a:t> m sec</a:t>
            </a:r>
            <a:endParaRPr sz="1600" dirty="0">
              <a:latin typeface="Caladea"/>
              <a:cs typeface="Caladea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3657600" y="2668520"/>
            <a:ext cx="220979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400" dirty="0">
                <a:latin typeface="Arial"/>
                <a:cs typeface="Arial"/>
              </a:rPr>
              <a:t>0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747" y="31191"/>
            <a:ext cx="806945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FCFS </a:t>
            </a:r>
            <a:r>
              <a:rPr spc="-5" dirty="0"/>
              <a:t>Scheduling</a:t>
            </a:r>
            <a:r>
              <a:rPr spc="-35" dirty="0"/>
              <a:t> </a:t>
            </a:r>
            <a:r>
              <a:rPr dirty="0"/>
              <a:t>(Cont.)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84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" y="553814"/>
            <a:ext cx="8839200" cy="77136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94"/>
              </a:spcBef>
            </a:pPr>
            <a:r>
              <a:rPr sz="1800" spc="-5" dirty="0">
                <a:latin typeface="Caladea"/>
                <a:cs typeface="Caladea"/>
              </a:rPr>
              <a:t>Suppose </a:t>
            </a:r>
            <a:r>
              <a:rPr lang="en-US" sz="1800" spc="-5" dirty="0">
                <a:latin typeface="Caladea"/>
                <a:cs typeface="Caladea"/>
              </a:rPr>
              <a:t>if same 3 processes arrives in </a:t>
            </a:r>
            <a:r>
              <a:rPr lang="en-US" spc="-5" dirty="0">
                <a:latin typeface="Caladea"/>
                <a:cs typeface="Caladea"/>
              </a:rPr>
              <a:t>the order </a:t>
            </a:r>
            <a:r>
              <a:rPr sz="1800" i="1" dirty="0">
                <a:latin typeface="Caladea"/>
                <a:cs typeface="Caladea"/>
              </a:rPr>
              <a:t>P</a:t>
            </a:r>
            <a:r>
              <a:rPr sz="1800" i="1" baseline="-20833" dirty="0">
                <a:latin typeface="Caladea"/>
                <a:cs typeface="Caladea"/>
              </a:rPr>
              <a:t>2 </a:t>
            </a:r>
            <a:r>
              <a:rPr sz="1800" dirty="0">
                <a:latin typeface="Caladea"/>
                <a:cs typeface="Caladea"/>
              </a:rPr>
              <a:t>, </a:t>
            </a:r>
            <a:r>
              <a:rPr sz="1800" i="1" dirty="0">
                <a:latin typeface="Caladea"/>
                <a:cs typeface="Caladea"/>
              </a:rPr>
              <a:t>P</a:t>
            </a:r>
            <a:r>
              <a:rPr sz="1800" i="1" baseline="-20833" dirty="0">
                <a:latin typeface="Caladea"/>
                <a:cs typeface="Caladea"/>
              </a:rPr>
              <a:t>3 </a:t>
            </a:r>
            <a:r>
              <a:rPr sz="1800" dirty="0">
                <a:latin typeface="Caladea"/>
                <a:cs typeface="Caladea"/>
              </a:rPr>
              <a:t>,</a:t>
            </a:r>
            <a:r>
              <a:rPr sz="1800" spc="185" dirty="0">
                <a:latin typeface="Caladea"/>
                <a:cs typeface="Caladea"/>
              </a:rPr>
              <a:t> </a:t>
            </a:r>
            <a:r>
              <a:rPr sz="1800" i="1" dirty="0">
                <a:latin typeface="Caladea"/>
                <a:cs typeface="Caladea"/>
              </a:rPr>
              <a:t>P</a:t>
            </a:r>
            <a:r>
              <a:rPr sz="1800" i="1" baseline="-20833" dirty="0">
                <a:latin typeface="Caladea"/>
                <a:cs typeface="Caladea"/>
              </a:rPr>
              <a:t>1</a:t>
            </a:r>
            <a:endParaRPr sz="1800" baseline="-20833" dirty="0">
              <a:latin typeface="Caladea"/>
              <a:cs typeface="Caladea"/>
            </a:endParaRPr>
          </a:p>
          <a:p>
            <a:pPr marL="473709" indent="-448309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473075" algn="l"/>
                <a:tab pos="473709" algn="l"/>
              </a:tabLst>
            </a:pPr>
            <a:r>
              <a:rPr sz="1800" spc="-10" dirty="0">
                <a:latin typeface="Caladea"/>
                <a:cs typeface="Caladea"/>
              </a:rPr>
              <a:t>The </a:t>
            </a:r>
            <a:r>
              <a:rPr sz="1800" spc="-5" dirty="0">
                <a:latin typeface="Caladea"/>
                <a:cs typeface="Caladea"/>
              </a:rPr>
              <a:t>Gantt chart </a:t>
            </a:r>
            <a:r>
              <a:rPr sz="1800" spc="-10" dirty="0">
                <a:latin typeface="Caladea"/>
                <a:cs typeface="Caladea"/>
              </a:rPr>
              <a:t>for the </a:t>
            </a:r>
            <a:r>
              <a:rPr sz="1800" spc="-5" dirty="0">
                <a:latin typeface="Caladea"/>
                <a:cs typeface="Caladea"/>
              </a:rPr>
              <a:t>schedule</a:t>
            </a:r>
            <a:r>
              <a:rPr sz="1800" spc="35" dirty="0">
                <a:latin typeface="Caladea"/>
                <a:cs typeface="Caladea"/>
              </a:rPr>
              <a:t> </a:t>
            </a:r>
            <a:r>
              <a:rPr sz="1800" dirty="0">
                <a:latin typeface="Caladea"/>
                <a:cs typeface="Caladea"/>
              </a:rPr>
              <a:t>is: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-337441" y="2450892"/>
            <a:ext cx="12168188" cy="2739853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902969" marR="5080" indent="-441959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902335" algn="l"/>
                <a:tab pos="902969" algn="l"/>
              </a:tabLst>
            </a:pPr>
            <a:r>
              <a:rPr lang="en-US" spc="-5" dirty="0">
                <a:latin typeface="Caladea"/>
                <a:cs typeface="Caladea"/>
              </a:rPr>
              <a:t>Thus, a</a:t>
            </a:r>
            <a:r>
              <a:rPr spc="-5" dirty="0">
                <a:latin typeface="Caladea"/>
                <a:cs typeface="Caladea"/>
              </a:rPr>
              <a:t>verage waiting time </a:t>
            </a:r>
            <a:r>
              <a:rPr lang="en-US" spc="-5" dirty="0">
                <a:latin typeface="Caladea"/>
                <a:cs typeface="Caladea"/>
              </a:rPr>
              <a:t>of FCFS keeps on changing according to their arrival &amp; their burst time</a:t>
            </a:r>
            <a:endParaRPr spc="-5" dirty="0">
              <a:latin typeface="Caladea"/>
              <a:cs typeface="Caladea"/>
            </a:endParaRPr>
          </a:p>
          <a:p>
            <a:pPr marL="857250" indent="-40005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pc="-5" dirty="0">
                <a:latin typeface="Caladea"/>
                <a:cs typeface="Caladea"/>
              </a:rPr>
              <a:t>While processes wait in the ready queue, I/O devices are idle. At the same time, CPU-bound process finishes its CPU burst &amp; moves to an I/O device. </a:t>
            </a:r>
          </a:p>
          <a:p>
            <a:pPr marL="857250" indent="-40005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pc="-5" dirty="0">
                <a:latin typeface="Caladea"/>
                <a:cs typeface="Caladea"/>
              </a:rPr>
              <a:t>All the I/O bound processes, which have short CPU bursts, execute quickly &amp; move back to the I/O queues. At this point, </a:t>
            </a:r>
            <a:r>
              <a:rPr lang="en-US" spc="-5" dirty="0">
                <a:solidFill>
                  <a:srgbClr val="FF0000"/>
                </a:solidFill>
                <a:latin typeface="Caladea"/>
                <a:cs typeface="Caladea"/>
              </a:rPr>
              <a:t>CPU sits idle</a:t>
            </a:r>
            <a:r>
              <a:rPr lang="en-US" spc="-5" dirty="0">
                <a:latin typeface="Caladea"/>
                <a:cs typeface="Caladea"/>
              </a:rPr>
              <a:t>. </a:t>
            </a:r>
          </a:p>
          <a:p>
            <a:pPr marL="857250" indent="-40005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pc="-5" dirty="0">
                <a:latin typeface="Caladea"/>
                <a:cs typeface="Caladea"/>
              </a:rPr>
              <a:t>CPU-bound process will then move back to the ready queue &amp; be allocated the CPU.</a:t>
            </a:r>
          </a:p>
          <a:p>
            <a:pPr marL="857250" indent="-40005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pc="-5" dirty="0">
                <a:latin typeface="Caladea"/>
                <a:cs typeface="Caladea"/>
              </a:rPr>
              <a:t> Again, all I/O processes end up waiting in the ready queue until the CPU bound process is done. </a:t>
            </a:r>
          </a:p>
          <a:p>
            <a:pPr marL="857250" indent="-40005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lang="en-US" spc="-5" dirty="0">
                <a:latin typeface="Caladea"/>
                <a:cs typeface="Caladea"/>
              </a:rPr>
              <a:t>There is a </a:t>
            </a:r>
            <a:r>
              <a:rPr lang="en-US" b="1" spc="-5" dirty="0">
                <a:latin typeface="Caladea"/>
                <a:cs typeface="Caladea"/>
              </a:rPr>
              <a:t>Convey Effect </a:t>
            </a:r>
            <a:r>
              <a:rPr lang="en-US" spc="-5" dirty="0">
                <a:latin typeface="Caladea"/>
                <a:cs typeface="Caladea"/>
              </a:rPr>
              <a:t>as all the other processes wait for the one big process to get off The CPU.  </a:t>
            </a:r>
            <a:endParaRPr spc="-5" dirty="0">
              <a:latin typeface="Caladea"/>
              <a:cs typeface="Calade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67535505"/>
              </p:ext>
            </p:extLst>
          </p:nvPr>
        </p:nvGraphicFramePr>
        <p:xfrm>
          <a:off x="6821550" y="834232"/>
          <a:ext cx="5257800" cy="475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4424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2</a:t>
                      </a:r>
                      <a:endParaRPr sz="1800" baseline="-20833" dirty="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18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 dirty="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10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910060" y="1309719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30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-18288" y="1264227"/>
            <a:ext cx="8624125" cy="1163139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486409" indent="-448309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485775" algn="l"/>
                <a:tab pos="486409" algn="l"/>
              </a:tabLst>
            </a:pPr>
            <a:r>
              <a:rPr spc="-5" dirty="0">
                <a:latin typeface="Caladea"/>
                <a:cs typeface="Caladea"/>
              </a:rPr>
              <a:t>Waiting time for P1 = 6; </a:t>
            </a:r>
            <a:r>
              <a:rPr lang="en-US" spc="-5" dirty="0">
                <a:latin typeface="Caladea"/>
                <a:cs typeface="Caladea"/>
              </a:rPr>
              <a:t>	</a:t>
            </a:r>
            <a:r>
              <a:rPr spc="-5" dirty="0">
                <a:latin typeface="Caladea"/>
                <a:cs typeface="Caladea"/>
              </a:rPr>
              <a:t>P2 = 0; </a:t>
            </a:r>
            <a:r>
              <a:rPr lang="en-US" spc="-5" dirty="0">
                <a:latin typeface="Caladea"/>
                <a:cs typeface="Caladea"/>
              </a:rPr>
              <a:t>		</a:t>
            </a:r>
            <a:r>
              <a:rPr spc="-5" dirty="0">
                <a:latin typeface="Caladea"/>
                <a:cs typeface="Caladea"/>
              </a:rPr>
              <a:t>P3 = 3</a:t>
            </a:r>
          </a:p>
          <a:p>
            <a:pPr marL="486409" indent="-448309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485775" algn="l"/>
                <a:tab pos="486409" algn="l"/>
                <a:tab pos="2752725" algn="l"/>
              </a:tabLst>
            </a:pPr>
            <a:r>
              <a:rPr spc="-5" dirty="0">
                <a:latin typeface="Caladea"/>
                <a:cs typeface="Caladea"/>
              </a:rPr>
              <a:t>Average waiting time:	(6 + 0 + 3)/3 = 3</a:t>
            </a:r>
            <a:r>
              <a:rPr lang="en-US" spc="-5" dirty="0">
                <a:latin typeface="Caladea"/>
                <a:cs typeface="Caladea"/>
              </a:rPr>
              <a:t>m sec</a:t>
            </a:r>
            <a:endParaRPr spc="-5" dirty="0">
              <a:latin typeface="Caladea"/>
              <a:cs typeface="Caladea"/>
            </a:endParaRPr>
          </a:p>
          <a:p>
            <a:pPr marL="486409" indent="-448309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485775" algn="l"/>
                <a:tab pos="486409" algn="l"/>
              </a:tabLst>
            </a:pPr>
            <a:r>
              <a:rPr spc="-5" dirty="0">
                <a:latin typeface="Caladea"/>
                <a:cs typeface="Caladea"/>
              </a:rPr>
              <a:t>Much better than previous case</a:t>
            </a:r>
          </a:p>
        </p:txBody>
      </p:sp>
      <p:sp>
        <p:nvSpPr>
          <p:cNvPr id="9" name="object 6"/>
          <p:cNvSpPr txBox="1"/>
          <p:nvPr/>
        </p:nvSpPr>
        <p:spPr>
          <a:xfrm>
            <a:off x="8610600" y="1332822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6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7696200" y="1318958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3</a:t>
            </a:r>
          </a:p>
        </p:txBody>
      </p:sp>
      <p:sp>
        <p:nvSpPr>
          <p:cNvPr id="11" name="object 6"/>
          <p:cNvSpPr txBox="1"/>
          <p:nvPr/>
        </p:nvSpPr>
        <p:spPr>
          <a:xfrm>
            <a:off x="6781800" y="134277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2" y="0"/>
            <a:ext cx="6683502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" dirty="0"/>
              <a:t>FCFS</a:t>
            </a:r>
            <a:r>
              <a:rPr sz="4400" spc="-60" dirty="0"/>
              <a:t> </a:t>
            </a:r>
            <a:r>
              <a:rPr sz="4400" spc="-15" dirty="0" err="1"/>
              <a:t>contd</a:t>
            </a:r>
            <a:r>
              <a:rPr lang="en-GB" sz="4400" spc="-15" dirty="0"/>
              <a:t>.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-33338" y="838201"/>
            <a:ext cx="4529138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05449" y="690562"/>
            <a:ext cx="59550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calculate </a:t>
            </a:r>
            <a:r>
              <a:rPr sz="1800" spc="-5" dirty="0">
                <a:latin typeface="Carlito"/>
                <a:cs typeface="Carlito"/>
              </a:rPr>
              <a:t>the </a:t>
            </a:r>
            <a:r>
              <a:rPr sz="1800" spc="-25" dirty="0">
                <a:latin typeface="Carlito"/>
                <a:cs typeface="Carlito"/>
              </a:rPr>
              <a:t>average </a:t>
            </a:r>
            <a:r>
              <a:rPr sz="1800" spc="-10" dirty="0">
                <a:latin typeface="Carlito"/>
                <a:cs typeface="Carlito"/>
              </a:rPr>
              <a:t>waiting </a:t>
            </a:r>
            <a:r>
              <a:rPr sz="1800" spc="-5" dirty="0">
                <a:latin typeface="Carlito"/>
                <a:cs typeface="Carlito"/>
              </a:rPr>
              <a:t>time, </a:t>
            </a:r>
            <a:r>
              <a:rPr sz="1800" spc="-25" dirty="0">
                <a:latin typeface="Carlito"/>
                <a:cs typeface="Carlito"/>
              </a:rPr>
              <a:t>average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turnaround</a:t>
            </a:r>
            <a:r>
              <a:rPr lang="en-US"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time and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throughput.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85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6" name="object 5"/>
          <p:cNvSpPr/>
          <p:nvPr/>
        </p:nvSpPr>
        <p:spPr>
          <a:xfrm>
            <a:off x="5181600" y="1265237"/>
            <a:ext cx="5928360" cy="144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 txBox="1"/>
          <p:nvPr/>
        </p:nvSpPr>
        <p:spPr>
          <a:xfrm>
            <a:off x="-33338" y="2590801"/>
            <a:ext cx="12225338" cy="25943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b="1" spc="-15" dirty="0">
                <a:latin typeface="Caladea"/>
                <a:cs typeface="Caladea"/>
              </a:rPr>
              <a:t>Average Waiting</a:t>
            </a:r>
            <a:r>
              <a:rPr sz="1600" b="1" spc="-65" dirty="0">
                <a:latin typeface="Caladea"/>
                <a:cs typeface="Caladea"/>
              </a:rPr>
              <a:t> </a:t>
            </a:r>
            <a:r>
              <a:rPr sz="1600" b="1" spc="5" dirty="0">
                <a:latin typeface="Caladea"/>
                <a:cs typeface="Caladea"/>
              </a:rPr>
              <a:t>Time</a:t>
            </a:r>
            <a:endParaRPr sz="1600" dirty="0">
              <a:latin typeface="Caladea"/>
              <a:cs typeface="Caladea"/>
            </a:endParaRPr>
          </a:p>
          <a:p>
            <a:pPr marL="241300">
              <a:lnSpc>
                <a:spcPts val="1730"/>
              </a:lnSpc>
            </a:pPr>
            <a:r>
              <a:rPr sz="1600" i="1" spc="-15" dirty="0">
                <a:latin typeface="Caladea"/>
                <a:cs typeface="Caladea"/>
              </a:rPr>
              <a:t>Waiting </a:t>
            </a:r>
            <a:r>
              <a:rPr sz="1600" i="1" dirty="0">
                <a:latin typeface="Caladea"/>
                <a:cs typeface="Caladea"/>
              </a:rPr>
              <a:t>Time = </a:t>
            </a:r>
            <a:r>
              <a:rPr sz="1600" i="1" spc="-5" dirty="0">
                <a:latin typeface="Caladea"/>
                <a:cs typeface="Caladea"/>
              </a:rPr>
              <a:t>Starting </a:t>
            </a:r>
            <a:r>
              <a:rPr sz="1600" i="1" dirty="0">
                <a:latin typeface="Caladea"/>
                <a:cs typeface="Caladea"/>
              </a:rPr>
              <a:t>Time - </a:t>
            </a:r>
            <a:r>
              <a:rPr sz="1600" i="1" spc="-10" dirty="0">
                <a:latin typeface="Caladea"/>
                <a:cs typeface="Caladea"/>
              </a:rPr>
              <a:t>Arrival</a:t>
            </a:r>
            <a:r>
              <a:rPr sz="1600" i="1" spc="-25" dirty="0">
                <a:latin typeface="Caladea"/>
                <a:cs typeface="Caladea"/>
              </a:rPr>
              <a:t> </a:t>
            </a:r>
            <a:r>
              <a:rPr sz="1600" i="1" dirty="0">
                <a:latin typeface="Caladea"/>
                <a:cs typeface="Caladea"/>
              </a:rPr>
              <a:t>Time</a:t>
            </a:r>
            <a:endParaRPr sz="1600" dirty="0">
              <a:latin typeface="Caladea"/>
              <a:cs typeface="Caladea"/>
            </a:endParaRPr>
          </a:p>
          <a:p>
            <a:pPr marL="241300" marR="6762750">
              <a:lnSpc>
                <a:spcPts val="1730"/>
              </a:lnSpc>
              <a:spcBef>
                <a:spcPts val="120"/>
              </a:spcBef>
            </a:pPr>
            <a:r>
              <a:rPr sz="1600" spc="-5" dirty="0">
                <a:latin typeface="Caladea"/>
                <a:cs typeface="Caladea"/>
              </a:rPr>
              <a:t>Waiting </a:t>
            </a:r>
            <a:r>
              <a:rPr sz="1600" spc="5" dirty="0">
                <a:latin typeface="Caladea"/>
                <a:cs typeface="Caladea"/>
              </a:rPr>
              <a:t>time</a:t>
            </a:r>
            <a:r>
              <a:rPr sz="1600" spc="-18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of  </a:t>
            </a:r>
            <a:r>
              <a:rPr sz="1600" dirty="0">
                <a:latin typeface="Caladea"/>
                <a:cs typeface="Caladea"/>
              </a:rPr>
              <a:t>P1 =</a:t>
            </a:r>
            <a:r>
              <a:rPr sz="1600" spc="-30" dirty="0">
                <a:latin typeface="Caladea"/>
                <a:cs typeface="Caladea"/>
              </a:rPr>
              <a:t> </a:t>
            </a:r>
            <a:r>
              <a:rPr sz="1600" dirty="0">
                <a:latin typeface="Caladea"/>
                <a:cs typeface="Caladea"/>
              </a:rPr>
              <a:t>0</a:t>
            </a:r>
            <a:r>
              <a:rPr lang="en-US" sz="1600" dirty="0">
                <a:latin typeface="Caladea"/>
                <a:cs typeface="Caladea"/>
              </a:rPr>
              <a:t>	</a:t>
            </a:r>
            <a:r>
              <a:rPr sz="1600" dirty="0">
                <a:latin typeface="Caladea"/>
                <a:cs typeface="Caladea"/>
              </a:rPr>
              <a:t>P2 = 5 - 0 = 5</a:t>
            </a:r>
            <a:r>
              <a:rPr sz="1600" spc="-55" dirty="0">
                <a:latin typeface="Caladea"/>
                <a:cs typeface="Caladea"/>
              </a:rPr>
              <a:t> </a:t>
            </a:r>
            <a:r>
              <a:rPr sz="1600" dirty="0" err="1">
                <a:latin typeface="Caladea"/>
                <a:cs typeface="Caladea"/>
              </a:rPr>
              <a:t>ms</a:t>
            </a:r>
            <a:r>
              <a:rPr lang="en-US" sz="1600" dirty="0">
                <a:latin typeface="Caladea"/>
                <a:cs typeface="Caladea"/>
              </a:rPr>
              <a:t>	</a:t>
            </a:r>
            <a:endParaRPr sz="1600" dirty="0">
              <a:latin typeface="Caladea"/>
              <a:cs typeface="Caladea"/>
            </a:endParaRPr>
          </a:p>
          <a:p>
            <a:pPr marL="241300">
              <a:lnSpc>
                <a:spcPts val="1730"/>
              </a:lnSpc>
            </a:pPr>
            <a:r>
              <a:rPr sz="1600" dirty="0">
                <a:latin typeface="Caladea"/>
                <a:cs typeface="Caladea"/>
              </a:rPr>
              <a:t>P3 = 29 - 0 = 29</a:t>
            </a:r>
            <a:r>
              <a:rPr sz="1600" spc="-114" dirty="0">
                <a:latin typeface="Caladea"/>
                <a:cs typeface="Caladea"/>
              </a:rPr>
              <a:t> </a:t>
            </a:r>
            <a:r>
              <a:rPr sz="1600" dirty="0" err="1">
                <a:latin typeface="Caladea"/>
                <a:cs typeface="Caladea"/>
              </a:rPr>
              <a:t>ms</a:t>
            </a:r>
            <a:endParaRPr sz="1600" dirty="0">
              <a:latin typeface="Caladea"/>
              <a:cs typeface="Caladea"/>
            </a:endParaRPr>
          </a:p>
          <a:p>
            <a:pPr marL="241300">
              <a:lnSpc>
                <a:spcPts val="1730"/>
              </a:lnSpc>
            </a:pPr>
            <a:r>
              <a:rPr sz="1600" spc="5" dirty="0">
                <a:latin typeface="Caladea"/>
                <a:cs typeface="Caladea"/>
              </a:rPr>
              <a:t>P4 = 45 </a:t>
            </a:r>
            <a:r>
              <a:rPr sz="1600" dirty="0">
                <a:latin typeface="Caladea"/>
                <a:cs typeface="Caladea"/>
              </a:rPr>
              <a:t>- </a:t>
            </a:r>
            <a:r>
              <a:rPr sz="1600" spc="5" dirty="0">
                <a:latin typeface="Caladea"/>
                <a:cs typeface="Caladea"/>
              </a:rPr>
              <a:t>0 = 45</a:t>
            </a:r>
            <a:r>
              <a:rPr sz="1600" spc="-185" dirty="0">
                <a:latin typeface="Caladea"/>
                <a:cs typeface="Caladea"/>
              </a:rPr>
              <a:t> </a:t>
            </a:r>
            <a:r>
              <a:rPr sz="1600" dirty="0" err="1">
                <a:latin typeface="Caladea"/>
                <a:cs typeface="Caladea"/>
              </a:rPr>
              <a:t>ms</a:t>
            </a:r>
            <a:endParaRPr sz="1600" dirty="0">
              <a:latin typeface="Caladea"/>
              <a:cs typeface="Caladea"/>
            </a:endParaRPr>
          </a:p>
          <a:p>
            <a:pPr marL="241300">
              <a:lnSpc>
                <a:spcPts val="1730"/>
              </a:lnSpc>
            </a:pPr>
            <a:r>
              <a:rPr sz="1600" dirty="0">
                <a:latin typeface="Caladea"/>
                <a:cs typeface="Caladea"/>
              </a:rPr>
              <a:t>P5 = 55 - 0 = 55</a:t>
            </a:r>
            <a:r>
              <a:rPr sz="1600" spc="-114" dirty="0">
                <a:latin typeface="Caladea"/>
                <a:cs typeface="Caladea"/>
              </a:rPr>
              <a:t> </a:t>
            </a:r>
            <a:r>
              <a:rPr sz="1600" dirty="0">
                <a:latin typeface="Caladea"/>
                <a:cs typeface="Caladea"/>
              </a:rPr>
              <a:t>ms</a:t>
            </a:r>
          </a:p>
          <a:p>
            <a:pPr marL="241300">
              <a:lnSpc>
                <a:spcPts val="1730"/>
              </a:lnSpc>
            </a:pPr>
            <a:r>
              <a:rPr sz="1600" i="1" spc="-15" dirty="0">
                <a:latin typeface="Caladea"/>
                <a:cs typeface="Caladea"/>
              </a:rPr>
              <a:t>Average Waiting </a:t>
            </a:r>
            <a:r>
              <a:rPr sz="1600" i="1" dirty="0">
                <a:latin typeface="Caladea"/>
                <a:cs typeface="Caladea"/>
              </a:rPr>
              <a:t>Time = </a:t>
            </a:r>
            <a:r>
              <a:rPr sz="1600" i="1" spc="-15" dirty="0">
                <a:latin typeface="Caladea"/>
                <a:cs typeface="Caladea"/>
              </a:rPr>
              <a:t>Waiting </a:t>
            </a:r>
            <a:r>
              <a:rPr sz="1600" i="1" dirty="0">
                <a:latin typeface="Caladea"/>
                <a:cs typeface="Caladea"/>
              </a:rPr>
              <a:t>Time of </a:t>
            </a:r>
            <a:r>
              <a:rPr sz="1600" i="1" spc="-5" dirty="0">
                <a:latin typeface="Caladea"/>
                <a:cs typeface="Caladea"/>
              </a:rPr>
              <a:t>all Processes </a:t>
            </a:r>
            <a:r>
              <a:rPr sz="1600" i="1" dirty="0">
                <a:latin typeface="Caladea"/>
                <a:cs typeface="Caladea"/>
              </a:rPr>
              <a:t>/ </a:t>
            </a:r>
            <a:r>
              <a:rPr sz="1600" i="1" spc="-25" dirty="0">
                <a:latin typeface="Caladea"/>
                <a:cs typeface="Caladea"/>
              </a:rPr>
              <a:t>Total </a:t>
            </a:r>
            <a:r>
              <a:rPr sz="1600" i="1" spc="5" dirty="0">
                <a:latin typeface="Caladea"/>
                <a:cs typeface="Caladea"/>
              </a:rPr>
              <a:t>Number </a:t>
            </a:r>
            <a:r>
              <a:rPr sz="1600" i="1" dirty="0">
                <a:latin typeface="Caladea"/>
                <a:cs typeface="Caladea"/>
              </a:rPr>
              <a:t>of</a:t>
            </a:r>
            <a:r>
              <a:rPr sz="1600" i="1" spc="-150" dirty="0">
                <a:latin typeface="Caladea"/>
                <a:cs typeface="Caladea"/>
              </a:rPr>
              <a:t> </a:t>
            </a:r>
            <a:r>
              <a:rPr sz="1600" i="1" spc="-5" dirty="0">
                <a:latin typeface="Caladea"/>
                <a:cs typeface="Caladea"/>
              </a:rPr>
              <a:t>Process</a:t>
            </a:r>
            <a:endParaRPr sz="1600" dirty="0">
              <a:latin typeface="Caladea"/>
              <a:cs typeface="Caladea"/>
            </a:endParaRPr>
          </a:p>
          <a:p>
            <a:pPr marL="241300">
              <a:lnSpc>
                <a:spcPts val="1825"/>
              </a:lnSpc>
            </a:pPr>
            <a:r>
              <a:rPr sz="1600" spc="-5" dirty="0">
                <a:latin typeface="Caladea"/>
                <a:cs typeface="Caladea"/>
              </a:rPr>
              <a:t>Therefore,</a:t>
            </a:r>
            <a:r>
              <a:rPr sz="1600" spc="-90" dirty="0">
                <a:latin typeface="Caladea"/>
                <a:cs typeface="Caladea"/>
              </a:rPr>
              <a:t> </a:t>
            </a:r>
            <a:r>
              <a:rPr sz="1600" spc="-5" dirty="0">
                <a:latin typeface="Caladea"/>
                <a:cs typeface="Caladea"/>
              </a:rPr>
              <a:t>average</a:t>
            </a:r>
            <a:r>
              <a:rPr sz="1600" spc="-85" dirty="0">
                <a:latin typeface="Caladea"/>
                <a:cs typeface="Caladea"/>
              </a:rPr>
              <a:t> </a:t>
            </a:r>
            <a:r>
              <a:rPr sz="1600" dirty="0">
                <a:latin typeface="Caladea"/>
                <a:cs typeface="Caladea"/>
              </a:rPr>
              <a:t>waiting</a:t>
            </a:r>
            <a:r>
              <a:rPr sz="1600" spc="-7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time</a:t>
            </a:r>
            <a:r>
              <a:rPr sz="1600" spc="-35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=</a:t>
            </a:r>
            <a:r>
              <a:rPr sz="160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(0</a:t>
            </a:r>
            <a:r>
              <a:rPr sz="1600" spc="-2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+</a:t>
            </a:r>
            <a:r>
              <a:rPr sz="1600" spc="-2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5</a:t>
            </a:r>
            <a:r>
              <a:rPr sz="160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+</a:t>
            </a:r>
            <a:r>
              <a:rPr sz="160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29</a:t>
            </a:r>
            <a:r>
              <a:rPr sz="1600" spc="-2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+</a:t>
            </a:r>
            <a:r>
              <a:rPr sz="160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45</a:t>
            </a:r>
            <a:r>
              <a:rPr sz="1600" spc="-25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+</a:t>
            </a:r>
            <a:r>
              <a:rPr sz="1600" dirty="0">
                <a:latin typeface="Caladea"/>
                <a:cs typeface="Caladea"/>
              </a:rPr>
              <a:t> 55)</a:t>
            </a:r>
            <a:r>
              <a:rPr sz="1600" spc="-15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/</a:t>
            </a:r>
            <a:r>
              <a:rPr sz="1600" spc="-15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5</a:t>
            </a:r>
            <a:r>
              <a:rPr sz="160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=</a:t>
            </a:r>
            <a:r>
              <a:rPr sz="1600" spc="-20" dirty="0">
                <a:latin typeface="Caladea"/>
                <a:cs typeface="Caladea"/>
              </a:rPr>
              <a:t> </a:t>
            </a:r>
            <a:r>
              <a:rPr sz="1600" spc="5" dirty="0">
                <a:latin typeface="Caladea"/>
                <a:cs typeface="Caladea"/>
              </a:rPr>
              <a:t>25</a:t>
            </a:r>
            <a:r>
              <a:rPr sz="1600" spc="-5" dirty="0">
                <a:latin typeface="Caladea"/>
                <a:cs typeface="Caladea"/>
              </a:rPr>
              <a:t> </a:t>
            </a:r>
            <a:r>
              <a:rPr sz="1600" dirty="0">
                <a:latin typeface="Caladea"/>
                <a:cs typeface="Caladea"/>
              </a:rPr>
              <a:t>ms</a:t>
            </a:r>
          </a:p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b="1" spc="-15" dirty="0">
                <a:latin typeface="Caladea"/>
                <a:cs typeface="Caladea"/>
              </a:rPr>
              <a:t>Average </a:t>
            </a:r>
            <a:r>
              <a:rPr sz="1600" b="1" spc="-10" dirty="0">
                <a:latin typeface="Caladea"/>
                <a:cs typeface="Caladea"/>
              </a:rPr>
              <a:t>Turnaround</a:t>
            </a:r>
            <a:r>
              <a:rPr sz="1600" b="1" spc="-95" dirty="0">
                <a:latin typeface="Caladea"/>
                <a:cs typeface="Caladea"/>
              </a:rPr>
              <a:t> </a:t>
            </a:r>
            <a:r>
              <a:rPr sz="1600" b="1" spc="5" dirty="0">
                <a:latin typeface="Caladea"/>
                <a:cs typeface="Caladea"/>
              </a:rPr>
              <a:t>Time</a:t>
            </a:r>
            <a:endParaRPr sz="1600" dirty="0">
              <a:latin typeface="Caladea"/>
              <a:cs typeface="Caladea"/>
            </a:endParaRPr>
          </a:p>
          <a:p>
            <a:pPr marL="241300" indent="-228600">
              <a:lnSpc>
                <a:spcPts val="1825"/>
              </a:lnSpc>
              <a:spcBef>
                <a:spcPts val="8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i="1" spc="-10" dirty="0">
                <a:latin typeface="Caladea"/>
                <a:cs typeface="Caladea"/>
              </a:rPr>
              <a:t>Turnaround </a:t>
            </a:r>
            <a:r>
              <a:rPr sz="1600" i="1" dirty="0">
                <a:latin typeface="Caladea"/>
                <a:cs typeface="Caladea"/>
              </a:rPr>
              <a:t>Time </a:t>
            </a:r>
            <a:r>
              <a:rPr sz="1600" i="1" spc="5" dirty="0">
                <a:latin typeface="Caladea"/>
                <a:cs typeface="Caladea"/>
              </a:rPr>
              <a:t>= </a:t>
            </a:r>
            <a:r>
              <a:rPr sz="1600" i="1" spc="-15" dirty="0">
                <a:latin typeface="Caladea"/>
                <a:cs typeface="Caladea"/>
              </a:rPr>
              <a:t>Waiting </a:t>
            </a:r>
            <a:r>
              <a:rPr sz="1600" i="1" dirty="0">
                <a:latin typeface="Caladea"/>
                <a:cs typeface="Caladea"/>
              </a:rPr>
              <a:t>time in </a:t>
            </a:r>
            <a:r>
              <a:rPr sz="1600" i="1" spc="-5" dirty="0">
                <a:latin typeface="Caladea"/>
                <a:cs typeface="Caladea"/>
              </a:rPr>
              <a:t>the ready </a:t>
            </a:r>
            <a:r>
              <a:rPr sz="1600" i="1" dirty="0">
                <a:latin typeface="Caladea"/>
                <a:cs typeface="Caladea"/>
              </a:rPr>
              <a:t>queue </a:t>
            </a:r>
            <a:r>
              <a:rPr sz="1600" i="1" spc="5" dirty="0">
                <a:latin typeface="Caladea"/>
                <a:cs typeface="Caladea"/>
              </a:rPr>
              <a:t>+ </a:t>
            </a:r>
            <a:r>
              <a:rPr sz="1600" i="1" spc="-5" dirty="0">
                <a:latin typeface="Caladea"/>
                <a:cs typeface="Caladea"/>
              </a:rPr>
              <a:t>executing </a:t>
            </a:r>
            <a:r>
              <a:rPr sz="1600" i="1" dirty="0">
                <a:latin typeface="Caladea"/>
                <a:cs typeface="Caladea"/>
              </a:rPr>
              <a:t>time </a:t>
            </a:r>
            <a:r>
              <a:rPr sz="1600" i="1" spc="5" dirty="0">
                <a:latin typeface="Caladea"/>
                <a:cs typeface="Caladea"/>
              </a:rPr>
              <a:t>+ </a:t>
            </a:r>
            <a:r>
              <a:rPr sz="1600" i="1" dirty="0">
                <a:latin typeface="Caladea"/>
                <a:cs typeface="Caladea"/>
              </a:rPr>
              <a:t>waiting time in</a:t>
            </a:r>
            <a:r>
              <a:rPr sz="1600" i="1" spc="-85" dirty="0">
                <a:latin typeface="Caladea"/>
                <a:cs typeface="Caladea"/>
              </a:rPr>
              <a:t> </a:t>
            </a:r>
            <a:r>
              <a:rPr sz="1600" i="1" spc="5" dirty="0">
                <a:latin typeface="Caladea"/>
                <a:cs typeface="Caladea"/>
              </a:rPr>
              <a:t>waiting-</a:t>
            </a:r>
            <a:r>
              <a:rPr sz="1600" i="1" dirty="0">
                <a:latin typeface="Caladea"/>
                <a:cs typeface="Caladea"/>
              </a:rPr>
              <a:t>queue </a:t>
            </a:r>
            <a:r>
              <a:rPr sz="1600" i="1" spc="5" dirty="0">
                <a:latin typeface="Caladea"/>
                <a:cs typeface="Caladea"/>
              </a:rPr>
              <a:t>for</a:t>
            </a:r>
            <a:r>
              <a:rPr sz="1600" i="1" spc="-60" dirty="0">
                <a:latin typeface="Caladea"/>
                <a:cs typeface="Caladea"/>
              </a:rPr>
              <a:t> </a:t>
            </a:r>
            <a:r>
              <a:rPr sz="1600" i="1" spc="-5" dirty="0">
                <a:latin typeface="Caladea"/>
                <a:cs typeface="Caladea"/>
              </a:rPr>
              <a:t>I/O</a:t>
            </a:r>
            <a:endParaRPr sz="1600" dirty="0">
              <a:latin typeface="Caladea"/>
              <a:cs typeface="Calad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447243"/>
            <a:ext cx="12192000" cy="392222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5255895" indent="-228600">
              <a:lnSpc>
                <a:spcPts val="2160"/>
              </a:lnSpc>
              <a:spcBef>
                <a:spcPts val="365"/>
              </a:spcBef>
              <a:buFont typeface="Arial"/>
              <a:buChar char="•"/>
              <a:tabLst>
                <a:tab pos="239713" algn="l"/>
                <a:tab pos="241300" algn="l"/>
                <a:tab pos="7772400" algn="l"/>
              </a:tabLst>
            </a:pPr>
            <a:r>
              <a:rPr sz="2000" spc="-15" dirty="0">
                <a:latin typeface="Caladea"/>
                <a:cs typeface="Caladea"/>
              </a:rPr>
              <a:t>Turnaround </a:t>
            </a:r>
            <a:r>
              <a:rPr sz="2000" spc="-10" dirty="0">
                <a:latin typeface="Caladea"/>
                <a:cs typeface="Caladea"/>
              </a:rPr>
              <a:t>time </a:t>
            </a:r>
            <a:r>
              <a:rPr sz="2000" spc="-5" dirty="0">
                <a:latin typeface="Caladea"/>
                <a:cs typeface="Caladea"/>
              </a:rPr>
              <a:t>of  P1 = 0 + 5 + 0 = </a:t>
            </a:r>
            <a:r>
              <a:rPr sz="2000" spc="-10" dirty="0">
                <a:latin typeface="Caladea"/>
                <a:cs typeface="Caladea"/>
              </a:rPr>
              <a:t>5ms  </a:t>
            </a:r>
            <a:endParaRPr lang="en-US" sz="2000" spc="-10" dirty="0">
              <a:latin typeface="Caladea"/>
              <a:cs typeface="Caladea"/>
            </a:endParaRPr>
          </a:p>
          <a:p>
            <a:pPr marL="12700" marR="5255895">
              <a:lnSpc>
                <a:spcPts val="2160"/>
              </a:lnSpc>
              <a:spcBef>
                <a:spcPts val="365"/>
              </a:spcBef>
              <a:tabLst>
                <a:tab pos="239713" algn="l"/>
                <a:tab pos="241300" algn="l"/>
                <a:tab pos="7772400" algn="l"/>
              </a:tabLst>
            </a:pPr>
            <a:r>
              <a:rPr lang="en-US" sz="2000" spc="-10" dirty="0">
                <a:latin typeface="Caladea"/>
                <a:cs typeface="Caladea"/>
              </a:rPr>
              <a:t>		</a:t>
            </a:r>
            <a:r>
              <a:rPr sz="2000" spc="-5" dirty="0">
                <a:latin typeface="Caladea"/>
                <a:cs typeface="Caladea"/>
              </a:rPr>
              <a:t>P2 = 5 + 24 + 0 =</a:t>
            </a:r>
            <a:r>
              <a:rPr sz="2000" spc="-20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29ms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010"/>
              </a:lnSpc>
            </a:pPr>
            <a:r>
              <a:rPr sz="2000" spc="-5" dirty="0">
                <a:latin typeface="Caladea"/>
                <a:cs typeface="Caladea"/>
              </a:rPr>
              <a:t>P3 = 29 + 16 + 0 =</a:t>
            </a:r>
            <a:r>
              <a:rPr sz="2000" spc="-15" dirty="0">
                <a:latin typeface="Caladea"/>
                <a:cs typeface="Caladea"/>
              </a:rPr>
              <a:t> </a:t>
            </a:r>
            <a:r>
              <a:rPr sz="2000" spc="-5" dirty="0">
                <a:latin typeface="Caladea"/>
                <a:cs typeface="Caladea"/>
              </a:rPr>
              <a:t>45ms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160"/>
              </a:lnSpc>
            </a:pPr>
            <a:r>
              <a:rPr sz="2000" spc="-5" dirty="0">
                <a:latin typeface="Caladea"/>
                <a:cs typeface="Caladea"/>
              </a:rPr>
              <a:t>P4 = 45 + 10 + 0 =</a:t>
            </a:r>
            <a:r>
              <a:rPr sz="2000" spc="5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55ms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160"/>
              </a:lnSpc>
            </a:pPr>
            <a:r>
              <a:rPr sz="2000" spc="-5" dirty="0">
                <a:latin typeface="Caladea"/>
                <a:cs typeface="Caladea"/>
              </a:rPr>
              <a:t>P5 = 55 + 3 + 0 =</a:t>
            </a:r>
            <a:r>
              <a:rPr sz="2000" spc="40" dirty="0">
                <a:latin typeface="Caladea"/>
                <a:cs typeface="Caladea"/>
              </a:rPr>
              <a:t> </a:t>
            </a:r>
            <a:r>
              <a:rPr sz="2000" spc="-5" dirty="0">
                <a:latin typeface="Caladea"/>
                <a:cs typeface="Caladea"/>
              </a:rPr>
              <a:t>58ms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160"/>
              </a:lnSpc>
            </a:pPr>
            <a:r>
              <a:rPr sz="2000" spc="-40" dirty="0">
                <a:latin typeface="Caladea"/>
                <a:cs typeface="Caladea"/>
              </a:rPr>
              <a:t>Total </a:t>
            </a:r>
            <a:r>
              <a:rPr sz="2000" spc="-20" dirty="0">
                <a:latin typeface="Caladea"/>
                <a:cs typeface="Caladea"/>
              </a:rPr>
              <a:t>Turnaround </a:t>
            </a:r>
            <a:r>
              <a:rPr sz="2000" spc="-10" dirty="0">
                <a:latin typeface="Caladea"/>
                <a:cs typeface="Caladea"/>
              </a:rPr>
              <a:t>Time </a:t>
            </a:r>
            <a:r>
              <a:rPr sz="2000" spc="-5" dirty="0">
                <a:latin typeface="Caladea"/>
                <a:cs typeface="Caladea"/>
              </a:rPr>
              <a:t>= (5 + 29 + 45 + 55 + </a:t>
            </a:r>
            <a:r>
              <a:rPr sz="2000" dirty="0">
                <a:latin typeface="Caladea"/>
                <a:cs typeface="Caladea"/>
              </a:rPr>
              <a:t>58)ms </a:t>
            </a:r>
            <a:r>
              <a:rPr sz="2000" spc="-5" dirty="0">
                <a:latin typeface="Caladea"/>
                <a:cs typeface="Caladea"/>
              </a:rPr>
              <a:t>=</a:t>
            </a:r>
            <a:r>
              <a:rPr sz="2000" spc="229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192ms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160"/>
              </a:lnSpc>
            </a:pPr>
            <a:r>
              <a:rPr sz="2000" spc="-30" dirty="0">
                <a:latin typeface="Caladea"/>
                <a:cs typeface="Caladea"/>
              </a:rPr>
              <a:t>Average </a:t>
            </a:r>
            <a:r>
              <a:rPr sz="2000" spc="-20" dirty="0">
                <a:latin typeface="Caladea"/>
                <a:cs typeface="Caladea"/>
              </a:rPr>
              <a:t>Turnaround </a:t>
            </a:r>
            <a:r>
              <a:rPr sz="2000" spc="-10" dirty="0">
                <a:latin typeface="Caladea"/>
                <a:cs typeface="Caladea"/>
              </a:rPr>
              <a:t>Time </a:t>
            </a:r>
            <a:r>
              <a:rPr sz="2000" spc="-5" dirty="0">
                <a:latin typeface="Caladea"/>
                <a:cs typeface="Caladea"/>
              </a:rPr>
              <a:t>= </a:t>
            </a:r>
            <a:r>
              <a:rPr sz="2000" spc="-35" dirty="0">
                <a:latin typeface="Caladea"/>
                <a:cs typeface="Caladea"/>
              </a:rPr>
              <a:t>(Total </a:t>
            </a:r>
            <a:r>
              <a:rPr sz="2000" spc="-20" dirty="0">
                <a:latin typeface="Caladea"/>
                <a:cs typeface="Caladea"/>
              </a:rPr>
              <a:t>Turnaround </a:t>
            </a:r>
            <a:r>
              <a:rPr sz="2000" spc="-10" dirty="0">
                <a:latin typeface="Caladea"/>
                <a:cs typeface="Caladea"/>
              </a:rPr>
              <a:t>Time </a:t>
            </a:r>
            <a:r>
              <a:rPr sz="2000" spc="-5" dirty="0">
                <a:latin typeface="Caladea"/>
                <a:cs typeface="Caladea"/>
              </a:rPr>
              <a:t>/ </a:t>
            </a:r>
            <a:r>
              <a:rPr sz="2000" spc="-40" dirty="0">
                <a:latin typeface="Caladea"/>
                <a:cs typeface="Caladea"/>
              </a:rPr>
              <a:t>Total </a:t>
            </a:r>
            <a:r>
              <a:rPr sz="2000" spc="-10" dirty="0">
                <a:latin typeface="Caladea"/>
                <a:cs typeface="Caladea"/>
              </a:rPr>
              <a:t>Number</a:t>
            </a:r>
            <a:r>
              <a:rPr sz="2000" spc="350" dirty="0">
                <a:latin typeface="Caladea"/>
                <a:cs typeface="Caladea"/>
              </a:rPr>
              <a:t> </a:t>
            </a:r>
            <a:r>
              <a:rPr sz="2000" spc="-5" dirty="0">
                <a:latin typeface="Caladea"/>
                <a:cs typeface="Caladea"/>
              </a:rPr>
              <a:t>of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Caladea"/>
                <a:cs typeface="Caladea"/>
              </a:rPr>
              <a:t>Process) </a:t>
            </a:r>
            <a:r>
              <a:rPr sz="2000" spc="-5" dirty="0">
                <a:latin typeface="Caladea"/>
                <a:cs typeface="Caladea"/>
              </a:rPr>
              <a:t>= (192 / </a:t>
            </a:r>
            <a:r>
              <a:rPr sz="2000" dirty="0">
                <a:latin typeface="Caladea"/>
                <a:cs typeface="Caladea"/>
              </a:rPr>
              <a:t>5)ms </a:t>
            </a:r>
            <a:r>
              <a:rPr sz="2000" spc="-5" dirty="0">
                <a:latin typeface="Caladea"/>
                <a:cs typeface="Caladea"/>
              </a:rPr>
              <a:t>=</a:t>
            </a:r>
            <a:r>
              <a:rPr sz="2000" spc="50" dirty="0">
                <a:latin typeface="Caladea"/>
                <a:cs typeface="Caladea"/>
              </a:rPr>
              <a:t> </a:t>
            </a:r>
            <a:r>
              <a:rPr sz="2000" spc="-5" dirty="0">
                <a:latin typeface="Caladea"/>
                <a:cs typeface="Caladea"/>
              </a:rPr>
              <a:t>38.4ms</a:t>
            </a:r>
            <a:endParaRPr sz="2000" dirty="0">
              <a:latin typeface="Caladea"/>
              <a:cs typeface="Caladea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endParaRPr lang="en-US" sz="2000" b="1" spc="-10" dirty="0">
              <a:latin typeface="Caladea"/>
              <a:cs typeface="Caladea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adea"/>
                <a:cs typeface="Caladea"/>
              </a:rPr>
              <a:t>Throughput</a:t>
            </a:r>
            <a:endParaRPr sz="2000" dirty="0">
              <a:latin typeface="Caladea"/>
              <a:cs typeface="Caladea"/>
            </a:endParaRPr>
          </a:p>
          <a:p>
            <a:pPr marL="241300" marR="322580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20" dirty="0">
                <a:latin typeface="Caladea"/>
                <a:cs typeface="Caladea"/>
              </a:rPr>
              <a:t>Here, </a:t>
            </a:r>
            <a:r>
              <a:rPr sz="2000" spc="-25" dirty="0">
                <a:latin typeface="Caladea"/>
                <a:cs typeface="Caladea"/>
              </a:rPr>
              <a:t>we have </a:t>
            </a:r>
            <a:r>
              <a:rPr sz="2000" spc="-5" dirty="0">
                <a:latin typeface="Caladea"/>
                <a:cs typeface="Caladea"/>
              </a:rPr>
              <a:t>a </a:t>
            </a:r>
            <a:r>
              <a:rPr sz="2000" spc="-10" dirty="0">
                <a:latin typeface="Caladea"/>
                <a:cs typeface="Caladea"/>
              </a:rPr>
              <a:t>total </a:t>
            </a:r>
            <a:r>
              <a:rPr sz="2000" spc="-5" dirty="0">
                <a:latin typeface="Caladea"/>
                <a:cs typeface="Caladea"/>
              </a:rPr>
              <a:t>of </a:t>
            </a:r>
            <a:r>
              <a:rPr sz="2000" spc="-30" dirty="0">
                <a:latin typeface="Caladea"/>
                <a:cs typeface="Caladea"/>
              </a:rPr>
              <a:t>five </a:t>
            </a:r>
            <a:r>
              <a:rPr sz="2000" spc="-10" dirty="0">
                <a:latin typeface="Caladea"/>
                <a:cs typeface="Caladea"/>
              </a:rPr>
              <a:t>processes. </a:t>
            </a:r>
            <a:r>
              <a:rPr sz="2000" spc="-15" dirty="0">
                <a:latin typeface="Caladea"/>
                <a:cs typeface="Caladea"/>
              </a:rPr>
              <a:t>Process </a:t>
            </a:r>
            <a:r>
              <a:rPr sz="2000" spc="-5" dirty="0">
                <a:latin typeface="Caladea"/>
                <a:cs typeface="Caladea"/>
              </a:rPr>
              <a:t>P1, P2, P3, P4, </a:t>
            </a:r>
            <a:r>
              <a:rPr sz="2000" spc="-10" dirty="0">
                <a:latin typeface="Caladea"/>
                <a:cs typeface="Caladea"/>
              </a:rPr>
              <a:t>and </a:t>
            </a:r>
            <a:r>
              <a:rPr sz="2000" spc="-5" dirty="0">
                <a:latin typeface="Caladea"/>
                <a:cs typeface="Caladea"/>
              </a:rPr>
              <a:t>P5  </a:t>
            </a:r>
            <a:r>
              <a:rPr sz="2000" spc="-10" dirty="0">
                <a:latin typeface="Caladea"/>
                <a:cs typeface="Caladea"/>
              </a:rPr>
              <a:t>takes </a:t>
            </a:r>
            <a:r>
              <a:rPr sz="2000" spc="-5" dirty="0">
                <a:latin typeface="Caladea"/>
                <a:cs typeface="Caladea"/>
              </a:rPr>
              <a:t>5ms, 24ms, 16ms, 10ms, and 3ms </a:t>
            </a:r>
            <a:r>
              <a:rPr sz="2000" spc="-20" dirty="0">
                <a:latin typeface="Caladea"/>
                <a:cs typeface="Caladea"/>
              </a:rPr>
              <a:t>to </a:t>
            </a:r>
            <a:r>
              <a:rPr sz="2000" spc="-25" dirty="0">
                <a:latin typeface="Caladea"/>
                <a:cs typeface="Caladea"/>
              </a:rPr>
              <a:t>execute </a:t>
            </a:r>
            <a:r>
              <a:rPr sz="2000" spc="-35" dirty="0">
                <a:latin typeface="Caladea"/>
                <a:cs typeface="Caladea"/>
              </a:rPr>
              <a:t>respectively.  </a:t>
            </a:r>
            <a:r>
              <a:rPr sz="2000" spc="-15" dirty="0">
                <a:latin typeface="Caladea"/>
                <a:cs typeface="Caladea"/>
              </a:rPr>
              <a:t>Throughput </a:t>
            </a:r>
            <a:r>
              <a:rPr sz="2000" spc="-5" dirty="0">
                <a:latin typeface="Caladea"/>
                <a:cs typeface="Caladea"/>
              </a:rPr>
              <a:t>= (5 + 24 +16 + 10 +3) / 5 =</a:t>
            </a:r>
            <a:r>
              <a:rPr sz="2000" spc="170" dirty="0">
                <a:latin typeface="Caladea"/>
                <a:cs typeface="Caladea"/>
              </a:rPr>
              <a:t> </a:t>
            </a:r>
            <a:r>
              <a:rPr sz="2000" spc="-5" dirty="0">
                <a:latin typeface="Caladea"/>
                <a:cs typeface="Caladea"/>
              </a:rPr>
              <a:t>11.6ms</a:t>
            </a:r>
            <a:endParaRPr sz="2000" dirty="0">
              <a:latin typeface="Caladea"/>
              <a:cs typeface="Caladea"/>
            </a:endParaRPr>
          </a:p>
          <a:p>
            <a:pPr marL="241300">
              <a:lnSpc>
                <a:spcPts val="2160"/>
              </a:lnSpc>
            </a:pPr>
            <a:r>
              <a:rPr sz="2000" spc="-5" dirty="0">
                <a:latin typeface="Caladea"/>
                <a:cs typeface="Caladea"/>
              </a:rPr>
              <a:t>It </a:t>
            </a:r>
            <a:r>
              <a:rPr sz="2000" spc="-10" dirty="0">
                <a:latin typeface="Caladea"/>
                <a:cs typeface="Caladea"/>
              </a:rPr>
              <a:t>means one </a:t>
            </a:r>
            <a:r>
              <a:rPr sz="2000" spc="-15" dirty="0">
                <a:latin typeface="Caladea"/>
                <a:cs typeface="Caladea"/>
              </a:rPr>
              <a:t>process </a:t>
            </a:r>
            <a:r>
              <a:rPr sz="2000" spc="-25" dirty="0">
                <a:latin typeface="Caladea"/>
                <a:cs typeface="Caladea"/>
              </a:rPr>
              <a:t>executes </a:t>
            </a:r>
            <a:r>
              <a:rPr sz="2000" spc="-5" dirty="0">
                <a:latin typeface="Caladea"/>
                <a:cs typeface="Caladea"/>
              </a:rPr>
              <a:t>in </a:t>
            </a:r>
            <a:r>
              <a:rPr sz="2000" spc="-30" dirty="0">
                <a:latin typeface="Caladea"/>
                <a:cs typeface="Caladea"/>
              </a:rPr>
              <a:t>every </a:t>
            </a:r>
            <a:r>
              <a:rPr sz="2000" spc="-5" dirty="0">
                <a:latin typeface="Caladea"/>
                <a:cs typeface="Caladea"/>
              </a:rPr>
              <a:t>11.6</a:t>
            </a:r>
            <a:r>
              <a:rPr sz="2000" spc="320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ms.</a:t>
            </a:r>
            <a:endParaRPr sz="2000" dirty="0">
              <a:latin typeface="Caladea"/>
              <a:cs typeface="Calade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86</a:t>
            </a:fld>
            <a:endParaRPr spc="-5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-14288"/>
            <a:ext cx="11125200" cy="57579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dirty="0"/>
              <a:t>Scheduling </a:t>
            </a:r>
            <a:r>
              <a:rPr spc="-5" dirty="0"/>
              <a:t>Algorithms: </a:t>
            </a:r>
            <a:r>
              <a:rPr spc="-10" dirty="0"/>
              <a:t>SJF </a:t>
            </a:r>
            <a:r>
              <a:rPr spc="-5" dirty="0"/>
              <a:t>and  </a:t>
            </a:r>
            <a:r>
              <a:rPr spc="-40" dirty="0"/>
              <a:t>SRTF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87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561511"/>
            <a:ext cx="1211268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5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ladea"/>
                <a:cs typeface="Caladea"/>
              </a:rPr>
              <a:t>CPU is </a:t>
            </a:r>
            <a:r>
              <a:rPr lang="en-US" dirty="0">
                <a:latin typeface="Caladea"/>
                <a:cs typeface="Caladea"/>
              </a:rPr>
              <a:t>assigned </a:t>
            </a:r>
            <a:r>
              <a:rPr lang="en-US" spc="-15" dirty="0">
                <a:latin typeface="Caladea"/>
                <a:cs typeface="Caladea"/>
              </a:rPr>
              <a:t>to </a:t>
            </a:r>
            <a:r>
              <a:rPr lang="en-US" spc="-5" dirty="0">
                <a:latin typeface="Caladea"/>
                <a:cs typeface="Caladea"/>
              </a:rPr>
              <a:t>the process that has the </a:t>
            </a:r>
            <a:r>
              <a:rPr lang="en-US" dirty="0">
                <a:latin typeface="Caladea"/>
                <a:cs typeface="Caladea"/>
              </a:rPr>
              <a:t>smallest </a:t>
            </a:r>
            <a:r>
              <a:rPr lang="en-US" spc="-10" dirty="0">
                <a:latin typeface="Caladea"/>
                <a:cs typeface="Caladea"/>
              </a:rPr>
              <a:t>next</a:t>
            </a:r>
            <a:r>
              <a:rPr lang="en-US" spc="-65" dirty="0">
                <a:latin typeface="Caladea"/>
                <a:cs typeface="Caladea"/>
              </a:rPr>
              <a:t> </a:t>
            </a:r>
            <a:r>
              <a:rPr lang="en-US" dirty="0">
                <a:latin typeface="Caladea"/>
                <a:cs typeface="Caladea"/>
              </a:rPr>
              <a:t>CPU </a:t>
            </a:r>
            <a:r>
              <a:rPr lang="en-US" spc="-5" dirty="0">
                <a:latin typeface="Caladea"/>
                <a:cs typeface="Caladea"/>
              </a:rPr>
              <a:t>burst</a:t>
            </a:r>
          </a:p>
          <a:p>
            <a:pPr marL="285750" indent="-285750">
              <a:lnSpc>
                <a:spcPts val="2405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ladea"/>
                <a:cs typeface="Caladea"/>
              </a:rPr>
              <a:t>If the 2 processes are having same CPU burst, tie can be broken using FCFS</a:t>
            </a:r>
          </a:p>
          <a:p>
            <a:pPr marL="285750" indent="-285750">
              <a:lnSpc>
                <a:spcPts val="2405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ladea"/>
                <a:cs typeface="Caladea"/>
              </a:rPr>
              <a:t>This SJF is also called as </a:t>
            </a:r>
            <a:r>
              <a:rPr lang="en-US" b="1" spc="-5" dirty="0">
                <a:latin typeface="Caladea"/>
                <a:cs typeface="Caladea"/>
              </a:rPr>
              <a:t>Shortest next CPU burst algorithm</a:t>
            </a:r>
          </a:p>
          <a:p>
            <a:pPr marL="285750" indent="-285750">
              <a:lnSpc>
                <a:spcPts val="2405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ladea"/>
                <a:cs typeface="Caladea"/>
              </a:rPr>
              <a:t>Consider the following set of processes with the length of the CPU burst given in </a:t>
            </a:r>
            <a:r>
              <a:rPr lang="en-US" spc="-5" dirty="0" err="1">
                <a:latin typeface="Caladea"/>
                <a:cs typeface="Caladea"/>
              </a:rPr>
              <a:t>millisec</a:t>
            </a:r>
            <a:endParaRPr lang="en-US" spc="-5" dirty="0">
              <a:latin typeface="Caladea"/>
              <a:cs typeface="Caladea"/>
            </a:endParaRPr>
          </a:p>
          <a:p>
            <a:pPr marL="241300">
              <a:lnSpc>
                <a:spcPts val="2405"/>
              </a:lnSpc>
            </a:pPr>
            <a:endParaRPr lang="en-US" dirty="0">
              <a:latin typeface="Caladea"/>
              <a:cs typeface="Caladea"/>
            </a:endParaRP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53965584"/>
              </p:ext>
            </p:extLst>
          </p:nvPr>
        </p:nvGraphicFramePr>
        <p:xfrm>
          <a:off x="10058397" y="304800"/>
          <a:ext cx="213360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50150"/>
            <a:ext cx="8229600" cy="10953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8600" y="3200400"/>
            <a:ext cx="43815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Waiting time of P4=0msec</a:t>
            </a:r>
          </a:p>
          <a:p>
            <a:r>
              <a:rPr lang="en-US" dirty="0"/>
              <a:t>Waiting time of P1=3msec</a:t>
            </a:r>
          </a:p>
          <a:p>
            <a:r>
              <a:rPr lang="en-US" dirty="0"/>
              <a:t>Waiting time of P3=9msec</a:t>
            </a:r>
          </a:p>
          <a:p>
            <a:r>
              <a:rPr lang="en-US" dirty="0"/>
              <a:t>Waiting time of P2=16msec</a:t>
            </a:r>
          </a:p>
          <a:p>
            <a:endParaRPr lang="en-US" dirty="0"/>
          </a:p>
          <a:p>
            <a:r>
              <a:rPr lang="en-US" dirty="0"/>
              <a:t>Average waiting time =(0+3+9+16)/4=7 </a:t>
            </a:r>
            <a:r>
              <a:rPr lang="en-US" dirty="0" err="1"/>
              <a:t>msec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763" y="0"/>
            <a:ext cx="7508647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Shortest-Job-First </a:t>
            </a:r>
            <a:r>
              <a:rPr sz="3200" spc="-5" dirty="0"/>
              <a:t>(SJF)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88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86" y="536257"/>
            <a:ext cx="12177713" cy="474745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SJF is an optimal scheduling algorithm when compared to FCFS. 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Moving a short process </a:t>
            </a:r>
            <a:r>
              <a:rPr lang="en-US" sz="2400" dirty="0">
                <a:solidFill>
                  <a:srgbClr val="FF0000"/>
                </a:solidFill>
                <a:latin typeface="Caladea"/>
                <a:cs typeface="Caladea"/>
              </a:rPr>
              <a:t>before a long one decreases </a:t>
            </a:r>
            <a:r>
              <a:rPr lang="en-US" sz="2400" dirty="0">
                <a:latin typeface="Caladea"/>
                <a:cs typeface="Caladea"/>
              </a:rPr>
              <a:t>the waiting time of the short process more than it increases the waiting time of the long process. 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The real difficulty with the SJF algorithm is knowing length of the next CPU request.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SJF algorithm can be either </a:t>
            </a:r>
            <a:r>
              <a:rPr lang="en-US" sz="2400" b="1" dirty="0">
                <a:solidFill>
                  <a:srgbClr val="FF0000"/>
                </a:solidFill>
                <a:latin typeface="Caladea"/>
                <a:cs typeface="Caladea"/>
              </a:rPr>
              <a:t>preemptive &amp; non-preemptive</a:t>
            </a:r>
            <a:r>
              <a:rPr lang="en-US" sz="2400" dirty="0">
                <a:latin typeface="Caladea"/>
                <a:cs typeface="Caladea"/>
              </a:rPr>
              <a:t>. 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The choice arises when a new process arrives at the ready queue while a previous process is still executing.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The next CPU burst of the newly arrived process may be shorter than what is left of the currently executing process.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A preemptive SJF algorithm will preempt the currently executing process, whereas a non-preemptive SJF algorithm will allow the currently running process to finish its CPU burst. </a:t>
            </a:r>
          </a:p>
          <a:p>
            <a:pPr marL="241300" marR="5080" indent="-2286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adea"/>
                <a:cs typeface="Caladea"/>
              </a:rPr>
              <a:t>Preemptive SJF scheduling is also called </a:t>
            </a:r>
            <a:r>
              <a:rPr lang="en-US" sz="2400" b="1" dirty="0">
                <a:solidFill>
                  <a:srgbClr val="FF0000"/>
                </a:solidFill>
                <a:latin typeface="Caladea"/>
                <a:cs typeface="Caladea"/>
              </a:rPr>
              <a:t>shortest- remaining-time-first.</a:t>
            </a:r>
            <a:endParaRPr sz="2400" b="1" dirty="0">
              <a:solidFill>
                <a:srgbClr val="FF0000"/>
              </a:solidFill>
              <a:latin typeface="Caladea"/>
              <a:cs typeface="Calad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SJF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9678"/>
            <a:ext cx="12192000" cy="92333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Consider the following 4 processes, with the length of CPU burst given in milliseconds.</a:t>
            </a:r>
          </a:p>
          <a:p>
            <a:r>
              <a:rPr lang="en-US" dirty="0">
                <a:solidFill>
                  <a:schemeClr val="tx1"/>
                </a:solidFill>
              </a:rPr>
              <a:t>If the 4 Processes arrives in the order shown in the table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2474234"/>
              </p:ext>
            </p:extLst>
          </p:nvPr>
        </p:nvGraphicFramePr>
        <p:xfrm>
          <a:off x="14287" y="1295400"/>
          <a:ext cx="349091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645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62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Burst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371600"/>
            <a:ext cx="8191500" cy="1095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04106" y="2839565"/>
            <a:ext cx="46092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Waiting time for P1=0 + (10-1)= 9 </a:t>
            </a:r>
            <a:r>
              <a:rPr lang="en-US" dirty="0" err="1"/>
              <a:t>msec</a:t>
            </a:r>
            <a:endParaRPr lang="en-US" dirty="0"/>
          </a:p>
          <a:p>
            <a:r>
              <a:rPr lang="en-US" dirty="0"/>
              <a:t>Waiting time for P2=0</a:t>
            </a:r>
          </a:p>
          <a:p>
            <a:r>
              <a:rPr lang="en-US" dirty="0"/>
              <a:t>Waiting time for P3=17 – 2 = 15 </a:t>
            </a:r>
            <a:r>
              <a:rPr lang="en-US" dirty="0" err="1"/>
              <a:t>msec</a:t>
            </a:r>
            <a:endParaRPr lang="en-US" dirty="0"/>
          </a:p>
          <a:p>
            <a:r>
              <a:rPr lang="en-US" dirty="0"/>
              <a:t>Waiting time for P4=5 – 3 = 2 </a:t>
            </a:r>
            <a:r>
              <a:rPr lang="en-US" dirty="0" err="1"/>
              <a:t>msec</a:t>
            </a:r>
            <a:endParaRPr lang="en-US" dirty="0"/>
          </a:p>
          <a:p>
            <a:r>
              <a:rPr lang="en-US" dirty="0"/>
              <a:t>Average waiting time =(9+0+15+2)/4= 6.5 </a:t>
            </a:r>
            <a:r>
              <a:rPr lang="en-US" dirty="0" err="1"/>
              <a:t>msec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564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8575"/>
            <a:ext cx="691959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spc="-5" dirty="0">
                <a:latin typeface="Arial"/>
                <a:cs typeface="Arial"/>
              </a:rPr>
              <a:t>SJF </a:t>
            </a:r>
            <a:r>
              <a:rPr sz="3200" b="1" spc="-10" dirty="0">
                <a:latin typeface="Arial"/>
                <a:cs typeface="Arial"/>
              </a:rPr>
              <a:t>(Shortest </a:t>
            </a:r>
            <a:r>
              <a:rPr sz="3200" b="1" spc="-5" dirty="0">
                <a:latin typeface="Arial"/>
                <a:cs typeface="Arial"/>
              </a:rPr>
              <a:t>Job First)</a:t>
            </a:r>
            <a:r>
              <a:rPr sz="3200" b="1" spc="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Scheduling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76200" y="685800"/>
            <a:ext cx="4873752" cy="2322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90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5" name="object 2"/>
          <p:cNvSpPr/>
          <p:nvPr/>
        </p:nvSpPr>
        <p:spPr>
          <a:xfrm>
            <a:off x="4648200" y="640081"/>
            <a:ext cx="7040275" cy="9601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95800" y="1847103"/>
            <a:ext cx="6890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Assuming arrival time is 0 for all the processes</a:t>
            </a:r>
          </a:p>
          <a:p>
            <a:r>
              <a:rPr lang="en-US" dirty="0">
                <a:solidFill>
                  <a:srgbClr val="002060"/>
                </a:solidFill>
              </a:rPr>
              <a:t>Waiting time for P1 = 3 – 0 = 3 </a:t>
            </a:r>
            <a:r>
              <a:rPr lang="en-US" dirty="0" err="1">
                <a:solidFill>
                  <a:srgbClr val="002060"/>
                </a:solidFill>
              </a:rPr>
              <a:t>msec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Waiting time for P2= 34 – 0 = 34 </a:t>
            </a:r>
            <a:r>
              <a:rPr lang="en-US" dirty="0" err="1">
                <a:solidFill>
                  <a:srgbClr val="002060"/>
                </a:solidFill>
              </a:rPr>
              <a:t>msec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Waiting time for P3= 18 – 0 = 18 </a:t>
            </a:r>
            <a:r>
              <a:rPr lang="en-US" dirty="0" err="1">
                <a:solidFill>
                  <a:srgbClr val="002060"/>
                </a:solidFill>
              </a:rPr>
              <a:t>msec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Waiting time for P4= 8 – 0 = 8 </a:t>
            </a:r>
            <a:r>
              <a:rPr lang="en-US" dirty="0" err="1">
                <a:solidFill>
                  <a:srgbClr val="002060"/>
                </a:solidFill>
              </a:rPr>
              <a:t>msec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Waiting time for P5= 0 </a:t>
            </a:r>
            <a:r>
              <a:rPr lang="en-US" dirty="0" err="1">
                <a:solidFill>
                  <a:srgbClr val="002060"/>
                </a:solidFill>
              </a:rPr>
              <a:t>msec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Average Waiting Time = (3 + 34 + 18 + 8 + 0) / 5 = 12.6ms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3091686"/>
            <a:ext cx="4257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15" dirty="0">
                <a:solidFill>
                  <a:srgbClr val="FF0000"/>
                </a:solidFill>
                <a:latin typeface="Arial"/>
                <a:cs typeface="Arial"/>
              </a:rPr>
              <a:t>Turnaround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lang="en-US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</a:p>
          <a:p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P1 = 3 + 5 =</a:t>
            </a:r>
            <a:r>
              <a:rPr lang="en-US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8ms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P2 =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34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24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58ms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P3 =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18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16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34ms</a:t>
            </a:r>
          </a:p>
          <a:p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P4 = 8 + 10 = 18ms</a:t>
            </a:r>
          </a:p>
          <a:p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P5 = 0 + 3 =</a:t>
            </a:r>
            <a:r>
              <a:rPr lang="en-US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3ms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" y="4846012"/>
            <a:ext cx="6617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Average </a:t>
            </a:r>
            <a:r>
              <a:rPr lang="en-US" spc="-15" dirty="0">
                <a:solidFill>
                  <a:srgbClr val="FF0000"/>
                </a:solidFill>
                <a:latin typeface="Arial"/>
                <a:cs typeface="Arial"/>
              </a:rPr>
              <a:t>Turnaround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Time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= </a:t>
            </a:r>
            <a:r>
              <a:rPr lang="en-US" spc="-15" dirty="0">
                <a:solidFill>
                  <a:srgbClr val="FF0000"/>
                </a:solidFill>
                <a:latin typeface="Arial"/>
                <a:cs typeface="Arial"/>
              </a:rPr>
              <a:t>(8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58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34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18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3) 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/ 5 =</a:t>
            </a:r>
            <a:r>
              <a:rPr lang="en-US" spc="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24.2ms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05600" y="4065324"/>
            <a:ext cx="5402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Here, </a:t>
            </a:r>
            <a:r>
              <a:rPr lang="en-US" spc="-20" dirty="0">
                <a:solidFill>
                  <a:srgbClr val="00B0F0"/>
                </a:solidFill>
                <a:latin typeface="Arial"/>
                <a:cs typeface="Arial"/>
              </a:rPr>
              <a:t>we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have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a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total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of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five processes. Process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P1, P2, P3, P4,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and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P5 takes 5ms, 24ms, 16ms, 10ms,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and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3ms to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execute </a:t>
            </a:r>
            <a:r>
              <a:rPr lang="en-US" spc="-20" dirty="0">
                <a:solidFill>
                  <a:srgbClr val="00B0F0"/>
                </a:solidFill>
                <a:latin typeface="Arial"/>
                <a:cs typeface="Arial"/>
              </a:rPr>
              <a:t>respectively</a:t>
            </a:r>
          </a:p>
          <a:p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Therefore, Throughput will be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same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as above problem </a:t>
            </a:r>
            <a:r>
              <a:rPr lang="en-US" spc="-5" dirty="0">
                <a:solidFill>
                  <a:srgbClr val="00B0F0"/>
                </a:solidFill>
                <a:latin typeface="Arial"/>
                <a:cs typeface="Arial"/>
              </a:rPr>
              <a:t>i.e., </a:t>
            </a:r>
            <a:r>
              <a:rPr lang="en-US" spc="-25" dirty="0">
                <a:solidFill>
                  <a:srgbClr val="00B0F0"/>
                </a:solidFill>
                <a:latin typeface="Arial"/>
                <a:cs typeface="Arial"/>
              </a:rPr>
              <a:t>11.6ms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for each</a:t>
            </a:r>
            <a:r>
              <a:rPr lang="en-US" spc="27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00B0F0"/>
                </a:solidFill>
                <a:latin typeface="Arial"/>
                <a:cs typeface="Arial"/>
              </a:rPr>
              <a:t>process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/>
      <p:bldP spid="8" grpId="0"/>
      <p:bldP spid="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99" y="688072"/>
            <a:ext cx="7149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0015" algn="l"/>
                <a:tab pos="3054985" algn="l"/>
              </a:tabLst>
            </a:pPr>
            <a:r>
              <a:rPr sz="2400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Process</a:t>
            </a:r>
            <a:r>
              <a:rPr lang="en-US" sz="2400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es   </a:t>
            </a:r>
            <a:r>
              <a:rPr sz="2400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Arrival</a:t>
            </a:r>
            <a:r>
              <a:rPr sz="2400" spc="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Time</a:t>
            </a:r>
            <a:r>
              <a:rPr sz="2400" spc="-5" dirty="0">
                <a:solidFill>
                  <a:srgbClr val="44536A"/>
                </a:solidFill>
                <a:latin typeface="Carlito"/>
                <a:cs typeface="Carlito"/>
              </a:rPr>
              <a:t>	</a:t>
            </a:r>
            <a:r>
              <a:rPr lang="en-US" sz="2400" spc="-5" dirty="0">
                <a:solidFill>
                  <a:srgbClr val="44536A"/>
                </a:solidFill>
                <a:latin typeface="Carlito"/>
                <a:cs typeface="Carlito"/>
              </a:rPr>
              <a:t>  </a:t>
            </a:r>
            <a:r>
              <a:rPr sz="2400" spc="-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Burst </a:t>
            </a:r>
            <a:r>
              <a:rPr sz="240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Time</a:t>
            </a:r>
            <a:r>
              <a:rPr sz="2400" spc="-7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(ms)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91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054606"/>
            <a:ext cx="688721" cy="18529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1120" marR="30480" indent="-33655" algn="just">
              <a:lnSpc>
                <a:spcPct val="124800"/>
              </a:lnSpc>
              <a:spcBef>
                <a:spcPts val="110"/>
              </a:spcBef>
            </a:pPr>
            <a:r>
              <a:rPr sz="2400" i="1" spc="5" dirty="0">
                <a:solidFill>
                  <a:srgbClr val="44536A"/>
                </a:solidFill>
                <a:latin typeface="Carlito"/>
                <a:cs typeface="Carlito"/>
              </a:rPr>
              <a:t>P</a:t>
            </a:r>
            <a:r>
              <a:rPr sz="2400" i="1" spc="7" baseline="-20833" dirty="0">
                <a:solidFill>
                  <a:srgbClr val="44536A"/>
                </a:solidFill>
                <a:latin typeface="Carlito"/>
                <a:cs typeface="Carlito"/>
              </a:rPr>
              <a:t>1  </a:t>
            </a:r>
            <a:r>
              <a:rPr sz="2400" i="1" spc="10" dirty="0">
                <a:solidFill>
                  <a:srgbClr val="44536A"/>
                </a:solidFill>
                <a:latin typeface="Carlito"/>
                <a:cs typeface="Carlito"/>
              </a:rPr>
              <a:t>P</a:t>
            </a:r>
            <a:r>
              <a:rPr sz="2400" i="1" baseline="-20833" dirty="0">
                <a:solidFill>
                  <a:srgbClr val="44536A"/>
                </a:solidFill>
                <a:latin typeface="Carlito"/>
                <a:cs typeface="Carlito"/>
              </a:rPr>
              <a:t>2  </a:t>
            </a:r>
            <a:r>
              <a:rPr sz="2400" i="1" spc="10" dirty="0">
                <a:solidFill>
                  <a:srgbClr val="44536A"/>
                </a:solidFill>
                <a:latin typeface="Carlito"/>
                <a:cs typeface="Carlito"/>
              </a:rPr>
              <a:t>P</a:t>
            </a:r>
            <a:r>
              <a:rPr sz="2400" i="1" baseline="-20833" dirty="0">
                <a:solidFill>
                  <a:srgbClr val="44536A"/>
                </a:solidFill>
                <a:latin typeface="Carlito"/>
                <a:cs typeface="Carlito"/>
              </a:rPr>
              <a:t>3  </a:t>
            </a:r>
            <a:r>
              <a:rPr sz="2400" i="1" spc="5" dirty="0">
                <a:solidFill>
                  <a:srgbClr val="44536A"/>
                </a:solidFill>
                <a:latin typeface="Carlito"/>
                <a:cs typeface="Carlito"/>
              </a:rPr>
              <a:t>P</a:t>
            </a:r>
            <a:r>
              <a:rPr sz="2400" i="1" spc="7" baseline="-20833" dirty="0">
                <a:solidFill>
                  <a:srgbClr val="44536A"/>
                </a:solidFill>
                <a:latin typeface="Carlito"/>
                <a:cs typeface="Carlito"/>
              </a:rPr>
              <a:t>4</a:t>
            </a:r>
            <a:endParaRPr sz="2400" baseline="-20833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6660" y="1051937"/>
            <a:ext cx="762000" cy="18529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0.0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2.0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4.0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5.0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4656" y="1036315"/>
            <a:ext cx="395605" cy="18529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7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4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1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4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3035012"/>
            <a:ext cx="475465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30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400" spc="-5" dirty="0">
                <a:solidFill>
                  <a:srgbClr val="44536A"/>
                </a:solidFill>
                <a:latin typeface="Carlito"/>
                <a:cs typeface="Carlito"/>
              </a:rPr>
              <a:t>SJF</a:t>
            </a:r>
            <a:r>
              <a:rPr sz="2400" spc="-6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44536A"/>
                </a:solidFill>
                <a:latin typeface="Carlito"/>
                <a:cs typeface="Carlito"/>
              </a:rPr>
              <a:t>(non-preemptive)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47656"/>
            <a:ext cx="792683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latin typeface="Carlito"/>
                <a:cs typeface="Carlito"/>
              </a:rPr>
              <a:t>Example </a:t>
            </a:r>
            <a:r>
              <a:rPr spc="-5" dirty="0">
                <a:latin typeface="Carlito"/>
                <a:cs typeface="Carlito"/>
              </a:rPr>
              <a:t>of </a:t>
            </a:r>
            <a:r>
              <a:rPr spc="-10" dirty="0">
                <a:latin typeface="Carlito"/>
                <a:cs typeface="Carlito"/>
              </a:rPr>
              <a:t>Non-Preemptive</a:t>
            </a:r>
            <a:r>
              <a:rPr spc="-5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SJF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27544469"/>
              </p:ext>
            </p:extLst>
          </p:nvPr>
        </p:nvGraphicFramePr>
        <p:xfrm>
          <a:off x="6437756" y="1600200"/>
          <a:ext cx="5257800" cy="838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496824">
                <a:tc gridSpan="7">
                  <a:txBody>
                    <a:bodyPr/>
                    <a:lstStyle/>
                    <a:p>
                      <a:pPr marR="48895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P</a:t>
                      </a:r>
                      <a:r>
                        <a:rPr sz="1800" baseline="-20833" dirty="0">
                          <a:latin typeface="Carlito"/>
                          <a:cs typeface="Carlito"/>
                        </a:rPr>
                        <a:t>1</a:t>
                      </a:r>
                    </a:p>
                  </a:txBody>
                  <a:tcPr marL="0" marR="0" marT="10731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P</a:t>
                      </a:r>
                      <a:r>
                        <a:rPr sz="1800" baseline="-20833" dirty="0">
                          <a:latin typeface="Carlito"/>
                          <a:cs typeface="Carlito"/>
                        </a:rPr>
                        <a:t>3</a:t>
                      </a:r>
                      <a:endParaRPr sz="1800" baseline="-20833">
                        <a:latin typeface="Carlito"/>
                        <a:cs typeface="Carlito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13664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P</a:t>
                      </a:r>
                      <a:r>
                        <a:rPr sz="1800" baseline="-20833" dirty="0">
                          <a:latin typeface="Carlito"/>
                          <a:cs typeface="Carlito"/>
                        </a:rPr>
                        <a:t>2</a:t>
                      </a:r>
                      <a:endParaRPr sz="1800" baseline="-20833">
                        <a:latin typeface="Carlito"/>
                        <a:cs typeface="Carlito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R="10604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P</a:t>
                      </a:r>
                      <a:r>
                        <a:rPr sz="1800" baseline="-20833" dirty="0">
                          <a:latin typeface="Carlito"/>
                          <a:cs typeface="Carlito"/>
                        </a:rPr>
                        <a:t>4</a:t>
                      </a:r>
                      <a:endParaRPr sz="1800" baseline="-20833">
                        <a:latin typeface="Carlito"/>
                        <a:cs typeface="Carlito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2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31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5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277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952457" y="2430775"/>
            <a:ext cx="7391943" cy="908581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448435">
              <a:lnSpc>
                <a:spcPct val="100000"/>
              </a:lnSpc>
              <a:spcBef>
                <a:spcPts val="944"/>
              </a:spcBef>
              <a:tabLst>
                <a:tab pos="2445385" algn="l"/>
                <a:tab pos="3735070" algn="l"/>
                <a:tab pos="4192270" algn="l"/>
                <a:tab pos="5338445" algn="l"/>
              </a:tabLst>
            </a:pPr>
            <a:r>
              <a:rPr sz="1800" dirty="0">
                <a:latin typeface="Carlito"/>
                <a:cs typeface="Carlito"/>
              </a:rPr>
              <a:t>0	3	7	8	</a:t>
            </a:r>
            <a:r>
              <a:rPr sz="1800" spc="-5" dirty="0">
                <a:latin typeface="Carlito"/>
                <a:cs typeface="Carlito"/>
              </a:rPr>
              <a:t>12</a:t>
            </a:r>
            <a:endParaRPr sz="1800" dirty="0">
              <a:latin typeface="Carlito"/>
              <a:cs typeface="Carlito"/>
            </a:endParaRPr>
          </a:p>
          <a:p>
            <a:pPr marL="461009" indent="-448309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460375" algn="l"/>
                <a:tab pos="461009" algn="l"/>
                <a:tab pos="5430520" algn="l"/>
              </a:tabLst>
            </a:pPr>
            <a:r>
              <a:rPr sz="2400" spc="-20" dirty="0">
                <a:solidFill>
                  <a:srgbClr val="44536A"/>
                </a:solidFill>
                <a:latin typeface="Carlito"/>
                <a:cs typeface="Carlito"/>
              </a:rPr>
              <a:t>Average </a:t>
            </a:r>
            <a:r>
              <a:rPr sz="2400" spc="-5" dirty="0">
                <a:solidFill>
                  <a:srgbClr val="44536A"/>
                </a:solidFill>
                <a:latin typeface="Carlito"/>
                <a:cs typeface="Carlito"/>
              </a:rPr>
              <a:t>waiting </a:t>
            </a: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time = </a:t>
            </a:r>
            <a:r>
              <a:rPr sz="2400" spc="-5" dirty="0">
                <a:solidFill>
                  <a:srgbClr val="44536A"/>
                </a:solidFill>
                <a:latin typeface="Carlito"/>
                <a:cs typeface="Carlito"/>
              </a:rPr>
              <a:t>(0 </a:t>
            </a: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+ 6 + 3</a:t>
            </a:r>
            <a:r>
              <a:rPr sz="2400" spc="-55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+</a:t>
            </a:r>
            <a:r>
              <a:rPr sz="2400" spc="1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7)/4</a:t>
            </a:r>
            <a:r>
              <a:rPr lang="en-US" sz="2400" dirty="0">
                <a:solidFill>
                  <a:srgbClr val="44536A"/>
                </a:solidFill>
                <a:latin typeface="Carlito"/>
                <a:cs typeface="Carlito"/>
              </a:rPr>
              <a:t>=</a:t>
            </a:r>
            <a:r>
              <a:rPr sz="2400" spc="-90" dirty="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44536A"/>
                </a:solidFill>
                <a:latin typeface="Carlito"/>
                <a:cs typeface="Carlito"/>
              </a:rPr>
              <a:t>4</a:t>
            </a:r>
            <a:r>
              <a:rPr lang="en-US" sz="2400" dirty="0">
                <a:solidFill>
                  <a:srgbClr val="44536A"/>
                </a:solidFill>
                <a:latin typeface="Carlito"/>
                <a:cs typeface="Carlito"/>
              </a:rPr>
              <a:t>msec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674103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 dirty="0"/>
              <a:t>Example </a:t>
            </a:r>
            <a:r>
              <a:rPr sz="4000" dirty="0"/>
              <a:t>of </a:t>
            </a:r>
            <a:r>
              <a:rPr sz="4000" spc="-25" dirty="0"/>
              <a:t>Preemptive</a:t>
            </a:r>
            <a:r>
              <a:rPr sz="4000" spc="-160" dirty="0"/>
              <a:t> </a:t>
            </a:r>
            <a:r>
              <a:rPr sz="4000" spc="-5" dirty="0"/>
              <a:t>SJF</a:t>
            </a:r>
            <a:endParaRPr sz="400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92</a:t>
            </a:fld>
            <a:endParaRPr spc="-5" dirty="0">
              <a:solidFill>
                <a:srgbClr val="FFFFFF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46637554"/>
              </p:ext>
            </p:extLst>
          </p:nvPr>
        </p:nvGraphicFramePr>
        <p:xfrm>
          <a:off x="0" y="727663"/>
          <a:ext cx="5211825" cy="223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2912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872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7718">
                <a:tc>
                  <a:txBody>
                    <a:bodyPr/>
                    <a:lstStyle/>
                    <a:p>
                      <a:pPr marR="126364" algn="ctr">
                        <a:lnSpc>
                          <a:spcPts val="2765"/>
                        </a:lnSpc>
                      </a:pPr>
                      <a:r>
                        <a:rPr sz="2400" u="heavy" spc="-5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Process</a:t>
                      </a:r>
                      <a:endParaRPr sz="2400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765"/>
                        </a:lnSpc>
                      </a:pPr>
                      <a:r>
                        <a:rPr sz="2400" u="heavy" spc="-20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Arrival</a:t>
                      </a:r>
                      <a:r>
                        <a:rPr sz="2400" u="heavy" spc="-30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 </a:t>
                      </a:r>
                      <a:r>
                        <a:rPr sz="2400" u="heavy" spc="-5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Time</a:t>
                      </a:r>
                      <a:endParaRPr sz="240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 algn="ctr">
                        <a:lnSpc>
                          <a:spcPts val="2765"/>
                        </a:lnSpc>
                      </a:pPr>
                      <a:r>
                        <a:rPr sz="2400" u="heavy" spc="-5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Burst</a:t>
                      </a:r>
                      <a:r>
                        <a:rPr sz="2400" u="heavy" spc="-60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 </a:t>
                      </a:r>
                      <a:r>
                        <a:rPr sz="2400" u="heavy" spc="-5" dirty="0">
                          <a:solidFill>
                            <a:schemeClr val="tx1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Time</a:t>
                      </a:r>
                      <a:endParaRPr sz="2400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2822">
                <a:tc>
                  <a:txBody>
                    <a:bodyPr/>
                    <a:lstStyle/>
                    <a:p>
                      <a:pPr marR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i="1" spc="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400" i="1" spc="7" baseline="-20833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1</a:t>
                      </a:r>
                      <a:endParaRPr sz="2400" baseline="-20833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0.0</a:t>
                      </a:r>
                      <a:endParaRPr sz="2400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460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7</a:t>
                      </a: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58">
                <a:tc>
                  <a:txBody>
                    <a:bodyPr/>
                    <a:lstStyle/>
                    <a:p>
                      <a:pPr marR="58419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i="1" spc="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400" i="1" spc="7" baseline="-20833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2</a:t>
                      </a:r>
                      <a:endParaRPr sz="2400" baseline="-20833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2.0</a:t>
                      </a:r>
                      <a:endParaRPr sz="2400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14605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4</a:t>
                      </a: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6045">
                <a:tc>
                  <a:txBody>
                    <a:bodyPr/>
                    <a:lstStyle/>
                    <a:p>
                      <a:pPr marR="58419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i="1" spc="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400" i="1" spc="7" baseline="-20833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3</a:t>
                      </a:r>
                      <a:endParaRPr sz="2400" baseline="-20833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4.0</a:t>
                      </a:r>
                      <a:endParaRPr sz="2400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4605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1</a:t>
                      </a: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827">
                <a:tc>
                  <a:txBody>
                    <a:bodyPr/>
                    <a:lstStyle/>
                    <a:p>
                      <a:pPr marR="58419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i="1" spc="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400" i="1" spc="7" baseline="-20833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4</a:t>
                      </a:r>
                      <a:endParaRPr sz="2400" baseline="-20833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spc="-5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5.0</a:t>
                      </a:r>
                      <a:endParaRPr sz="2400" dirty="0">
                        <a:solidFill>
                          <a:schemeClr val="tx1"/>
                        </a:solidFill>
                        <a:latin typeface="Caladea"/>
                        <a:cs typeface="Calade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14605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  <a:latin typeface="Caladea"/>
                          <a:cs typeface="Caladea"/>
                        </a:rPr>
                        <a:t>4</a:t>
                      </a: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0" y="3276600"/>
            <a:ext cx="35092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30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400" dirty="0">
                <a:latin typeface="Caladea"/>
                <a:cs typeface="Caladea"/>
              </a:rPr>
              <a:t>SJF</a:t>
            </a:r>
            <a:r>
              <a:rPr sz="2400" spc="-60" dirty="0">
                <a:latin typeface="Caladea"/>
                <a:cs typeface="Caladea"/>
              </a:rPr>
              <a:t> </a:t>
            </a:r>
            <a:r>
              <a:rPr sz="2400" spc="-15" dirty="0">
                <a:latin typeface="Caladea"/>
                <a:cs typeface="Caladea"/>
              </a:rPr>
              <a:t>(preemptive)</a:t>
            </a:r>
            <a:endParaRPr sz="2400" dirty="0">
              <a:latin typeface="Caladea"/>
              <a:cs typeface="Calade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0557" y="4419600"/>
            <a:ext cx="7674102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30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z="2400" spc="-35" dirty="0">
                <a:latin typeface="Caladea"/>
                <a:cs typeface="Caladea"/>
              </a:rPr>
              <a:t>Average </a:t>
            </a:r>
            <a:r>
              <a:rPr sz="2400" spc="-10" dirty="0">
                <a:latin typeface="Caladea"/>
                <a:cs typeface="Caladea"/>
              </a:rPr>
              <a:t>waiting </a:t>
            </a:r>
            <a:r>
              <a:rPr sz="2400" spc="-5" dirty="0">
                <a:latin typeface="Caladea"/>
                <a:cs typeface="Caladea"/>
              </a:rPr>
              <a:t>time </a:t>
            </a:r>
            <a:r>
              <a:rPr sz="2400" dirty="0">
                <a:latin typeface="Caladea"/>
                <a:cs typeface="Caladea"/>
              </a:rPr>
              <a:t>= (9 + 1 + 0 </a:t>
            </a:r>
            <a:r>
              <a:rPr sz="2400" spc="-10" dirty="0">
                <a:latin typeface="Caladea"/>
                <a:cs typeface="Caladea"/>
              </a:rPr>
              <a:t>+2)/4 </a:t>
            </a:r>
            <a:r>
              <a:rPr sz="2400" dirty="0">
                <a:latin typeface="Caladea"/>
                <a:cs typeface="Caladea"/>
              </a:rPr>
              <a:t>=</a:t>
            </a:r>
            <a:r>
              <a:rPr sz="2400" spc="-85" dirty="0">
                <a:latin typeface="Caladea"/>
                <a:cs typeface="Caladea"/>
              </a:rPr>
              <a:t> </a:t>
            </a:r>
            <a:r>
              <a:rPr sz="2400" dirty="0">
                <a:latin typeface="Caladea"/>
                <a:cs typeface="Caladea"/>
              </a:rPr>
              <a:t>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6400" y="3743935"/>
            <a:ext cx="250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Arial"/>
                <a:cs typeface="Arial"/>
              </a:rPr>
              <a:t>11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0200" y="374393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07608" y="3743935"/>
            <a:ext cx="228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08100" algn="l"/>
                <a:tab pos="2146300" algn="l"/>
              </a:tabLst>
            </a:pPr>
            <a:r>
              <a:rPr sz="1800" spc="-5" dirty="0">
                <a:latin typeface="Arial"/>
                <a:cs typeface="Arial"/>
              </a:rPr>
              <a:t>2	4	5	7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93304732"/>
              </p:ext>
            </p:extLst>
          </p:nvPr>
        </p:nvGraphicFramePr>
        <p:xfrm>
          <a:off x="5493893" y="2768601"/>
          <a:ext cx="5562600" cy="899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496824">
                <a:tc gridSpan="2"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baseline="-20833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baseline="-20833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baseline="-20833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baseline="-20833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 baseline="-20833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2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5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373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0896600" y="3743300"/>
            <a:ext cx="2819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Arial"/>
                <a:cs typeface="Arial"/>
              </a:rPr>
              <a:t>16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5" y="4762"/>
            <a:ext cx="1959102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S</a:t>
            </a:r>
            <a:r>
              <a:rPr sz="4400" spc="-140" dirty="0"/>
              <a:t>R</a:t>
            </a:r>
            <a:r>
              <a:rPr sz="4400" spc="-5" dirty="0"/>
              <a:t>TF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28575" y="838200"/>
            <a:ext cx="4238625" cy="2544607"/>
          </a:xfrm>
          <a:prstGeom prst="rect">
            <a:avLst/>
          </a:prstGeom>
          <a:blipFill>
            <a:blip r:embed="rId2" cstate="print"/>
            <a:srcRect/>
            <a:stretch>
              <a:fillRect r="-7483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93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28575" y="838200"/>
            <a:ext cx="7410450" cy="2544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7" y="0"/>
            <a:ext cx="962304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Scheduling </a:t>
            </a:r>
            <a:r>
              <a:rPr lang="en-US" spc="-5" dirty="0"/>
              <a:t>Algorithms:</a:t>
            </a:r>
            <a:r>
              <a:rPr lang="en-US" spc="-95" dirty="0"/>
              <a:t> </a:t>
            </a:r>
            <a:r>
              <a:rPr dirty="0"/>
              <a:t>Priority Scheduling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94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86" y="571584"/>
            <a:ext cx="12177713" cy="3574697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adea"/>
                <a:cs typeface="Caladea"/>
              </a:rPr>
              <a:t>A </a:t>
            </a:r>
            <a:r>
              <a:rPr sz="2000" spc="-10" dirty="0">
                <a:solidFill>
                  <a:srgbClr val="FF0000"/>
                </a:solidFill>
                <a:latin typeface="Caladea"/>
                <a:cs typeface="Caladea"/>
              </a:rPr>
              <a:t>priority </a:t>
            </a:r>
            <a:r>
              <a:rPr sz="2000" spc="-15" dirty="0">
                <a:solidFill>
                  <a:srgbClr val="FF0000"/>
                </a:solidFill>
                <a:latin typeface="Caladea"/>
                <a:cs typeface="Caladea"/>
              </a:rPr>
              <a:t>number </a:t>
            </a:r>
            <a:r>
              <a:rPr sz="2000" spc="-15" dirty="0">
                <a:latin typeface="Caladea"/>
                <a:cs typeface="Caladea"/>
              </a:rPr>
              <a:t>(integer) </a:t>
            </a:r>
            <a:r>
              <a:rPr sz="2000" spc="-5" dirty="0">
                <a:latin typeface="Caladea"/>
                <a:cs typeface="Caladea"/>
              </a:rPr>
              <a:t>is </a:t>
            </a:r>
            <a:r>
              <a:rPr sz="2000" spc="-10" dirty="0">
                <a:latin typeface="Caladea"/>
                <a:cs typeface="Caladea"/>
              </a:rPr>
              <a:t>associated </a:t>
            </a:r>
            <a:r>
              <a:rPr sz="2000" spc="-5" dirty="0">
                <a:latin typeface="Caladea"/>
                <a:cs typeface="Caladea"/>
              </a:rPr>
              <a:t>with each</a:t>
            </a:r>
            <a:r>
              <a:rPr sz="2000" spc="204" dirty="0">
                <a:latin typeface="Caladea"/>
                <a:cs typeface="Caladea"/>
              </a:rPr>
              <a:t> </a:t>
            </a:r>
            <a:r>
              <a:rPr sz="2000" spc="-15" dirty="0">
                <a:latin typeface="Caladea"/>
                <a:cs typeface="Caladea"/>
              </a:rPr>
              <a:t>process</a:t>
            </a:r>
            <a:endParaRPr sz="2000" dirty="0">
              <a:latin typeface="Caladea"/>
              <a:cs typeface="Caladea"/>
            </a:endParaRPr>
          </a:p>
          <a:p>
            <a:pPr marL="241300" indent="-228600">
              <a:lnSpc>
                <a:spcPts val="228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adea"/>
                <a:cs typeface="Caladea"/>
              </a:rPr>
              <a:t>The CPU is </a:t>
            </a:r>
            <a:r>
              <a:rPr sz="2000" spc="-10" dirty="0">
                <a:latin typeface="Caladea"/>
                <a:cs typeface="Caladea"/>
              </a:rPr>
              <a:t>allocated </a:t>
            </a:r>
            <a:r>
              <a:rPr sz="2000" spc="-20" dirty="0">
                <a:latin typeface="Caladea"/>
                <a:cs typeface="Caladea"/>
              </a:rPr>
              <a:t>to </a:t>
            </a:r>
            <a:r>
              <a:rPr sz="2000" spc="-10" dirty="0">
                <a:latin typeface="Caladea"/>
                <a:cs typeface="Caladea"/>
              </a:rPr>
              <a:t>the </a:t>
            </a:r>
            <a:r>
              <a:rPr sz="2000" spc="-15" dirty="0">
                <a:latin typeface="Caladea"/>
                <a:cs typeface="Caladea"/>
              </a:rPr>
              <a:t>process </a:t>
            </a:r>
            <a:r>
              <a:rPr sz="2000" spc="-10" dirty="0">
                <a:latin typeface="Caladea"/>
                <a:cs typeface="Caladea"/>
              </a:rPr>
              <a:t>with the highest priority </a:t>
            </a:r>
            <a:r>
              <a:rPr sz="2000" spc="-5" dirty="0">
                <a:latin typeface="Caladea"/>
                <a:cs typeface="Caladea"/>
              </a:rPr>
              <a:t>(in</a:t>
            </a:r>
            <a:r>
              <a:rPr sz="2000" spc="200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this</a:t>
            </a:r>
            <a:r>
              <a:rPr lang="en-US" sz="2000" spc="-10" dirty="0">
                <a:latin typeface="Caladea"/>
                <a:cs typeface="Caladea"/>
              </a:rPr>
              <a:t> </a:t>
            </a:r>
            <a:r>
              <a:rPr sz="2000" spc="-15" dirty="0">
                <a:latin typeface="Caladea"/>
                <a:cs typeface="Caladea"/>
              </a:rPr>
              <a:t>text, </a:t>
            </a:r>
            <a:r>
              <a:rPr sz="2000" spc="-5" dirty="0">
                <a:latin typeface="Caladea"/>
                <a:cs typeface="Caladea"/>
              </a:rPr>
              <a:t>smallest </a:t>
            </a:r>
            <a:r>
              <a:rPr sz="2000" spc="-15" dirty="0">
                <a:latin typeface="Caladea"/>
                <a:cs typeface="Caladea"/>
              </a:rPr>
              <a:t>integer </a:t>
            </a:r>
            <a:r>
              <a:rPr sz="2000" spc="-5" dirty="0">
                <a:latin typeface="Symbol"/>
                <a:cs typeface="Symbol"/>
              </a:rPr>
              <a:t>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adea"/>
                <a:cs typeface="Caladea"/>
              </a:rPr>
              <a:t>highest</a:t>
            </a:r>
            <a:r>
              <a:rPr sz="2000" spc="60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priority)</a:t>
            </a:r>
            <a:endParaRPr sz="2000" dirty="0">
              <a:latin typeface="Caladea"/>
              <a:cs typeface="Caladea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adea"/>
                <a:cs typeface="Caladea"/>
              </a:rPr>
              <a:t>Equal </a:t>
            </a:r>
            <a:r>
              <a:rPr sz="2000" spc="-10" dirty="0">
                <a:latin typeface="Caladea"/>
                <a:cs typeface="Caladea"/>
              </a:rPr>
              <a:t>priority </a:t>
            </a:r>
            <a:r>
              <a:rPr sz="2000" spc="-15" dirty="0">
                <a:latin typeface="Caladea"/>
                <a:cs typeface="Caladea"/>
              </a:rPr>
              <a:t>processes are </a:t>
            </a:r>
            <a:r>
              <a:rPr sz="2000" spc="-5" dirty="0">
                <a:latin typeface="Caladea"/>
                <a:cs typeface="Caladea"/>
              </a:rPr>
              <a:t>scheduled </a:t>
            </a:r>
            <a:r>
              <a:rPr sz="2000" spc="-10" dirty="0">
                <a:latin typeface="Caladea"/>
                <a:cs typeface="Caladea"/>
              </a:rPr>
              <a:t>using</a:t>
            </a:r>
            <a:r>
              <a:rPr sz="2000" spc="100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FCFS</a:t>
            </a:r>
            <a:endParaRPr sz="2000" dirty="0">
              <a:latin typeface="Caladea"/>
              <a:cs typeface="Caladea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ladea"/>
                <a:cs typeface="Caladea"/>
              </a:rPr>
              <a:t>Priority </a:t>
            </a:r>
            <a:r>
              <a:rPr sz="2000" spc="-5" dirty="0">
                <a:latin typeface="Caladea"/>
                <a:cs typeface="Caladea"/>
              </a:rPr>
              <a:t>scheduling </a:t>
            </a:r>
            <a:r>
              <a:rPr sz="2000" dirty="0">
                <a:latin typeface="Caladea"/>
                <a:cs typeface="Caladea"/>
              </a:rPr>
              <a:t>can</a:t>
            </a:r>
            <a:r>
              <a:rPr sz="2000" spc="40" dirty="0">
                <a:latin typeface="Caladea"/>
                <a:cs typeface="Caladea"/>
              </a:rPr>
              <a:t> </a:t>
            </a:r>
            <a:r>
              <a:rPr sz="2000" spc="-15" dirty="0">
                <a:latin typeface="Caladea"/>
                <a:cs typeface="Caladea"/>
              </a:rPr>
              <a:t>be:</a:t>
            </a:r>
            <a:endParaRPr sz="2000" dirty="0">
              <a:latin typeface="Caladea"/>
              <a:cs typeface="Caladea"/>
            </a:endParaRPr>
          </a:p>
          <a:p>
            <a:pPr marL="1210310" lvl="2" indent="-283845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1210310" algn="l"/>
                <a:tab pos="1210945" algn="l"/>
              </a:tabLst>
            </a:pPr>
            <a:r>
              <a:rPr sz="2000" spc="-25" dirty="0">
                <a:latin typeface="Caladea"/>
                <a:cs typeface="Caladea"/>
              </a:rPr>
              <a:t>preemptive: </a:t>
            </a:r>
            <a:r>
              <a:rPr sz="2000" spc="-20" dirty="0">
                <a:latin typeface="Caladea"/>
                <a:cs typeface="Caladea"/>
              </a:rPr>
              <a:t>preempt </a:t>
            </a:r>
            <a:r>
              <a:rPr sz="2000" spc="-5" dirty="0">
                <a:latin typeface="Caladea"/>
                <a:cs typeface="Caladea"/>
              </a:rPr>
              <a:t>CPU if </a:t>
            </a:r>
            <a:r>
              <a:rPr sz="2000" spc="-10" dirty="0">
                <a:latin typeface="Caladea"/>
                <a:cs typeface="Caladea"/>
              </a:rPr>
              <a:t>priority </a:t>
            </a:r>
            <a:r>
              <a:rPr sz="2000" spc="-5" dirty="0">
                <a:latin typeface="Caladea"/>
                <a:cs typeface="Caladea"/>
              </a:rPr>
              <a:t>of </a:t>
            </a:r>
            <a:r>
              <a:rPr sz="2000" spc="-25" dirty="0">
                <a:latin typeface="Caladea"/>
                <a:cs typeface="Caladea"/>
              </a:rPr>
              <a:t>newly arrived</a:t>
            </a:r>
            <a:r>
              <a:rPr sz="2000" spc="360" dirty="0">
                <a:latin typeface="Caladea"/>
                <a:cs typeface="Caladea"/>
              </a:rPr>
              <a:t> </a:t>
            </a:r>
            <a:r>
              <a:rPr sz="2000" spc="-15" dirty="0">
                <a:latin typeface="Caladea"/>
                <a:cs typeface="Caladea"/>
              </a:rPr>
              <a:t>process</a:t>
            </a:r>
            <a:r>
              <a:rPr lang="en-US" sz="2000" spc="-15" dirty="0">
                <a:latin typeface="Caladea"/>
                <a:cs typeface="Caladea"/>
              </a:rPr>
              <a:t> </a:t>
            </a:r>
            <a:r>
              <a:rPr sz="2000" spc="-5" dirty="0">
                <a:latin typeface="Caladea"/>
                <a:cs typeface="Caladea"/>
              </a:rPr>
              <a:t>is </a:t>
            </a:r>
            <a:r>
              <a:rPr sz="2000" spc="-10" dirty="0">
                <a:latin typeface="Caladea"/>
                <a:cs typeface="Caladea"/>
              </a:rPr>
              <a:t>higher </a:t>
            </a:r>
            <a:r>
              <a:rPr sz="2000" spc="-5" dirty="0">
                <a:latin typeface="Caladea"/>
                <a:cs typeface="Caladea"/>
              </a:rPr>
              <a:t>than </a:t>
            </a:r>
            <a:r>
              <a:rPr sz="2000" spc="-10" dirty="0">
                <a:latin typeface="Caladea"/>
                <a:cs typeface="Caladea"/>
              </a:rPr>
              <a:t>priority </a:t>
            </a:r>
            <a:r>
              <a:rPr sz="2000" spc="-5" dirty="0">
                <a:latin typeface="Caladea"/>
                <a:cs typeface="Caladea"/>
              </a:rPr>
              <a:t>of </a:t>
            </a:r>
            <a:r>
              <a:rPr sz="2000" spc="-20" dirty="0">
                <a:latin typeface="Caladea"/>
                <a:cs typeface="Caladea"/>
              </a:rPr>
              <a:t>currently </a:t>
            </a:r>
            <a:r>
              <a:rPr sz="2000" spc="-10" dirty="0">
                <a:latin typeface="Caladea"/>
                <a:cs typeface="Caladea"/>
              </a:rPr>
              <a:t>running</a:t>
            </a:r>
            <a:r>
              <a:rPr sz="2000" spc="125" dirty="0">
                <a:latin typeface="Caladea"/>
                <a:cs typeface="Caladea"/>
              </a:rPr>
              <a:t> </a:t>
            </a:r>
            <a:r>
              <a:rPr sz="2000" spc="-15" dirty="0">
                <a:latin typeface="Caladea"/>
                <a:cs typeface="Caladea"/>
              </a:rPr>
              <a:t>process</a:t>
            </a:r>
            <a:endParaRPr sz="2000" dirty="0">
              <a:latin typeface="Caladea"/>
              <a:cs typeface="Caladea"/>
            </a:endParaRPr>
          </a:p>
          <a:p>
            <a:pPr marL="1155700" marR="287655" lvl="2" indent="-229235">
              <a:lnSpc>
                <a:spcPts val="2160"/>
              </a:lnSpc>
              <a:spcBef>
                <a:spcPts val="54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25" dirty="0">
                <a:latin typeface="Caladea"/>
                <a:cs typeface="Caladea"/>
              </a:rPr>
              <a:t>nonpreemptive: </a:t>
            </a:r>
            <a:r>
              <a:rPr sz="2000" spc="-10" dirty="0">
                <a:latin typeface="Caladea"/>
                <a:cs typeface="Caladea"/>
              </a:rPr>
              <a:t>put the </a:t>
            </a:r>
            <a:r>
              <a:rPr sz="2000" spc="-15" dirty="0">
                <a:latin typeface="Caladea"/>
                <a:cs typeface="Caladea"/>
              </a:rPr>
              <a:t>new </a:t>
            </a:r>
            <a:r>
              <a:rPr sz="2000" spc="-10" dirty="0">
                <a:latin typeface="Caladea"/>
                <a:cs typeface="Caladea"/>
              </a:rPr>
              <a:t>highest priority </a:t>
            </a:r>
            <a:r>
              <a:rPr sz="2000" spc="-15" dirty="0">
                <a:latin typeface="Caladea"/>
                <a:cs typeface="Caladea"/>
              </a:rPr>
              <a:t>process </a:t>
            </a:r>
            <a:r>
              <a:rPr sz="2000" spc="-5" dirty="0">
                <a:latin typeface="Caladea"/>
                <a:cs typeface="Caladea"/>
              </a:rPr>
              <a:t>at </a:t>
            </a:r>
            <a:r>
              <a:rPr sz="2000" spc="-10" dirty="0">
                <a:latin typeface="Caladea"/>
                <a:cs typeface="Caladea"/>
              </a:rPr>
              <a:t>the  head </a:t>
            </a:r>
            <a:r>
              <a:rPr sz="2000" spc="-5" dirty="0">
                <a:latin typeface="Caladea"/>
                <a:cs typeface="Caladea"/>
              </a:rPr>
              <a:t>of </a:t>
            </a:r>
            <a:r>
              <a:rPr sz="2000" spc="-10" dirty="0">
                <a:latin typeface="Caladea"/>
                <a:cs typeface="Caladea"/>
              </a:rPr>
              <a:t>the </a:t>
            </a:r>
            <a:r>
              <a:rPr sz="2000" spc="-25" dirty="0">
                <a:latin typeface="Caladea"/>
                <a:cs typeface="Caladea"/>
              </a:rPr>
              <a:t>ready</a:t>
            </a:r>
            <a:r>
              <a:rPr sz="2000" spc="30" dirty="0">
                <a:latin typeface="Caladea"/>
                <a:cs typeface="Caladea"/>
              </a:rPr>
              <a:t> </a:t>
            </a:r>
            <a:r>
              <a:rPr sz="2000" spc="-15" dirty="0">
                <a:latin typeface="Caladea"/>
                <a:cs typeface="Caladea"/>
              </a:rPr>
              <a:t>queue</a:t>
            </a:r>
            <a:endParaRPr sz="2000" dirty="0">
              <a:latin typeface="Caladea"/>
              <a:cs typeface="Caladea"/>
            </a:endParaRPr>
          </a:p>
          <a:p>
            <a:pPr marL="241300" marR="215900" indent="-228600">
              <a:lnSpc>
                <a:spcPts val="216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ladea"/>
                <a:cs typeface="Caladea"/>
              </a:rPr>
              <a:t>SJF </a:t>
            </a:r>
            <a:r>
              <a:rPr sz="2000" spc="-5" dirty="0">
                <a:latin typeface="Caladea"/>
                <a:cs typeface="Caladea"/>
              </a:rPr>
              <a:t>is a </a:t>
            </a:r>
            <a:r>
              <a:rPr sz="2000" spc="-10" dirty="0">
                <a:latin typeface="Caladea"/>
                <a:cs typeface="Caladea"/>
              </a:rPr>
              <a:t>priority </a:t>
            </a:r>
            <a:r>
              <a:rPr sz="2000" spc="-5" dirty="0">
                <a:latin typeface="Caladea"/>
                <a:cs typeface="Caladea"/>
              </a:rPr>
              <a:t>scheduling </a:t>
            </a:r>
            <a:r>
              <a:rPr sz="2000" spc="-25" dirty="0">
                <a:latin typeface="Caladea"/>
                <a:cs typeface="Caladea"/>
              </a:rPr>
              <a:t>where </a:t>
            </a:r>
            <a:r>
              <a:rPr sz="2000" spc="-10" dirty="0">
                <a:latin typeface="Caladea"/>
                <a:cs typeface="Caladea"/>
              </a:rPr>
              <a:t>priority </a:t>
            </a:r>
            <a:r>
              <a:rPr sz="2000" spc="-5" dirty="0">
                <a:latin typeface="Caladea"/>
                <a:cs typeface="Caladea"/>
              </a:rPr>
              <a:t>is </a:t>
            </a:r>
            <a:r>
              <a:rPr sz="2000" spc="-10" dirty="0">
                <a:latin typeface="Caladea"/>
                <a:cs typeface="Caladea"/>
              </a:rPr>
              <a:t>the </a:t>
            </a:r>
            <a:r>
              <a:rPr sz="2000" spc="-25" dirty="0">
                <a:latin typeface="Caladea"/>
                <a:cs typeface="Caladea"/>
              </a:rPr>
              <a:t>inverse </a:t>
            </a:r>
            <a:r>
              <a:rPr sz="2000" spc="-5" dirty="0">
                <a:latin typeface="Caladea"/>
                <a:cs typeface="Caladea"/>
              </a:rPr>
              <a:t>of </a:t>
            </a:r>
            <a:r>
              <a:rPr sz="2000" spc="-10" dirty="0">
                <a:latin typeface="Caladea"/>
                <a:cs typeface="Caladea"/>
              </a:rPr>
              <a:t>the  </a:t>
            </a:r>
            <a:r>
              <a:rPr sz="2000" spc="-20" dirty="0">
                <a:latin typeface="Caladea"/>
                <a:cs typeface="Caladea"/>
              </a:rPr>
              <a:t>predicted next </a:t>
            </a:r>
            <a:r>
              <a:rPr sz="2000" spc="-5" dirty="0">
                <a:latin typeface="Caladea"/>
                <a:cs typeface="Caladea"/>
              </a:rPr>
              <a:t>CPU </a:t>
            </a:r>
            <a:r>
              <a:rPr sz="2000" spc="-10" dirty="0">
                <a:latin typeface="Caladea"/>
                <a:cs typeface="Caladea"/>
              </a:rPr>
              <a:t>burst time (largest </a:t>
            </a:r>
            <a:r>
              <a:rPr sz="2000" spc="-5" dirty="0">
                <a:latin typeface="Caladea"/>
                <a:cs typeface="Caladea"/>
              </a:rPr>
              <a:t>CPU </a:t>
            </a:r>
            <a:r>
              <a:rPr sz="2000" spc="-10" dirty="0">
                <a:latin typeface="Caladea"/>
                <a:cs typeface="Caladea"/>
              </a:rPr>
              <a:t>burst </a:t>
            </a:r>
            <a:r>
              <a:rPr sz="2000" spc="-10" dirty="0">
                <a:latin typeface="Wingdings"/>
                <a:cs typeface="Wingdings"/>
              </a:rPr>
              <a:t>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adea"/>
                <a:cs typeface="Caladea"/>
              </a:rPr>
              <a:t>lowest</a:t>
            </a:r>
            <a:r>
              <a:rPr sz="2000" spc="275" dirty="0">
                <a:latin typeface="Caladea"/>
                <a:cs typeface="Caladea"/>
              </a:rPr>
              <a:t> </a:t>
            </a:r>
            <a:r>
              <a:rPr sz="2000" spc="-10" dirty="0">
                <a:latin typeface="Caladea"/>
                <a:cs typeface="Caladea"/>
              </a:rPr>
              <a:t>priority)</a:t>
            </a:r>
            <a:endParaRPr lang="en-US" sz="2000" spc="-10" dirty="0">
              <a:latin typeface="Caladea"/>
              <a:cs typeface="Caladea"/>
            </a:endParaRPr>
          </a:p>
          <a:p>
            <a:pPr marL="241300" marR="215900" indent="-228600">
              <a:lnSpc>
                <a:spcPts val="216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ladea"/>
                <a:cs typeface="Caladea"/>
              </a:rPr>
              <a:t>External priorities are assigned by users, based on the importance of the job, fees paid, politics, </a:t>
            </a:r>
            <a:r>
              <a:rPr lang="en-US" sz="2000" spc="-10" dirty="0" err="1">
                <a:latin typeface="Caladea"/>
                <a:cs typeface="Caladea"/>
              </a:rPr>
              <a:t>etc</a:t>
            </a:r>
            <a:endParaRPr sz="2000" dirty="0">
              <a:latin typeface="Caladea"/>
              <a:cs typeface="Calad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525" y="76200"/>
            <a:ext cx="7050787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latin typeface="Carlito"/>
                <a:cs typeface="Carlito"/>
              </a:rPr>
              <a:t>Priority </a:t>
            </a:r>
            <a:r>
              <a:rPr sz="4400" spc="-10" dirty="0">
                <a:latin typeface="Carlito"/>
                <a:cs typeface="Carlito"/>
              </a:rPr>
              <a:t>Scheduling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95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685800"/>
            <a:ext cx="12107925" cy="2467598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marR="300355" indent="-228600">
              <a:lnSpc>
                <a:spcPts val="3000"/>
              </a:lnSpc>
              <a:spcBef>
                <a:spcPts val="50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Problem </a:t>
            </a:r>
            <a:r>
              <a:rPr sz="2800" spc="5" dirty="0">
                <a:latin typeface="Symbol"/>
                <a:cs typeface="Symbol"/>
              </a:rPr>
              <a:t>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rlito"/>
                <a:cs typeface="Carlito"/>
              </a:rPr>
              <a:t>Starvation </a:t>
            </a:r>
            <a:r>
              <a:rPr sz="2800" spc="5" dirty="0">
                <a:latin typeface="Carlito"/>
                <a:cs typeface="Carlito"/>
              </a:rPr>
              <a:t>– low </a:t>
            </a:r>
            <a:r>
              <a:rPr sz="2800" dirty="0">
                <a:latin typeface="Carlito"/>
                <a:cs typeface="Carlito"/>
              </a:rPr>
              <a:t>priority </a:t>
            </a:r>
            <a:r>
              <a:rPr sz="2800" spc="-5" dirty="0">
                <a:latin typeface="Carlito"/>
                <a:cs typeface="Carlito"/>
              </a:rPr>
              <a:t>processes</a:t>
            </a:r>
            <a:r>
              <a:rPr sz="2800" spc="-2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  </a:t>
            </a:r>
            <a:r>
              <a:rPr sz="2800" spc="-5" dirty="0">
                <a:latin typeface="Carlito"/>
                <a:cs typeface="Carlito"/>
              </a:rPr>
              <a:t>indefinitely </a:t>
            </a:r>
            <a:r>
              <a:rPr sz="2800" spc="-15" dirty="0">
                <a:latin typeface="Carlito"/>
                <a:cs typeface="Carlito"/>
              </a:rPr>
              <a:t>blocked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0" dirty="0">
                <a:latin typeface="Carlito"/>
                <a:cs typeface="Carlito"/>
              </a:rPr>
              <a:t>may </a:t>
            </a:r>
            <a:r>
              <a:rPr sz="2800" spc="-15" dirty="0">
                <a:latin typeface="Carlito"/>
                <a:cs typeface="Carlito"/>
              </a:rPr>
              <a:t>never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execute</a:t>
            </a:r>
            <a:endParaRPr sz="2800" dirty="0">
              <a:latin typeface="Carlito"/>
              <a:cs typeface="Carlito"/>
            </a:endParaRPr>
          </a:p>
          <a:p>
            <a:pPr marL="698500" marR="5080" lvl="1" indent="-228600">
              <a:lnSpc>
                <a:spcPct val="90100"/>
              </a:lnSpc>
              <a:spcBef>
                <a:spcPts val="4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heavily </a:t>
            </a:r>
            <a:r>
              <a:rPr sz="2400" dirty="0">
                <a:latin typeface="Carlito"/>
                <a:cs typeface="Carlito"/>
              </a:rPr>
              <a:t>loaded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steady </a:t>
            </a:r>
            <a:r>
              <a:rPr sz="2400" spc="-10" dirty="0">
                <a:latin typeface="Carlito"/>
                <a:cs typeface="Carlito"/>
              </a:rPr>
              <a:t>stream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higher  priority </a:t>
            </a:r>
            <a:r>
              <a:rPr sz="2400" spc="-10" dirty="0">
                <a:latin typeface="Carlito"/>
                <a:cs typeface="Carlito"/>
              </a:rPr>
              <a:t>processes </a:t>
            </a:r>
            <a:r>
              <a:rPr sz="2400" spc="-15" dirty="0">
                <a:latin typeface="Carlito"/>
                <a:cs typeface="Carlito"/>
              </a:rPr>
              <a:t>can </a:t>
            </a:r>
            <a:r>
              <a:rPr sz="2400" spc="-10" dirty="0">
                <a:latin typeface="Carlito"/>
                <a:cs typeface="Carlito"/>
              </a:rPr>
              <a:t>prevent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lower </a:t>
            </a:r>
            <a:r>
              <a:rPr sz="2400" dirty="0">
                <a:latin typeface="Carlito"/>
                <a:cs typeface="Carlito"/>
              </a:rPr>
              <a:t>priority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 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10" dirty="0">
                <a:latin typeface="Carlito"/>
                <a:cs typeface="Carlito"/>
              </a:rPr>
              <a:t>ever getting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CPU</a:t>
            </a:r>
            <a:endParaRPr sz="2400" dirty="0">
              <a:latin typeface="Carlito"/>
              <a:cs typeface="Carlito"/>
            </a:endParaRPr>
          </a:p>
          <a:p>
            <a:pPr marL="241300" marR="129539" indent="-228600">
              <a:lnSpc>
                <a:spcPct val="897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rlito"/>
                <a:cs typeface="Carlito"/>
              </a:rPr>
              <a:t>Solution </a:t>
            </a:r>
            <a:r>
              <a:rPr sz="2800" spc="5" dirty="0">
                <a:latin typeface="Symbol"/>
                <a:cs typeface="Symbol"/>
              </a:rPr>
              <a:t>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rlito"/>
                <a:cs typeface="Carlito"/>
              </a:rPr>
              <a:t>Aging </a:t>
            </a:r>
            <a:r>
              <a:rPr sz="2800" spc="5" dirty="0">
                <a:latin typeface="Carlito"/>
                <a:cs typeface="Carlito"/>
              </a:rPr>
              <a:t>– </a:t>
            </a:r>
            <a:r>
              <a:rPr sz="2800" dirty="0">
                <a:latin typeface="Carlito"/>
                <a:cs typeface="Carlito"/>
              </a:rPr>
              <a:t>as </a:t>
            </a:r>
            <a:r>
              <a:rPr sz="2800" spc="-5" dirty="0">
                <a:latin typeface="Carlito"/>
                <a:cs typeface="Carlito"/>
              </a:rPr>
              <a:t>time </a:t>
            </a:r>
            <a:r>
              <a:rPr sz="2800" spc="-10" dirty="0">
                <a:latin typeface="Carlito"/>
                <a:cs typeface="Carlito"/>
              </a:rPr>
              <a:t>progresses </a:t>
            </a:r>
            <a:r>
              <a:rPr sz="2800" spc="-5" dirty="0">
                <a:latin typeface="Carlito"/>
                <a:cs typeface="Carlito"/>
              </a:rPr>
              <a:t>gradually  increase the </a:t>
            </a:r>
            <a:r>
              <a:rPr sz="2800" dirty="0">
                <a:latin typeface="Carlito"/>
                <a:cs typeface="Carlito"/>
              </a:rPr>
              <a:t>priority of </a:t>
            </a:r>
            <a:r>
              <a:rPr sz="2800" spc="-10" dirty="0">
                <a:latin typeface="Carlito"/>
                <a:cs typeface="Carlito"/>
              </a:rPr>
              <a:t>processes that </a:t>
            </a:r>
            <a:r>
              <a:rPr sz="2800" spc="-20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been  waiting </a:t>
            </a:r>
            <a:r>
              <a:rPr sz="2800" spc="-15" dirty="0">
                <a:latin typeface="Carlito"/>
                <a:cs typeface="Carlito"/>
              </a:rPr>
              <a:t>for </a:t>
            </a:r>
            <a:r>
              <a:rPr sz="2800" spc="5" dirty="0">
                <a:latin typeface="Carlito"/>
                <a:cs typeface="Carlito"/>
              </a:rPr>
              <a:t>a </a:t>
            </a:r>
            <a:r>
              <a:rPr sz="2800" dirty="0">
                <a:latin typeface="Carlito"/>
                <a:cs typeface="Carlito"/>
              </a:rPr>
              <a:t>long</a:t>
            </a:r>
            <a:r>
              <a:rPr sz="2800" spc="-1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time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2202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latin typeface="Carlito"/>
                <a:cs typeface="Carlito"/>
              </a:rPr>
              <a:t>Priority </a:t>
            </a:r>
            <a:r>
              <a:rPr lang="en-US" sz="4400" spc="-10" dirty="0">
                <a:latin typeface="Carlito"/>
                <a:cs typeface="Carlito"/>
              </a:rPr>
              <a:t>Scheduling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0" y="914400"/>
            <a:ext cx="3389041" cy="2571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96</a:t>
            </a:fld>
            <a:endParaRPr spc="-5" dirty="0">
              <a:solidFill>
                <a:srgbClr val="FFFFFF"/>
              </a:solidFill>
            </a:endParaRPr>
          </a:p>
        </p:txBody>
      </p:sp>
      <p:grpSp>
        <p:nvGrpSpPr>
          <p:cNvPr id="5" name="object 2"/>
          <p:cNvGrpSpPr/>
          <p:nvPr/>
        </p:nvGrpSpPr>
        <p:grpSpPr>
          <a:xfrm>
            <a:off x="5029200" y="87820"/>
            <a:ext cx="6687820" cy="6678295"/>
            <a:chOff x="2237232" y="115823"/>
            <a:chExt cx="6687820" cy="6678295"/>
          </a:xfrm>
        </p:grpSpPr>
        <p:sp>
          <p:nvSpPr>
            <p:cNvPr id="6" name="object 3"/>
            <p:cNvSpPr/>
            <p:nvPr/>
          </p:nvSpPr>
          <p:spPr>
            <a:xfrm>
              <a:off x="2551482" y="115823"/>
              <a:ext cx="4904006" cy="13136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4"/>
            <p:cNvSpPr/>
            <p:nvPr/>
          </p:nvSpPr>
          <p:spPr>
            <a:xfrm>
              <a:off x="2237232" y="871726"/>
              <a:ext cx="6687311" cy="59222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575" y="822277"/>
            <a:ext cx="7680022" cy="2530524"/>
          </a:xfrm>
          <a:prstGeom prst="rect">
            <a:avLst/>
          </a:prstGeom>
          <a:blipFill>
            <a:blip r:embed="rId2" cstate="print"/>
            <a:srcRect/>
            <a:stretch>
              <a:fillRect b="-6935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264617"/>
            <a:ext cx="12192000" cy="5386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sz="3200" dirty="0"/>
              <a:t>Priority</a:t>
            </a:r>
            <a:r>
              <a:rPr sz="3200" spc="-50" dirty="0"/>
              <a:t> </a:t>
            </a:r>
            <a:r>
              <a:rPr sz="3200" dirty="0"/>
              <a:t>Scheduling</a:t>
            </a:r>
            <a:r>
              <a:rPr lang="en-US" sz="3200" dirty="0"/>
              <a:t> </a:t>
            </a:r>
            <a:r>
              <a:rPr sz="3200" spc="-5" dirty="0"/>
              <a:t>(Non </a:t>
            </a:r>
            <a:r>
              <a:rPr sz="3200" spc="-25" dirty="0"/>
              <a:t>Preemptive</a:t>
            </a:r>
            <a:r>
              <a:rPr sz="3200" spc="-45" dirty="0"/>
              <a:t> </a:t>
            </a:r>
            <a:r>
              <a:rPr sz="3200" spc="-5" dirty="0"/>
              <a:t>method)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97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5" name="object 2"/>
          <p:cNvSpPr/>
          <p:nvPr/>
        </p:nvSpPr>
        <p:spPr>
          <a:xfrm>
            <a:off x="28575" y="822276"/>
            <a:ext cx="7680022" cy="4285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1066800"/>
            <a:ext cx="7832041" cy="2209800"/>
          </a:xfrm>
          <a:prstGeom prst="rect">
            <a:avLst/>
          </a:prstGeom>
          <a:blipFill>
            <a:blip r:embed="rId2" cstate="print"/>
            <a:srcRect/>
            <a:stretch>
              <a:fillRect b="-10082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155575"/>
            <a:ext cx="8763000" cy="575157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Priority </a:t>
            </a:r>
            <a:r>
              <a:rPr spc="-5" dirty="0"/>
              <a:t>Scheduling  </a:t>
            </a:r>
            <a:r>
              <a:rPr spc="-20" dirty="0"/>
              <a:t>(Preemptive</a:t>
            </a:r>
            <a:r>
              <a:rPr spc="-90" dirty="0"/>
              <a:t> </a:t>
            </a:r>
            <a:r>
              <a:rPr spc="-5" dirty="0"/>
              <a:t>method)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98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5" name="object 2"/>
          <p:cNvSpPr/>
          <p:nvPr/>
        </p:nvSpPr>
        <p:spPr>
          <a:xfrm>
            <a:off x="2133600" y="1066800"/>
            <a:ext cx="7832041" cy="4437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337"/>
            <a:ext cx="1042378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4400" dirty="0"/>
              <a:t>Scheduling </a:t>
            </a:r>
            <a:r>
              <a:rPr lang="en-US" sz="4400" spc="-5" dirty="0"/>
              <a:t>Algorithms:</a:t>
            </a:r>
            <a:r>
              <a:rPr lang="en-US" sz="4400" spc="-95" dirty="0"/>
              <a:t> </a:t>
            </a:r>
            <a:r>
              <a:rPr sz="4400" spc="-30" dirty="0">
                <a:latin typeface="Carlito"/>
                <a:cs typeface="Carlito"/>
              </a:rPr>
              <a:t>Round Robin</a:t>
            </a:r>
            <a:r>
              <a:rPr sz="4400" spc="35" dirty="0">
                <a:latin typeface="Carlito"/>
                <a:cs typeface="Carlito"/>
              </a:rPr>
              <a:t> </a:t>
            </a:r>
            <a:r>
              <a:rPr sz="4400" spc="-10" dirty="0">
                <a:latin typeface="Carlito"/>
                <a:cs typeface="Carlito"/>
              </a:rPr>
              <a:t>(RR)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99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838200"/>
            <a:ext cx="12191999" cy="422743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23495" indent="-228600">
              <a:lnSpc>
                <a:spcPts val="216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This round robin scheduling algorithm is designed especially for time-sharing systems.</a:t>
            </a:r>
          </a:p>
          <a:p>
            <a:pPr marL="241300" marR="23495" indent="-228600">
              <a:lnSpc>
                <a:spcPts val="216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10" dirty="0">
                <a:latin typeface="Carlito"/>
                <a:cs typeface="Carlito"/>
              </a:rPr>
              <a:t>RR is similar to FCFS scheduling, except that CPU bursts are assigned with a small unit of time called </a:t>
            </a:r>
            <a:r>
              <a:rPr lang="en-US" sz="2000" b="1" spc="-10" dirty="0">
                <a:latin typeface="Carlito"/>
                <a:cs typeface="Carlito"/>
              </a:rPr>
              <a:t>time</a:t>
            </a:r>
            <a:r>
              <a:rPr lang="en-US" sz="2000" spc="-10" dirty="0">
                <a:latin typeface="Carlito"/>
                <a:cs typeface="Carlito"/>
              </a:rPr>
              <a:t> </a:t>
            </a:r>
            <a:r>
              <a:rPr lang="en-US" sz="2000" b="1" spc="-10" dirty="0">
                <a:latin typeface="Carlito"/>
                <a:cs typeface="Carlito"/>
              </a:rPr>
              <a:t>quantum</a:t>
            </a:r>
            <a:r>
              <a:rPr lang="en-US" sz="2000" spc="-10" dirty="0">
                <a:latin typeface="Carlito"/>
                <a:cs typeface="Carlito"/>
              </a:rPr>
              <a:t> or </a:t>
            </a:r>
            <a:r>
              <a:rPr lang="en-US" sz="2000" b="1" spc="-10" dirty="0">
                <a:latin typeface="Carlito"/>
                <a:cs typeface="Carlito"/>
              </a:rPr>
              <a:t>time slice</a:t>
            </a:r>
          </a:p>
          <a:p>
            <a:pPr marL="241300" marR="23495" indent="-228600">
              <a:lnSpc>
                <a:spcPts val="216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rlito"/>
                <a:cs typeface="Carlito"/>
              </a:rPr>
              <a:t>Each </a:t>
            </a:r>
            <a:r>
              <a:rPr sz="2000" spc="-15" dirty="0">
                <a:latin typeface="Carlito"/>
                <a:cs typeface="Carlito"/>
              </a:rPr>
              <a:t>process gets </a:t>
            </a:r>
            <a:r>
              <a:rPr sz="2000" spc="-5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small </a:t>
            </a:r>
            <a:r>
              <a:rPr sz="2000" dirty="0">
                <a:latin typeface="Carlito"/>
                <a:cs typeface="Carlito"/>
              </a:rPr>
              <a:t>unit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10" dirty="0">
                <a:latin typeface="Carlito"/>
                <a:cs typeface="Carlito"/>
              </a:rPr>
              <a:t>CPU time </a:t>
            </a:r>
            <a:r>
              <a:rPr sz="2000" dirty="0">
                <a:latin typeface="Carlito"/>
                <a:cs typeface="Carlito"/>
              </a:rPr>
              <a:t>(</a:t>
            </a:r>
            <a:r>
              <a:rPr sz="2000" i="1" dirty="0">
                <a:latin typeface="Carlito"/>
                <a:cs typeface="Carlito"/>
              </a:rPr>
              <a:t>time </a:t>
            </a:r>
            <a:r>
              <a:rPr sz="2000" i="1" spc="-5" dirty="0">
                <a:latin typeface="Carlito"/>
                <a:cs typeface="Carlito"/>
              </a:rPr>
              <a:t>quantum</a:t>
            </a:r>
            <a:r>
              <a:rPr sz="2000" spc="-5" dirty="0">
                <a:latin typeface="Carlito"/>
                <a:cs typeface="Carlito"/>
              </a:rPr>
              <a:t>), usually </a:t>
            </a:r>
            <a:r>
              <a:rPr sz="2000" spc="-10" dirty="0">
                <a:latin typeface="Carlito"/>
                <a:cs typeface="Carlito"/>
              </a:rPr>
              <a:t>10-  </a:t>
            </a:r>
            <a:r>
              <a:rPr sz="2000" spc="-5" dirty="0">
                <a:latin typeface="Carlito"/>
                <a:cs typeface="Carlito"/>
              </a:rPr>
              <a:t>100 </a:t>
            </a:r>
            <a:r>
              <a:rPr sz="2000" spc="-10" dirty="0">
                <a:latin typeface="Carlito"/>
                <a:cs typeface="Carlito"/>
              </a:rPr>
              <a:t>milliseconds. </a:t>
            </a:r>
            <a:r>
              <a:rPr sz="2000" spc="-15" dirty="0">
                <a:latin typeface="Carlito"/>
                <a:cs typeface="Carlito"/>
              </a:rPr>
              <a:t>After </a:t>
            </a:r>
            <a:r>
              <a:rPr sz="2000" spc="-5" dirty="0">
                <a:latin typeface="Carlito"/>
                <a:cs typeface="Carlito"/>
              </a:rPr>
              <a:t>this time has </a:t>
            </a:r>
            <a:r>
              <a:rPr sz="2000" spc="-10" dirty="0">
                <a:latin typeface="Carlito"/>
                <a:cs typeface="Carlito"/>
              </a:rPr>
              <a:t>elapsed, </a:t>
            </a: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process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spc="-15" dirty="0">
                <a:latin typeface="Carlito"/>
                <a:cs typeface="Carlito"/>
              </a:rPr>
              <a:t>preempted </a:t>
            </a:r>
            <a:r>
              <a:rPr sz="2000" spc="-5" dirty="0">
                <a:latin typeface="Carlito"/>
                <a:cs typeface="Carlito"/>
              </a:rPr>
              <a:t>and added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the end of the </a:t>
            </a:r>
            <a:r>
              <a:rPr sz="2000" spc="-10" dirty="0">
                <a:latin typeface="Carlito"/>
                <a:cs typeface="Carlito"/>
              </a:rPr>
              <a:t>ready</a:t>
            </a:r>
            <a:r>
              <a:rPr sz="2000" spc="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queue.</a:t>
            </a:r>
            <a:endParaRPr sz="2000" dirty="0">
              <a:latin typeface="Carlito"/>
              <a:cs typeface="Carlito"/>
            </a:endParaRPr>
          </a:p>
          <a:p>
            <a:pPr marL="241300" marR="84455" indent="-228600">
              <a:lnSpc>
                <a:spcPct val="90000"/>
              </a:lnSpc>
              <a:spcBef>
                <a:spcPts val="98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rlito"/>
                <a:cs typeface="Carlito"/>
              </a:rPr>
              <a:t>If </a:t>
            </a:r>
            <a:r>
              <a:rPr sz="2000" spc="-10" dirty="0">
                <a:latin typeface="Carlito"/>
                <a:cs typeface="Carlito"/>
              </a:rPr>
              <a:t>there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i="1" spc="-5" dirty="0">
                <a:latin typeface="Carlito"/>
                <a:cs typeface="Carlito"/>
              </a:rPr>
              <a:t>n </a:t>
            </a:r>
            <a:r>
              <a:rPr sz="2000" spc="-15" dirty="0">
                <a:latin typeface="Carlito"/>
                <a:cs typeface="Carlito"/>
              </a:rPr>
              <a:t>processes </a:t>
            </a:r>
            <a:r>
              <a:rPr sz="2000" spc="-5" dirty="0">
                <a:latin typeface="Carlito"/>
                <a:cs typeface="Carlito"/>
              </a:rPr>
              <a:t>in the </a:t>
            </a:r>
            <a:r>
              <a:rPr sz="2000" spc="-10" dirty="0">
                <a:latin typeface="Carlito"/>
                <a:cs typeface="Carlito"/>
              </a:rPr>
              <a:t>ready </a:t>
            </a:r>
            <a:r>
              <a:rPr sz="2000" spc="-5" dirty="0">
                <a:latin typeface="Carlito"/>
                <a:cs typeface="Carlito"/>
              </a:rPr>
              <a:t>queue and the time quantum is </a:t>
            </a:r>
            <a:r>
              <a:rPr sz="2000" i="1" spc="-5" dirty="0">
                <a:latin typeface="Carlito"/>
                <a:cs typeface="Carlito"/>
              </a:rPr>
              <a:t>q</a:t>
            </a:r>
            <a:r>
              <a:rPr sz="2000" spc="-5" dirty="0">
                <a:latin typeface="Carlito"/>
                <a:cs typeface="Carlito"/>
              </a:rPr>
              <a:t>,  then each </a:t>
            </a:r>
            <a:r>
              <a:rPr sz="2000" spc="-10" dirty="0">
                <a:latin typeface="Carlito"/>
                <a:cs typeface="Carlito"/>
              </a:rPr>
              <a:t>process </a:t>
            </a:r>
            <a:r>
              <a:rPr sz="2000" spc="-15" dirty="0">
                <a:latin typeface="Carlito"/>
                <a:cs typeface="Carlito"/>
              </a:rPr>
              <a:t>gets </a:t>
            </a:r>
            <a:r>
              <a:rPr sz="2000" spc="-5" dirty="0">
                <a:latin typeface="Carlito"/>
                <a:cs typeface="Carlito"/>
              </a:rPr>
              <a:t>1/</a:t>
            </a:r>
            <a:r>
              <a:rPr sz="2000" i="1" spc="-5" dirty="0">
                <a:latin typeface="Carlito"/>
                <a:cs typeface="Carlito"/>
              </a:rPr>
              <a:t>n </a:t>
            </a:r>
            <a:r>
              <a:rPr sz="2000" spc="-5" dirty="0">
                <a:latin typeface="Carlito"/>
                <a:cs typeface="Carlito"/>
              </a:rPr>
              <a:t>of the </a:t>
            </a:r>
            <a:r>
              <a:rPr sz="2000" spc="-10" dirty="0">
                <a:latin typeface="Carlito"/>
                <a:cs typeface="Carlito"/>
              </a:rPr>
              <a:t>CPU </a:t>
            </a:r>
            <a:r>
              <a:rPr sz="2000" spc="-5" dirty="0">
                <a:latin typeface="Carlito"/>
                <a:cs typeface="Carlito"/>
              </a:rPr>
              <a:t>time in chunks of </a:t>
            </a:r>
            <a:r>
              <a:rPr sz="2000" spc="-15" dirty="0">
                <a:latin typeface="Carlito"/>
                <a:cs typeface="Carlito"/>
              </a:rPr>
              <a:t>at </a:t>
            </a:r>
            <a:r>
              <a:rPr sz="2000" spc="-20" dirty="0">
                <a:latin typeface="Carlito"/>
                <a:cs typeface="Carlito"/>
              </a:rPr>
              <a:t>most </a:t>
            </a:r>
            <a:r>
              <a:rPr sz="2000" i="1" spc="-5" dirty="0">
                <a:latin typeface="Carlito"/>
                <a:cs typeface="Carlito"/>
              </a:rPr>
              <a:t>q </a:t>
            </a:r>
            <a:r>
              <a:rPr sz="2000" spc="-5" dirty="0">
                <a:latin typeface="Carlito"/>
                <a:cs typeface="Carlito"/>
              </a:rPr>
              <a:t>time units </a:t>
            </a:r>
            <a:r>
              <a:rPr sz="2000" spc="-10" dirty="0">
                <a:latin typeface="Carlito"/>
                <a:cs typeface="Carlito"/>
              </a:rPr>
              <a:t>at </a:t>
            </a:r>
            <a:r>
              <a:rPr sz="2000" spc="-5" dirty="0">
                <a:latin typeface="Carlito"/>
                <a:cs typeface="Carlito"/>
              </a:rPr>
              <a:t>once. </a:t>
            </a:r>
            <a:r>
              <a:rPr sz="2000" dirty="0">
                <a:latin typeface="Carlito"/>
                <a:cs typeface="Carlito"/>
              </a:rPr>
              <a:t>No </a:t>
            </a:r>
            <a:r>
              <a:rPr sz="2000" spc="-15" dirty="0">
                <a:latin typeface="Carlito"/>
                <a:cs typeface="Carlito"/>
              </a:rPr>
              <a:t>process </a:t>
            </a:r>
            <a:r>
              <a:rPr sz="2000" spc="-10" dirty="0">
                <a:latin typeface="Carlito"/>
                <a:cs typeface="Carlito"/>
              </a:rPr>
              <a:t>waits </a:t>
            </a:r>
            <a:r>
              <a:rPr sz="2000" spc="-15" dirty="0">
                <a:latin typeface="Carlito"/>
                <a:cs typeface="Carlito"/>
              </a:rPr>
              <a:t>more </a:t>
            </a:r>
            <a:r>
              <a:rPr sz="2000" spc="-5" dirty="0">
                <a:latin typeface="Carlito"/>
                <a:cs typeface="Carlito"/>
              </a:rPr>
              <a:t>than </a:t>
            </a:r>
            <a:r>
              <a:rPr sz="2000" dirty="0">
                <a:latin typeface="Carlito"/>
                <a:cs typeface="Carlito"/>
              </a:rPr>
              <a:t>(</a:t>
            </a:r>
            <a:r>
              <a:rPr sz="2000" i="1" dirty="0">
                <a:latin typeface="Carlito"/>
                <a:cs typeface="Carlito"/>
              </a:rPr>
              <a:t>n</a:t>
            </a:r>
            <a:r>
              <a:rPr sz="2000" dirty="0">
                <a:latin typeface="Carlito"/>
                <a:cs typeface="Carlito"/>
              </a:rPr>
              <a:t>-1) </a:t>
            </a:r>
            <a:r>
              <a:rPr sz="2000" spc="-5" dirty="0">
                <a:latin typeface="Carlito"/>
                <a:cs typeface="Carlito"/>
              </a:rPr>
              <a:t>x </a:t>
            </a:r>
            <a:r>
              <a:rPr sz="2000" i="1" spc="-5" dirty="0">
                <a:latin typeface="Carlito"/>
                <a:cs typeface="Carlito"/>
              </a:rPr>
              <a:t>q </a:t>
            </a:r>
            <a:r>
              <a:rPr sz="2000" spc="-10" dirty="0">
                <a:latin typeface="Carlito"/>
                <a:cs typeface="Carlito"/>
              </a:rPr>
              <a:t>time </a:t>
            </a:r>
            <a:r>
              <a:rPr sz="2000" spc="-5" dirty="0">
                <a:latin typeface="Carlito"/>
                <a:cs typeface="Carlito"/>
              </a:rPr>
              <a:t>units </a:t>
            </a:r>
            <a:r>
              <a:rPr sz="2000" spc="-10" dirty="0">
                <a:latin typeface="Carlito"/>
                <a:cs typeface="Carlito"/>
              </a:rPr>
              <a:t>until </a:t>
            </a:r>
            <a:r>
              <a:rPr sz="2000" spc="-5" dirty="0">
                <a:latin typeface="Carlito"/>
                <a:cs typeface="Carlito"/>
              </a:rPr>
              <a:t>its  </a:t>
            </a:r>
            <a:r>
              <a:rPr sz="2000" spc="-15" dirty="0">
                <a:latin typeface="Carlito"/>
                <a:cs typeface="Carlito"/>
              </a:rPr>
              <a:t>next</a:t>
            </a:r>
            <a:r>
              <a:rPr sz="2000" spc="-5" dirty="0">
                <a:latin typeface="Carlito"/>
                <a:cs typeface="Carlito"/>
              </a:rPr>
              <a:t> quantum.</a:t>
            </a:r>
            <a:endParaRPr sz="20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rlito"/>
                <a:cs typeface="Carlito"/>
              </a:rPr>
              <a:t>Performance </a:t>
            </a:r>
            <a:r>
              <a:rPr sz="2000" spc="-5" dirty="0">
                <a:latin typeface="Carlito"/>
                <a:cs typeface="Carlito"/>
              </a:rPr>
              <a:t>depends </a:t>
            </a:r>
            <a:r>
              <a:rPr sz="2000" spc="-10" dirty="0">
                <a:latin typeface="Carlito"/>
                <a:cs typeface="Carlito"/>
              </a:rPr>
              <a:t>on </a:t>
            </a:r>
            <a:r>
              <a:rPr sz="2000" spc="-20" dirty="0">
                <a:latin typeface="Carlito"/>
                <a:cs typeface="Carlito"/>
              </a:rPr>
              <a:t>size </a:t>
            </a:r>
            <a:r>
              <a:rPr sz="2000" spc="-5" dirty="0">
                <a:latin typeface="Carlito"/>
                <a:cs typeface="Carlito"/>
              </a:rPr>
              <a:t>of</a:t>
            </a:r>
            <a:r>
              <a:rPr sz="2000" spc="13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q</a:t>
            </a:r>
            <a:endParaRPr sz="20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i="1" spc="-5" dirty="0">
                <a:latin typeface="Carlito"/>
                <a:cs typeface="Carlito"/>
              </a:rPr>
              <a:t>q </a:t>
            </a:r>
            <a:r>
              <a:rPr sz="2000" spc="-15" dirty="0">
                <a:latin typeface="Carlito"/>
                <a:cs typeface="Carlito"/>
              </a:rPr>
              <a:t>large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rlito"/>
                <a:cs typeface="Carlito"/>
              </a:rPr>
              <a:t>FIFO</a:t>
            </a:r>
            <a:endParaRPr sz="2000" dirty="0">
              <a:latin typeface="Carlito"/>
              <a:cs typeface="Carlito"/>
            </a:endParaRPr>
          </a:p>
          <a:p>
            <a:pPr marL="698500" marR="436245" lvl="1" indent="-228600">
              <a:lnSpc>
                <a:spcPct val="8960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i="1" spc="-5" dirty="0">
                <a:latin typeface="Carlito"/>
                <a:cs typeface="Carlito"/>
              </a:rPr>
              <a:t>q </a:t>
            </a:r>
            <a:r>
              <a:rPr sz="2000" spc="-10" dirty="0">
                <a:latin typeface="Carlito"/>
                <a:cs typeface="Carlito"/>
              </a:rPr>
              <a:t>small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rlito"/>
                <a:cs typeface="Carlito"/>
              </a:rPr>
              <a:t>RR approach is </a:t>
            </a:r>
            <a:r>
              <a:rPr sz="2000" spc="-10" dirty="0">
                <a:latin typeface="Carlito"/>
                <a:cs typeface="Carlito"/>
              </a:rPr>
              <a:t>called </a:t>
            </a:r>
            <a:r>
              <a:rPr sz="2000" spc="-15" dirty="0">
                <a:latin typeface="Carlito"/>
                <a:cs typeface="Carlito"/>
              </a:rPr>
              <a:t>processor </a:t>
            </a:r>
            <a:r>
              <a:rPr sz="2000" spc="-5" dirty="0">
                <a:latin typeface="Carlito"/>
                <a:cs typeface="Carlito"/>
              </a:rPr>
              <a:t>sharing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20" dirty="0">
                <a:latin typeface="Carlito"/>
                <a:cs typeface="Carlito"/>
              </a:rPr>
              <a:t>creates  </a:t>
            </a:r>
            <a:r>
              <a:rPr sz="2000" spc="-10" dirty="0">
                <a:latin typeface="Carlito"/>
                <a:cs typeface="Carlito"/>
              </a:rPr>
              <a:t>appearance that each </a:t>
            </a:r>
            <a:r>
              <a:rPr sz="2000" spc="-5" dirty="0">
                <a:latin typeface="Carlito"/>
                <a:cs typeface="Carlito"/>
              </a:rPr>
              <a:t>of the </a:t>
            </a:r>
            <a:r>
              <a:rPr sz="2000" i="1" spc="-5" dirty="0">
                <a:latin typeface="Carlito"/>
                <a:cs typeface="Carlito"/>
              </a:rPr>
              <a:t>n </a:t>
            </a:r>
            <a:r>
              <a:rPr sz="2000" spc="-15" dirty="0">
                <a:latin typeface="Carlito"/>
                <a:cs typeface="Carlito"/>
              </a:rPr>
              <a:t>processes </a:t>
            </a:r>
            <a:r>
              <a:rPr sz="2000" spc="-5" dirty="0">
                <a:latin typeface="Carlito"/>
                <a:cs typeface="Carlito"/>
              </a:rPr>
              <a:t>has its </a:t>
            </a:r>
            <a:r>
              <a:rPr sz="2000" spc="-10" dirty="0">
                <a:latin typeface="Carlito"/>
                <a:cs typeface="Carlito"/>
              </a:rPr>
              <a:t>own processor  </a:t>
            </a:r>
            <a:r>
              <a:rPr sz="2000" dirty="0">
                <a:latin typeface="Carlito"/>
                <a:cs typeface="Carlito"/>
              </a:rPr>
              <a:t>running </a:t>
            </a:r>
            <a:r>
              <a:rPr sz="2000" spc="-15" dirty="0">
                <a:latin typeface="Carlito"/>
                <a:cs typeface="Carlito"/>
              </a:rPr>
              <a:t>at </a:t>
            </a:r>
            <a:r>
              <a:rPr sz="2000" spc="-10" dirty="0">
                <a:latin typeface="Carlito"/>
                <a:cs typeface="Carlito"/>
              </a:rPr>
              <a:t>speed</a:t>
            </a:r>
            <a:r>
              <a:rPr sz="2000" spc="4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1/n</a:t>
            </a:r>
            <a:endParaRPr sz="2000" dirty="0">
              <a:latin typeface="Carlito"/>
              <a:cs typeface="Carlito"/>
            </a:endParaRPr>
          </a:p>
          <a:p>
            <a:pPr marL="698500" marR="5080" lvl="1" indent="-228600">
              <a:lnSpc>
                <a:spcPts val="2160"/>
              </a:lnSpc>
              <a:spcBef>
                <a:spcPts val="53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rlito"/>
                <a:cs typeface="Carlito"/>
              </a:rPr>
              <a:t>q </a:t>
            </a:r>
            <a:r>
              <a:rPr sz="2000" spc="-20" dirty="0">
                <a:latin typeface="Carlito"/>
                <a:cs typeface="Carlito"/>
              </a:rPr>
              <a:t>must </a:t>
            </a:r>
            <a:r>
              <a:rPr sz="2000" spc="-5" dirty="0">
                <a:latin typeface="Carlito"/>
                <a:cs typeface="Carlito"/>
              </a:rPr>
              <a:t>be </a:t>
            </a:r>
            <a:r>
              <a:rPr sz="2000" spc="-15" dirty="0">
                <a:latin typeface="Carlito"/>
                <a:cs typeface="Carlito"/>
              </a:rPr>
              <a:t>large </a:t>
            </a:r>
            <a:r>
              <a:rPr sz="2000" spc="-10" dirty="0">
                <a:latin typeface="Carlito"/>
                <a:cs typeface="Carlito"/>
              </a:rPr>
              <a:t>with </a:t>
            </a:r>
            <a:r>
              <a:rPr sz="2000" spc="-15" dirty="0">
                <a:latin typeface="Carlito"/>
                <a:cs typeface="Carlito"/>
              </a:rPr>
              <a:t>respect to </a:t>
            </a:r>
            <a:r>
              <a:rPr sz="2000" spc="-20" dirty="0">
                <a:latin typeface="Carlito"/>
                <a:cs typeface="Carlito"/>
              </a:rPr>
              <a:t>context </a:t>
            </a:r>
            <a:r>
              <a:rPr sz="2000" spc="-10" dirty="0">
                <a:latin typeface="Carlito"/>
                <a:cs typeface="Carlito"/>
              </a:rPr>
              <a:t>switch, otherwise </a:t>
            </a:r>
            <a:r>
              <a:rPr sz="2000" spc="-15" dirty="0">
                <a:latin typeface="Carlito"/>
                <a:cs typeface="Carlito"/>
              </a:rPr>
              <a:t>overhead 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spc="-15" dirty="0">
                <a:latin typeface="Carlito"/>
                <a:cs typeface="Carlito"/>
              </a:rPr>
              <a:t>too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high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" y="0"/>
            <a:ext cx="4626102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/>
              <a:t>Round</a:t>
            </a:r>
            <a:r>
              <a:rPr sz="4400" spc="-65" dirty="0"/>
              <a:t> </a:t>
            </a:r>
            <a:r>
              <a:rPr sz="4400" spc="-20" dirty="0"/>
              <a:t>Robin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38100" y="744033"/>
            <a:ext cx="33528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4471C4"/>
                </a:solidFill>
                <a:latin typeface="Caladea"/>
                <a:cs typeface="Caladea"/>
              </a:rPr>
              <a:t>time quantum</a:t>
            </a:r>
            <a:r>
              <a:rPr sz="2000" spc="-40" dirty="0">
                <a:solidFill>
                  <a:srgbClr val="4471C4"/>
                </a:solidFill>
                <a:latin typeface="Caladea"/>
                <a:cs typeface="Caladea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Caladea"/>
                <a:cs typeface="Caladea"/>
              </a:rPr>
              <a:t>5ms</a:t>
            </a:r>
            <a:endParaRPr sz="2000" dirty="0">
              <a:latin typeface="Caladea"/>
              <a:cs typeface="Calade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800" y="869632"/>
            <a:ext cx="1933575" cy="1238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7836" y="2438400"/>
            <a:ext cx="4685928" cy="2133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595"/>
              </a:lnSpc>
            </a:pPr>
            <a:fld id="{81D60167-4931-47E6-BA6A-407CBD079E47}" type="slidenum">
              <a:rPr spc="-5" dirty="0">
                <a:solidFill>
                  <a:srgbClr val="FFFFFF"/>
                </a:solidFill>
              </a:rPr>
              <a:pPr marL="37465">
                <a:lnSpc>
                  <a:spcPts val="1595"/>
                </a:lnSpc>
              </a:pPr>
              <a:t>100</a:t>
            </a:fld>
            <a:endParaRPr spc="-5" dirty="0">
              <a:solidFill>
                <a:srgbClr val="FFFFFF"/>
              </a:solidFill>
            </a:endParaRPr>
          </a:p>
        </p:txBody>
      </p:sp>
      <p:sp>
        <p:nvSpPr>
          <p:cNvPr id="7" name="object 2"/>
          <p:cNvSpPr/>
          <p:nvPr/>
        </p:nvSpPr>
        <p:spPr>
          <a:xfrm>
            <a:off x="5410200" y="0"/>
            <a:ext cx="6425310" cy="67327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61672" y="6492036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5" dirty="0">
                <a:latin typeface="Arial"/>
                <a:cs typeface="Arial"/>
              </a:rPr>
              <a:t>71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26670" y="699197"/>
            <a:ext cx="12218670" cy="83756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32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Each</a:t>
            </a:r>
            <a:r>
              <a:rPr sz="1600" spc="-4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process</a:t>
            </a:r>
            <a:r>
              <a:rPr sz="1600" spc="-7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is</a:t>
            </a:r>
            <a:r>
              <a:rPr sz="1600" spc="-1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-5" dirty="0">
                <a:solidFill>
                  <a:srgbClr val="44536A"/>
                </a:solidFill>
                <a:latin typeface="Caladea"/>
                <a:cs typeface="Caladea"/>
              </a:rPr>
              <a:t>given</a:t>
            </a:r>
            <a:r>
              <a:rPr sz="1600" spc="-4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CPU</a:t>
            </a:r>
            <a:r>
              <a:rPr sz="1600" spc="-2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time</a:t>
            </a:r>
            <a:r>
              <a:rPr sz="1600" spc="-3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in</a:t>
            </a:r>
            <a:r>
              <a:rPr sz="1600" spc="-2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turn,</a:t>
            </a:r>
            <a:r>
              <a:rPr sz="1600" spc="-1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(i.e.</a:t>
            </a:r>
            <a:r>
              <a:rPr sz="1600" spc="-5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time</a:t>
            </a:r>
            <a:r>
              <a:rPr sz="1600" spc="-3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 err="1">
                <a:solidFill>
                  <a:srgbClr val="44536A"/>
                </a:solidFill>
                <a:latin typeface="Caladea"/>
                <a:cs typeface="Caladea"/>
              </a:rPr>
              <a:t>quantum:</a:t>
            </a:r>
            <a:r>
              <a:rPr sz="1600" spc="-5" dirty="0" err="1">
                <a:solidFill>
                  <a:srgbClr val="44536A"/>
                </a:solidFill>
                <a:latin typeface="Caladea"/>
                <a:cs typeface="Caladea"/>
              </a:rPr>
              <a:t>usually</a:t>
            </a:r>
            <a:r>
              <a:rPr sz="1600" spc="-1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10" dirty="0">
                <a:solidFill>
                  <a:srgbClr val="44536A"/>
                </a:solidFill>
                <a:latin typeface="Caladea"/>
                <a:cs typeface="Caladea"/>
              </a:rPr>
              <a:t>10-100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milliseconds), </a:t>
            </a:r>
            <a:r>
              <a:rPr lang="en-US" sz="1600" dirty="0">
                <a:solidFill>
                  <a:srgbClr val="44536A"/>
                </a:solidFill>
                <a:latin typeface="Caladea"/>
                <a:cs typeface="Caladea"/>
              </a:rPr>
              <a:t>&amp;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thus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waits </a:t>
            </a:r>
            <a:r>
              <a:rPr sz="1600" spc="-5" dirty="0">
                <a:solidFill>
                  <a:srgbClr val="44536A"/>
                </a:solidFill>
                <a:latin typeface="Caladea"/>
                <a:cs typeface="Caladea"/>
              </a:rPr>
              <a:t>no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longer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than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( n – 1 ) *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time</a:t>
            </a:r>
            <a:r>
              <a:rPr sz="1600" spc="-25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quantum</a:t>
            </a:r>
            <a:endParaRPr sz="1600" dirty="0">
              <a:latin typeface="Caladea"/>
              <a:cs typeface="Caladea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time </a:t>
            </a:r>
            <a:r>
              <a:rPr sz="1600" dirty="0">
                <a:solidFill>
                  <a:srgbClr val="44536A"/>
                </a:solidFill>
                <a:latin typeface="Caladea"/>
                <a:cs typeface="Caladea"/>
              </a:rPr>
              <a:t>quantum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=</a:t>
            </a:r>
            <a:r>
              <a:rPr sz="1600" spc="-10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1600" spc="5" dirty="0">
                <a:solidFill>
                  <a:srgbClr val="44536A"/>
                </a:solidFill>
                <a:latin typeface="Caladea"/>
                <a:cs typeface="Caladea"/>
              </a:rPr>
              <a:t>20</a:t>
            </a:r>
            <a:endParaRPr sz="1600" dirty="0">
              <a:latin typeface="Caladea"/>
              <a:cs typeface="Calade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85645088"/>
              </p:ext>
            </p:extLst>
          </p:nvPr>
        </p:nvGraphicFramePr>
        <p:xfrm>
          <a:off x="54228" y="1676400"/>
          <a:ext cx="2563254" cy="1659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29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60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3298">
                <a:tc>
                  <a:txBody>
                    <a:bodyPr/>
                    <a:lstStyle/>
                    <a:p>
                      <a:pPr marL="31750">
                        <a:lnSpc>
                          <a:spcPts val="1850"/>
                        </a:lnSpc>
                      </a:pPr>
                      <a:r>
                        <a:rPr sz="1600" u="sng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Process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ts val="1850"/>
                        </a:lnSpc>
                      </a:pPr>
                      <a:r>
                        <a:rPr sz="1600" u="sng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Burst</a:t>
                      </a:r>
                      <a:r>
                        <a:rPr sz="1600" u="sng" spc="-40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 </a:t>
                      </a:r>
                      <a:r>
                        <a:rPr sz="1600" u="sng" spc="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Time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43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1</a:t>
                      </a:r>
                      <a:endParaRPr sz="1575" baseline="-21164" dirty="0">
                        <a:latin typeface="Caladea"/>
                        <a:cs typeface="Calade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53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5896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</a:t>
                      </a:r>
                      <a:endParaRPr sz="1575" baseline="-21164">
                        <a:latin typeface="Caladea"/>
                        <a:cs typeface="Calade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17</a:t>
                      </a:r>
                      <a:endParaRPr sz="1600">
                        <a:latin typeface="Caladea"/>
                        <a:cs typeface="Calade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6253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3</a:t>
                      </a:r>
                      <a:endParaRPr sz="1575" baseline="-21164">
                        <a:latin typeface="Caladea"/>
                        <a:cs typeface="Calade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68</a:t>
                      </a:r>
                      <a:endParaRPr sz="1600">
                        <a:latin typeface="Caladea"/>
                        <a:cs typeface="Caladea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0133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i="1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1575" i="1" baseline="-21164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4</a:t>
                      </a:r>
                      <a:endParaRPr sz="1575" baseline="-21164" dirty="0">
                        <a:latin typeface="Caladea"/>
                        <a:cs typeface="Calade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24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7493" y="3872"/>
            <a:ext cx="8207502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/>
              <a:t>Round Robin </a:t>
            </a:r>
            <a:r>
              <a:rPr sz="4400" spc="-5" dirty="0"/>
              <a:t>Scheduling</a:t>
            </a:r>
            <a:endParaRPr sz="4400" dirty="0"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26515740"/>
              </p:ext>
            </p:extLst>
          </p:nvPr>
        </p:nvGraphicFramePr>
        <p:xfrm>
          <a:off x="5549835" y="1981200"/>
          <a:ext cx="4835521" cy="393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4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13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8132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 dirty="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2</a:t>
                      </a:r>
                      <a:endParaRPr sz="1800" baseline="-20833" dirty="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4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baseline="-20833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4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 dirty="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522976" y="2511030"/>
            <a:ext cx="50996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400" algn="l"/>
                <a:tab pos="864235" algn="l"/>
                <a:tab pos="1381125" algn="l"/>
                <a:tab pos="1910714" algn="l"/>
                <a:tab pos="2369820" algn="l"/>
                <a:tab pos="2767965" algn="l"/>
                <a:tab pos="3286125" algn="l"/>
              </a:tabLst>
            </a:pPr>
            <a:r>
              <a:rPr sz="1800" dirty="0">
                <a:latin typeface="Arial"/>
                <a:cs typeface="Arial"/>
              </a:rPr>
              <a:t>0	20	37	57	77	97	</a:t>
            </a:r>
            <a:r>
              <a:rPr sz="1800" spc="-50" dirty="0">
                <a:latin typeface="Arial"/>
                <a:cs typeface="Arial"/>
              </a:rPr>
              <a:t>117	</a:t>
            </a:r>
            <a:r>
              <a:rPr sz="1800" dirty="0">
                <a:latin typeface="Arial"/>
                <a:cs typeface="Arial"/>
              </a:rPr>
              <a:t>121 134 154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162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71596455"/>
              </p:ext>
            </p:extLst>
          </p:nvPr>
        </p:nvGraphicFramePr>
        <p:xfrm>
          <a:off x="2590800" y="1676400"/>
          <a:ext cx="2106918" cy="1659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69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93298">
                <a:tc>
                  <a:txBody>
                    <a:bodyPr/>
                    <a:lstStyle/>
                    <a:p>
                      <a:pPr marL="429259">
                        <a:lnSpc>
                          <a:spcPts val="1850"/>
                        </a:lnSpc>
                      </a:pPr>
                      <a:r>
                        <a:rPr sz="1600" u="sng" spc="-10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Wait</a:t>
                      </a:r>
                      <a:r>
                        <a:rPr sz="1600" u="sng" spc="-4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 </a:t>
                      </a:r>
                      <a:r>
                        <a:rPr sz="1600" u="sng" spc="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Time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4374"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57 +24 =</a:t>
                      </a:r>
                      <a:r>
                        <a:rPr sz="1600" spc="-5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 </a:t>
                      </a:r>
                      <a:r>
                        <a:rPr sz="1600" spc="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81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5896"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20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6253"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37 + 40 + 17=</a:t>
                      </a:r>
                      <a:r>
                        <a:rPr sz="1600" spc="-13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 </a:t>
                      </a:r>
                      <a:r>
                        <a:rPr sz="1600" spc="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94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0133"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57 + 40 =</a:t>
                      </a:r>
                      <a:r>
                        <a:rPr sz="1600" spc="-4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 </a:t>
                      </a:r>
                      <a:r>
                        <a:rPr sz="160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97</a:t>
                      </a:r>
                      <a:endParaRPr sz="1600" dirty="0">
                        <a:latin typeface="Caladea"/>
                        <a:cs typeface="Calade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80360"/>
            <a:ext cx="12192000" cy="3977640"/>
            <a:chOff x="0" y="2880360"/>
            <a:chExt cx="12192000" cy="3977640"/>
          </a:xfrm>
        </p:grpSpPr>
        <p:sp>
          <p:nvSpPr>
            <p:cNvPr id="3" name="object 3"/>
            <p:cNvSpPr/>
            <p:nvPr/>
          </p:nvSpPr>
          <p:spPr>
            <a:xfrm>
              <a:off x="2639567" y="2919984"/>
              <a:ext cx="5434583" cy="24536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99944" y="2880359"/>
              <a:ext cx="5514340" cy="2532380"/>
            </a:xfrm>
            <a:custGeom>
              <a:avLst/>
              <a:gdLst/>
              <a:ahLst/>
              <a:cxnLst/>
              <a:rect l="l" t="t" r="r" b="b"/>
              <a:pathLst>
                <a:path w="5514340" h="2532379">
                  <a:moveTo>
                    <a:pt x="5487416" y="26670"/>
                  </a:moveTo>
                  <a:lnTo>
                    <a:pt x="26416" y="26670"/>
                  </a:lnTo>
                  <a:lnTo>
                    <a:pt x="26416" y="39370"/>
                  </a:lnTo>
                  <a:lnTo>
                    <a:pt x="26416" y="2493010"/>
                  </a:lnTo>
                  <a:lnTo>
                    <a:pt x="26416" y="2506980"/>
                  </a:lnTo>
                  <a:lnTo>
                    <a:pt x="5487416" y="2506980"/>
                  </a:lnTo>
                  <a:lnTo>
                    <a:pt x="5487416" y="2493264"/>
                  </a:lnTo>
                  <a:lnTo>
                    <a:pt x="5487416" y="2493010"/>
                  </a:lnTo>
                  <a:lnTo>
                    <a:pt x="5487416" y="39624"/>
                  </a:lnTo>
                  <a:lnTo>
                    <a:pt x="5474208" y="39624"/>
                  </a:lnTo>
                  <a:lnTo>
                    <a:pt x="5474208" y="2493010"/>
                  </a:lnTo>
                  <a:lnTo>
                    <a:pt x="39624" y="2493010"/>
                  </a:lnTo>
                  <a:lnTo>
                    <a:pt x="39624" y="39370"/>
                  </a:lnTo>
                  <a:lnTo>
                    <a:pt x="5487416" y="39370"/>
                  </a:lnTo>
                  <a:lnTo>
                    <a:pt x="5487416" y="26670"/>
                  </a:lnTo>
                  <a:close/>
                </a:path>
                <a:path w="5514340" h="2532379">
                  <a:moveTo>
                    <a:pt x="551383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2519680"/>
                  </a:lnTo>
                  <a:lnTo>
                    <a:pt x="0" y="2532380"/>
                  </a:lnTo>
                  <a:lnTo>
                    <a:pt x="5513832" y="2532380"/>
                  </a:lnTo>
                  <a:lnTo>
                    <a:pt x="5513832" y="2519680"/>
                  </a:lnTo>
                  <a:lnTo>
                    <a:pt x="5513832" y="13208"/>
                  </a:lnTo>
                  <a:lnTo>
                    <a:pt x="5500624" y="13208"/>
                  </a:lnTo>
                  <a:lnTo>
                    <a:pt x="5500624" y="2519680"/>
                  </a:lnTo>
                  <a:lnTo>
                    <a:pt x="13208" y="2519680"/>
                  </a:lnTo>
                  <a:lnTo>
                    <a:pt x="13208" y="12700"/>
                  </a:lnTo>
                  <a:lnTo>
                    <a:pt x="5513832" y="12700"/>
                  </a:lnTo>
                  <a:lnTo>
                    <a:pt x="5513832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7779" y="700087"/>
            <a:ext cx="11824221" cy="180369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30" dirty="0">
                <a:solidFill>
                  <a:srgbClr val="44536A"/>
                </a:solidFill>
                <a:latin typeface="Caladea"/>
                <a:cs typeface="Caladea"/>
              </a:rPr>
              <a:t>Typically,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higher </a:t>
            </a:r>
            <a:r>
              <a:rPr sz="2000" spc="-25" dirty="0">
                <a:solidFill>
                  <a:srgbClr val="44536A"/>
                </a:solidFill>
                <a:latin typeface="Caladea"/>
                <a:cs typeface="Caladea"/>
              </a:rPr>
              <a:t>average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turnaround </a:t>
            </a:r>
            <a:r>
              <a:rPr sz="2000" spc="-5" dirty="0">
                <a:solidFill>
                  <a:srgbClr val="44536A"/>
                </a:solidFill>
                <a:latin typeface="Caladea"/>
                <a:cs typeface="Caladea"/>
              </a:rPr>
              <a:t>than </a:t>
            </a:r>
            <a:r>
              <a:rPr sz="2000" spc="-65" dirty="0">
                <a:solidFill>
                  <a:srgbClr val="44536A"/>
                </a:solidFill>
                <a:latin typeface="Caladea"/>
                <a:cs typeface="Caladea"/>
              </a:rPr>
              <a:t>SJF,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but </a:t>
            </a:r>
            <a:r>
              <a:rPr sz="2000" spc="-20" dirty="0">
                <a:solidFill>
                  <a:srgbClr val="44536A"/>
                </a:solidFill>
                <a:latin typeface="Caladea"/>
                <a:cs typeface="Caladea"/>
              </a:rPr>
              <a:t>better</a:t>
            </a:r>
            <a:r>
              <a:rPr sz="2000" spc="32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2000" i="1" spc="-10" dirty="0">
                <a:solidFill>
                  <a:srgbClr val="44536A"/>
                </a:solidFill>
                <a:latin typeface="Caladea"/>
                <a:cs typeface="Caladea"/>
              </a:rPr>
              <a:t>response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.</a:t>
            </a:r>
            <a:endParaRPr sz="2000" dirty="0">
              <a:latin typeface="Caladea"/>
              <a:cs typeface="Caladea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solidFill>
                  <a:srgbClr val="44536A"/>
                </a:solidFill>
                <a:latin typeface="Caladea"/>
                <a:cs typeface="Caladea"/>
              </a:rPr>
              <a:t>Performance</a:t>
            </a:r>
            <a:endParaRPr sz="2000" dirty="0">
              <a:latin typeface="Caladea"/>
              <a:cs typeface="Caladea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i="1" spc="-5" dirty="0">
                <a:solidFill>
                  <a:srgbClr val="44536A"/>
                </a:solidFill>
                <a:latin typeface="Caladea"/>
                <a:cs typeface="Caladea"/>
              </a:rPr>
              <a:t>q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large </a:t>
            </a:r>
            <a:r>
              <a:rPr sz="2000" spc="-10" dirty="0">
                <a:solidFill>
                  <a:srgbClr val="44536A"/>
                </a:solidFill>
                <a:latin typeface="Symbol"/>
                <a:cs typeface="Symbol"/>
              </a:rPr>
              <a:t></a:t>
            </a:r>
            <a:r>
              <a:rPr sz="2000" spc="-4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FCFS</a:t>
            </a:r>
            <a:endParaRPr sz="2000" dirty="0">
              <a:latin typeface="Caladea"/>
              <a:cs typeface="Caladea"/>
            </a:endParaRPr>
          </a:p>
          <a:p>
            <a:pPr marL="698500" lvl="1" indent="-228600">
              <a:lnSpc>
                <a:spcPts val="227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i="1" spc="-5" dirty="0">
                <a:solidFill>
                  <a:srgbClr val="44536A"/>
                </a:solidFill>
                <a:latin typeface="Caladea"/>
                <a:cs typeface="Caladea"/>
              </a:rPr>
              <a:t>q </a:t>
            </a:r>
            <a:r>
              <a:rPr sz="2000" spc="-5" dirty="0">
                <a:solidFill>
                  <a:srgbClr val="44536A"/>
                </a:solidFill>
                <a:latin typeface="Caladea"/>
                <a:cs typeface="Caladea"/>
              </a:rPr>
              <a:t>small </a:t>
            </a:r>
            <a:r>
              <a:rPr sz="2000" spc="-10" dirty="0">
                <a:solidFill>
                  <a:srgbClr val="44536A"/>
                </a:solidFill>
                <a:latin typeface="Symbol"/>
                <a:cs typeface="Symbol"/>
              </a:rPr>
              <a:t></a:t>
            </a:r>
            <a:r>
              <a:rPr sz="2000" spc="-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44536A"/>
                </a:solidFill>
                <a:latin typeface="Caladea"/>
                <a:cs typeface="Caladea"/>
              </a:rPr>
              <a:t>q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must </a:t>
            </a:r>
            <a:r>
              <a:rPr sz="2000" spc="-15" dirty="0">
                <a:solidFill>
                  <a:srgbClr val="44536A"/>
                </a:solidFill>
                <a:latin typeface="Caladea"/>
                <a:cs typeface="Caladea"/>
              </a:rPr>
              <a:t>be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large </a:t>
            </a:r>
            <a:r>
              <a:rPr sz="2000" spc="-5" dirty="0">
                <a:solidFill>
                  <a:srgbClr val="44536A"/>
                </a:solidFill>
                <a:latin typeface="Caladea"/>
                <a:cs typeface="Caladea"/>
              </a:rPr>
              <a:t>with </a:t>
            </a:r>
            <a:r>
              <a:rPr sz="2000" spc="-15" dirty="0">
                <a:solidFill>
                  <a:srgbClr val="44536A"/>
                </a:solidFill>
                <a:latin typeface="Caladea"/>
                <a:cs typeface="Caladea"/>
              </a:rPr>
              <a:t>respect </a:t>
            </a:r>
            <a:r>
              <a:rPr sz="2000" spc="-20" dirty="0">
                <a:solidFill>
                  <a:srgbClr val="44536A"/>
                </a:solidFill>
                <a:latin typeface="Caladea"/>
                <a:cs typeface="Caladea"/>
              </a:rPr>
              <a:t>to </a:t>
            </a:r>
            <a:r>
              <a:rPr sz="2000" spc="-15" dirty="0">
                <a:solidFill>
                  <a:srgbClr val="44536A"/>
                </a:solidFill>
                <a:latin typeface="Caladea"/>
                <a:cs typeface="Caladea"/>
              </a:rPr>
              <a:t>context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switch,</a:t>
            </a:r>
            <a:r>
              <a:rPr sz="2000" spc="155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otherwise</a:t>
            </a:r>
            <a:endParaRPr sz="2000" dirty="0">
              <a:latin typeface="Caladea"/>
              <a:cs typeface="Caladea"/>
            </a:endParaRPr>
          </a:p>
          <a:p>
            <a:pPr marL="698500">
              <a:lnSpc>
                <a:spcPts val="2270"/>
              </a:lnSpc>
            </a:pPr>
            <a:r>
              <a:rPr sz="2000" spc="-20" dirty="0">
                <a:solidFill>
                  <a:srgbClr val="44536A"/>
                </a:solidFill>
                <a:latin typeface="Caladea"/>
                <a:cs typeface="Caladea"/>
              </a:rPr>
              <a:t>overhead </a:t>
            </a:r>
            <a:r>
              <a:rPr sz="2000" spc="-5" dirty="0">
                <a:solidFill>
                  <a:srgbClr val="44536A"/>
                </a:solidFill>
                <a:latin typeface="Caladea"/>
                <a:cs typeface="Caladea"/>
              </a:rPr>
              <a:t>is </a:t>
            </a:r>
            <a:r>
              <a:rPr sz="2000" spc="-15" dirty="0">
                <a:solidFill>
                  <a:srgbClr val="44536A"/>
                </a:solidFill>
                <a:latin typeface="Caladea"/>
                <a:cs typeface="Caladea"/>
              </a:rPr>
              <a:t>too</a:t>
            </a:r>
            <a:r>
              <a:rPr sz="2000" spc="60" dirty="0">
                <a:solidFill>
                  <a:srgbClr val="44536A"/>
                </a:solidFill>
                <a:latin typeface="Caladea"/>
                <a:cs typeface="Caladea"/>
              </a:rPr>
              <a:t> </a:t>
            </a:r>
            <a:r>
              <a:rPr sz="2000" spc="-10" dirty="0">
                <a:solidFill>
                  <a:srgbClr val="44536A"/>
                </a:solidFill>
                <a:latin typeface="Caladea"/>
                <a:cs typeface="Caladea"/>
              </a:rPr>
              <a:t>high.</a:t>
            </a:r>
            <a:endParaRPr sz="2000" dirty="0">
              <a:latin typeface="Caladea"/>
              <a:cs typeface="Calade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102</a:t>
            </a:fld>
            <a:endParaRPr spc="-5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9050" y="4762"/>
            <a:ext cx="875497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/>
              <a:t>Round Robin</a:t>
            </a:r>
            <a:r>
              <a:rPr sz="4400" spc="-30" dirty="0"/>
              <a:t> </a:t>
            </a:r>
            <a:r>
              <a:rPr sz="4400" spc="-5" dirty="0"/>
              <a:t>Scheduling</a:t>
            </a:r>
            <a:endParaRPr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2364" y="481964"/>
            <a:ext cx="8492236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5" dirty="0"/>
              <a:t>Example </a:t>
            </a:r>
            <a:r>
              <a:rPr sz="3200" spc="-5" dirty="0"/>
              <a:t>of RR </a:t>
            </a:r>
            <a:r>
              <a:rPr sz="3200" spc="-10" dirty="0"/>
              <a:t>with </a:t>
            </a:r>
            <a:r>
              <a:rPr sz="3200" spc="-5" dirty="0"/>
              <a:t>Time </a:t>
            </a:r>
            <a:r>
              <a:rPr sz="3200" spc="-15" dirty="0"/>
              <a:t>Quantum </a:t>
            </a:r>
            <a:r>
              <a:rPr sz="3200" spc="-10" dirty="0"/>
              <a:t>=</a:t>
            </a:r>
            <a:r>
              <a:rPr sz="3200" spc="105" dirty="0"/>
              <a:t> </a:t>
            </a:r>
            <a:r>
              <a:rPr sz="3200" spc="-10" dirty="0"/>
              <a:t>20</a:t>
            </a:r>
            <a:endParaRPr sz="32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103</a:t>
            </a:fld>
            <a:endParaRPr spc="-5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27195" y="1127278"/>
          <a:ext cx="2859404" cy="2180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26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167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9589">
                <a:tc>
                  <a:txBody>
                    <a:bodyPr/>
                    <a:lstStyle/>
                    <a:p>
                      <a:pPr marR="340995" algn="ctr">
                        <a:lnSpc>
                          <a:spcPts val="2295"/>
                        </a:lnSpc>
                      </a:pPr>
                      <a:r>
                        <a:rPr sz="2000" u="heavy" spc="-15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Process</a:t>
                      </a:r>
                      <a:endParaRPr sz="200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8615" algn="ctr">
                        <a:lnSpc>
                          <a:spcPts val="2295"/>
                        </a:lnSpc>
                      </a:pPr>
                      <a:r>
                        <a:rPr sz="2000" u="heavy" spc="-10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Burst</a:t>
                      </a:r>
                      <a:r>
                        <a:rPr sz="2000" u="heavy" spc="-40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 </a:t>
                      </a:r>
                      <a:r>
                        <a:rPr sz="2000" u="heavy" spc="-10" dirty="0">
                          <a:solidFill>
                            <a:srgbClr val="44536A"/>
                          </a:solidFill>
                          <a:uFill>
                            <a:solidFill>
                              <a:srgbClr val="44536A"/>
                            </a:solidFill>
                          </a:uFill>
                          <a:latin typeface="Caladea"/>
                          <a:cs typeface="Caladea"/>
                        </a:rPr>
                        <a:t>Time</a:t>
                      </a:r>
                      <a:endParaRPr sz="2000">
                        <a:latin typeface="Caladea"/>
                        <a:cs typeface="Calade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2277">
                <a:tc>
                  <a:txBody>
                    <a:bodyPr/>
                    <a:lstStyle/>
                    <a:p>
                      <a:pPr marR="33655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i="1" spc="-1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025" i="1" spc="-15" baseline="-20576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1</a:t>
                      </a:r>
                      <a:endParaRPr sz="2025" baseline="-20576">
                        <a:latin typeface="Caladea"/>
                        <a:cs typeface="Caladea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3448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53</a:t>
                      </a:r>
                      <a:endParaRPr sz="2000">
                        <a:latin typeface="Caladea"/>
                        <a:cs typeface="Caladea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1002">
                <a:tc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i="1" spc="-1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025" i="1" spc="-15" baseline="-20576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</a:t>
                      </a:r>
                      <a:endParaRPr sz="2025" baseline="-20576">
                        <a:latin typeface="Caladea"/>
                        <a:cs typeface="Caladea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81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17</a:t>
                      </a:r>
                      <a:endParaRPr sz="2000">
                        <a:latin typeface="Caladea"/>
                        <a:cs typeface="Caladea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2381">
                <a:tc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000" i="1" spc="-1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025" i="1" spc="-15" baseline="-20576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3</a:t>
                      </a:r>
                      <a:endParaRPr sz="2025" baseline="-20576">
                        <a:latin typeface="Caladea"/>
                        <a:cs typeface="Calade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34480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000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68</a:t>
                      </a:r>
                      <a:endParaRPr sz="2000">
                        <a:latin typeface="Caladea"/>
                        <a:cs typeface="Caladea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013">
                <a:tc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000" i="1" spc="-5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P</a:t>
                      </a:r>
                      <a:r>
                        <a:rPr sz="2025" i="1" spc="-7" baseline="-20576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4</a:t>
                      </a:r>
                      <a:endParaRPr sz="2025" baseline="-20576">
                        <a:latin typeface="Caladea"/>
                        <a:cs typeface="Calade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381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000" spc="-10" dirty="0">
                          <a:solidFill>
                            <a:srgbClr val="44536A"/>
                          </a:solidFill>
                          <a:latin typeface="Caladea"/>
                          <a:cs typeface="Caladea"/>
                        </a:rPr>
                        <a:t>24</a:t>
                      </a:r>
                      <a:endParaRPr sz="2000">
                        <a:latin typeface="Caladea"/>
                        <a:cs typeface="Caladea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73552" y="3541776"/>
          <a:ext cx="5638794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2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4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4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441575" y="3108451"/>
            <a:ext cx="6660515" cy="2132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0375" indent="-448309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pc="-5" dirty="0"/>
              <a:t>The </a:t>
            </a:r>
            <a:r>
              <a:rPr spc="-10" dirty="0"/>
              <a:t>Gantt </a:t>
            </a:r>
            <a:r>
              <a:rPr spc="-5" dirty="0"/>
              <a:t>chart</a:t>
            </a:r>
            <a:r>
              <a:rPr spc="5" dirty="0"/>
              <a:t> </a:t>
            </a:r>
            <a:r>
              <a:rPr spc="-5" dirty="0"/>
              <a:t>is:</a:t>
            </a:r>
          </a:p>
          <a:p>
            <a:pPr>
              <a:lnSpc>
                <a:spcPct val="100000"/>
              </a:lnSpc>
              <a:buClr>
                <a:srgbClr val="44536A"/>
              </a:buClr>
              <a:buFont typeface="Arial"/>
              <a:buChar char="•"/>
            </a:pPr>
            <a:endParaRPr sz="2300" dirty="0"/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4536A"/>
              </a:buClr>
              <a:buFont typeface="Arial"/>
              <a:buChar char="•"/>
            </a:pPr>
            <a:endParaRPr sz="2850" dirty="0"/>
          </a:p>
          <a:p>
            <a:pPr marL="775335">
              <a:lnSpc>
                <a:spcPct val="100000"/>
              </a:lnSpc>
              <a:tabLst>
                <a:tab pos="1245235" algn="l"/>
                <a:tab pos="1778635" algn="l"/>
                <a:tab pos="2381885" algn="l"/>
                <a:tab pos="2997835" algn="l"/>
                <a:tab pos="3531235" algn="l"/>
                <a:tab pos="4008120" algn="l"/>
                <a:tab pos="4611370" algn="l"/>
                <a:tab pos="5144770" algn="l"/>
                <a:tab pos="5728970" algn="l"/>
                <a:tab pos="6263005" algn="l"/>
              </a:tabLst>
            </a:pP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0	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3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5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7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9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800" spc="-145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12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13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15</a:t>
            </a:r>
            <a:r>
              <a:rPr sz="1800" spc="-5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	162</a:t>
            </a:r>
            <a:endParaRPr sz="1800" dirty="0">
              <a:latin typeface="Arial"/>
              <a:cs typeface="Arial"/>
            </a:endParaRPr>
          </a:p>
          <a:p>
            <a:pPr marL="460375" indent="-448309">
              <a:lnSpc>
                <a:spcPts val="2280"/>
              </a:lnSpc>
              <a:spcBef>
                <a:spcPts val="1180"/>
              </a:spcBef>
              <a:buFont typeface="Arial"/>
              <a:buChar char="•"/>
              <a:tabLst>
                <a:tab pos="460375" algn="l"/>
                <a:tab pos="461009" algn="l"/>
              </a:tabLst>
            </a:pPr>
            <a:r>
              <a:rPr spc="-30" dirty="0"/>
              <a:t>Typically, </a:t>
            </a:r>
            <a:r>
              <a:rPr spc="-10" dirty="0"/>
              <a:t>higher </a:t>
            </a:r>
            <a:r>
              <a:rPr spc="-25" dirty="0"/>
              <a:t>average </a:t>
            </a:r>
            <a:r>
              <a:rPr spc="-10" dirty="0"/>
              <a:t>turnaround </a:t>
            </a:r>
            <a:r>
              <a:rPr spc="-5" dirty="0"/>
              <a:t>than </a:t>
            </a:r>
            <a:r>
              <a:rPr spc="-65" dirty="0"/>
              <a:t>SJF, </a:t>
            </a:r>
            <a:r>
              <a:rPr spc="-10" dirty="0"/>
              <a:t>but</a:t>
            </a:r>
            <a:r>
              <a:rPr spc="204" dirty="0"/>
              <a:t> </a:t>
            </a:r>
            <a:r>
              <a:rPr spc="-20" dirty="0"/>
              <a:t>better</a:t>
            </a:r>
            <a:r>
              <a:rPr lang="en-GB" spc="-20" dirty="0"/>
              <a:t> </a:t>
            </a:r>
            <a:r>
              <a:rPr i="1" spc="-10" dirty="0">
                <a:latin typeface="Caladea"/>
                <a:cs typeface="Caladea"/>
              </a:rPr>
              <a:t>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7381" y="6419494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Arial"/>
                <a:cs typeface="Arial"/>
              </a:rPr>
              <a:t>74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1578" y="266141"/>
            <a:ext cx="7965821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3863"/>
                </a:solidFill>
              </a:rPr>
              <a:t>Turnaround </a:t>
            </a:r>
            <a:r>
              <a:rPr sz="2400" spc="-5" dirty="0">
                <a:solidFill>
                  <a:srgbClr val="1F3863"/>
                </a:solidFill>
              </a:rPr>
              <a:t>Time </a:t>
            </a:r>
            <a:r>
              <a:rPr sz="2400" spc="-30" dirty="0">
                <a:solidFill>
                  <a:srgbClr val="1F3863"/>
                </a:solidFill>
              </a:rPr>
              <a:t>Varies </a:t>
            </a:r>
            <a:r>
              <a:rPr sz="2400" spc="-5" dirty="0">
                <a:solidFill>
                  <a:srgbClr val="1F3863"/>
                </a:solidFill>
              </a:rPr>
              <a:t>With The Time</a:t>
            </a:r>
            <a:r>
              <a:rPr sz="2400" spc="40" dirty="0">
                <a:solidFill>
                  <a:srgbClr val="1F3863"/>
                </a:solidFill>
              </a:rPr>
              <a:t> </a:t>
            </a:r>
            <a:r>
              <a:rPr sz="2400" spc="-5" dirty="0">
                <a:solidFill>
                  <a:srgbClr val="1F3863"/>
                </a:solidFill>
              </a:rPr>
              <a:t>Quantum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3617976" y="914400"/>
            <a:ext cx="4422775" cy="3350260"/>
            <a:chOff x="3617976" y="914400"/>
            <a:chExt cx="4422775" cy="3350260"/>
          </a:xfrm>
        </p:grpSpPr>
        <p:sp>
          <p:nvSpPr>
            <p:cNvPr id="5" name="object 5"/>
            <p:cNvSpPr/>
            <p:nvPr/>
          </p:nvSpPr>
          <p:spPr>
            <a:xfrm>
              <a:off x="3681308" y="954023"/>
              <a:ext cx="4319691" cy="32705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7976" y="914399"/>
              <a:ext cx="4422775" cy="3350260"/>
            </a:xfrm>
            <a:custGeom>
              <a:avLst/>
              <a:gdLst/>
              <a:ahLst/>
              <a:cxnLst/>
              <a:rect l="l" t="t" r="r" b="b"/>
              <a:pathLst>
                <a:path w="4422775" h="3350260">
                  <a:moveTo>
                    <a:pt x="4396232" y="26670"/>
                  </a:moveTo>
                  <a:lnTo>
                    <a:pt x="26416" y="26670"/>
                  </a:lnTo>
                  <a:lnTo>
                    <a:pt x="26416" y="39370"/>
                  </a:lnTo>
                  <a:lnTo>
                    <a:pt x="26416" y="3309620"/>
                  </a:lnTo>
                  <a:lnTo>
                    <a:pt x="26416" y="3323590"/>
                  </a:lnTo>
                  <a:lnTo>
                    <a:pt x="4396232" y="3323590"/>
                  </a:lnTo>
                  <a:lnTo>
                    <a:pt x="4396232" y="3310128"/>
                  </a:lnTo>
                  <a:lnTo>
                    <a:pt x="4396232" y="3309620"/>
                  </a:lnTo>
                  <a:lnTo>
                    <a:pt x="4396232" y="39624"/>
                  </a:lnTo>
                  <a:lnTo>
                    <a:pt x="4383024" y="39624"/>
                  </a:lnTo>
                  <a:lnTo>
                    <a:pt x="4383024" y="3309620"/>
                  </a:lnTo>
                  <a:lnTo>
                    <a:pt x="39624" y="3309620"/>
                  </a:lnTo>
                  <a:lnTo>
                    <a:pt x="39624" y="39370"/>
                  </a:lnTo>
                  <a:lnTo>
                    <a:pt x="4396232" y="39370"/>
                  </a:lnTo>
                  <a:lnTo>
                    <a:pt x="4396232" y="26670"/>
                  </a:lnTo>
                  <a:close/>
                </a:path>
                <a:path w="4422775" h="3350260">
                  <a:moveTo>
                    <a:pt x="442264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336290"/>
                  </a:lnTo>
                  <a:lnTo>
                    <a:pt x="0" y="3350260"/>
                  </a:lnTo>
                  <a:lnTo>
                    <a:pt x="4422648" y="3350260"/>
                  </a:lnTo>
                  <a:lnTo>
                    <a:pt x="4422648" y="3336556"/>
                  </a:lnTo>
                  <a:lnTo>
                    <a:pt x="4422648" y="3336290"/>
                  </a:lnTo>
                  <a:lnTo>
                    <a:pt x="4422648" y="13208"/>
                  </a:lnTo>
                  <a:lnTo>
                    <a:pt x="4409440" y="13220"/>
                  </a:lnTo>
                  <a:lnTo>
                    <a:pt x="4409440" y="3336290"/>
                  </a:lnTo>
                  <a:lnTo>
                    <a:pt x="13208" y="3336290"/>
                  </a:lnTo>
                  <a:lnTo>
                    <a:pt x="13208" y="12700"/>
                  </a:lnTo>
                  <a:lnTo>
                    <a:pt x="4422648" y="12700"/>
                  </a:lnTo>
                  <a:lnTo>
                    <a:pt x="4422648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60575" y="4255088"/>
            <a:ext cx="7814309" cy="112395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10" dirty="0">
                <a:solidFill>
                  <a:srgbClr val="44536A"/>
                </a:solidFill>
                <a:latin typeface="Arial"/>
                <a:cs typeface="Arial"/>
              </a:rPr>
              <a:t>Average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turnaround time does not necessarily improve as </a:t>
            </a:r>
            <a:r>
              <a:rPr sz="1800" spc="-5" dirty="0">
                <a:solidFill>
                  <a:srgbClr val="44536A"/>
                </a:solidFill>
                <a:latin typeface="Arial"/>
                <a:cs typeface="Arial"/>
              </a:rPr>
              <a:t>size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of q</a:t>
            </a:r>
            <a:r>
              <a:rPr sz="1800" spc="-280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increases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5" dirty="0">
                <a:solidFill>
                  <a:srgbClr val="44536A"/>
                </a:solidFill>
                <a:latin typeface="Arial"/>
                <a:cs typeface="Arial"/>
              </a:rPr>
              <a:t>Generally,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average turnaround time can be improved if </a:t>
            </a:r>
            <a:r>
              <a:rPr sz="1800" spc="5" dirty="0">
                <a:solidFill>
                  <a:srgbClr val="44536A"/>
                </a:solidFill>
                <a:latin typeface="Arial"/>
                <a:cs typeface="Arial"/>
              </a:rPr>
              <a:t>most processes</a:t>
            </a:r>
            <a:r>
              <a:rPr sz="1800" spc="-26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finish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their </a:t>
            </a:r>
            <a:r>
              <a:rPr sz="1800" spc="-5" dirty="0">
                <a:solidFill>
                  <a:srgbClr val="44536A"/>
                </a:solidFill>
                <a:latin typeface="Arial"/>
                <a:cs typeface="Arial"/>
              </a:rPr>
              <a:t>CPU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burst in a single time</a:t>
            </a:r>
            <a:r>
              <a:rPr sz="1800" spc="-17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4536A"/>
                </a:solidFill>
                <a:latin typeface="Arial"/>
                <a:cs typeface="Arial"/>
              </a:rPr>
              <a:t>quantum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6646" y="142852"/>
            <a:ext cx="11715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Solve the following problem using</a:t>
            </a:r>
          </a:p>
          <a:p>
            <a:r>
              <a:rPr lang="en-US" b="1" dirty="0" smtClean="0"/>
              <a:t>1. FCFS, </a:t>
            </a:r>
          </a:p>
          <a:p>
            <a:r>
              <a:rPr lang="en-US" b="1" dirty="0" smtClean="0"/>
              <a:t>2. SJF, </a:t>
            </a:r>
          </a:p>
          <a:p>
            <a:r>
              <a:rPr lang="en-US" b="1" dirty="0" smtClean="0"/>
              <a:t>3. Preemptive Priority,</a:t>
            </a:r>
          </a:p>
          <a:p>
            <a:r>
              <a:rPr lang="en-US" b="1" dirty="0" smtClean="0"/>
              <a:t>4. Round-Robin (quantum = 2)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For each algorithm  draw the </a:t>
            </a:r>
            <a:r>
              <a:rPr lang="en-US" b="1" dirty="0" smtClean="0"/>
              <a:t>Gantt chart &amp; Find Completion / Turnaround / Waiting</a:t>
            </a:r>
            <a:r>
              <a:rPr lang="en-US" dirty="0" smtClean="0"/>
              <a:t> times per process, and the </a:t>
            </a:r>
            <a:r>
              <a:rPr lang="en-US" b="1" dirty="0" smtClean="0"/>
              <a:t>average TAT / average WT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66910" y="2428868"/>
          <a:ext cx="7500990" cy="29289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82133"/>
                <a:gridCol w="1716154"/>
                <a:gridCol w="1638147"/>
                <a:gridCol w="2664556"/>
              </a:tblGrid>
              <a:tr h="4881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Burst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Priority (1 = highest)</a:t>
                      </a:r>
                    </a:p>
                  </a:txBody>
                  <a:tcPr anchor="ctr"/>
                </a:tc>
              </a:tr>
              <a:tr h="4881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</a:tr>
              <a:tr h="4881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</a:tr>
              <a:tr h="4881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</a:tr>
              <a:tr h="4881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</a:tr>
              <a:tr h="4881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9598" y="6277762"/>
            <a:ext cx="20256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84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9001" y="2488768"/>
            <a:ext cx="3670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" dirty="0">
                <a:solidFill>
                  <a:srgbClr val="001F5F"/>
                </a:solidFill>
                <a:latin typeface="Tahoma"/>
                <a:cs typeface="Tahoma"/>
              </a:rPr>
              <a:t>Thank</a:t>
            </a:r>
            <a:r>
              <a:rPr sz="5400" b="1" spc="-7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5400" b="1" spc="-5" dirty="0">
                <a:solidFill>
                  <a:srgbClr val="001F5F"/>
                </a:solidFill>
                <a:latin typeface="Tahoma"/>
                <a:cs typeface="Tahoma"/>
              </a:rPr>
              <a:t>You</a:t>
            </a:r>
            <a:endParaRPr sz="5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34286</TotalTime>
  <Words>7618</Words>
  <Application>Microsoft Office PowerPoint</Application>
  <PresentationFormat>Custom</PresentationFormat>
  <Paragraphs>934</Paragraphs>
  <Slides>106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08" baseType="lpstr">
      <vt:lpstr>Office Theme</vt:lpstr>
      <vt:lpstr>1_Office Theme</vt:lpstr>
      <vt:lpstr>Module-2</vt:lpstr>
      <vt:lpstr>Module 2 Process Management</vt:lpstr>
      <vt:lpstr>Contents :</vt:lpstr>
      <vt:lpstr>Lecture 11</vt:lpstr>
      <vt:lpstr>1. Process Concepts</vt:lpstr>
      <vt:lpstr>Process Concepts</vt:lpstr>
      <vt:lpstr>Process Concepts----Program vs Process:</vt:lpstr>
      <vt:lpstr>Slide 8</vt:lpstr>
      <vt:lpstr>Process Control Block (PCB)</vt:lpstr>
      <vt:lpstr>Process State Diagram:</vt:lpstr>
      <vt:lpstr>Process States:</vt:lpstr>
      <vt:lpstr>Context Switch</vt:lpstr>
      <vt:lpstr>What happens when the CPU Switch From a process to another process?</vt:lpstr>
      <vt:lpstr>Quiz</vt:lpstr>
      <vt:lpstr>Quiz</vt:lpstr>
      <vt:lpstr>Lecture 12</vt:lpstr>
      <vt:lpstr>Slide 17</vt:lpstr>
      <vt:lpstr>Slide 18</vt:lpstr>
      <vt:lpstr>Process Creation</vt:lpstr>
      <vt:lpstr>Creating a separate process using the UNIX fork() system call</vt:lpstr>
      <vt:lpstr>Process Termination</vt:lpstr>
      <vt:lpstr>Lecture 13</vt:lpstr>
      <vt:lpstr>3. Inter-Process Communication(IPC)</vt:lpstr>
      <vt:lpstr>Inter-Process Communication(IPC)</vt:lpstr>
      <vt:lpstr>Communication Models</vt:lpstr>
      <vt:lpstr>Shared Memory Systems</vt:lpstr>
      <vt:lpstr>Message Passing Systems</vt:lpstr>
      <vt:lpstr>Message Passing Systems</vt:lpstr>
      <vt:lpstr>Message Passing Systems</vt:lpstr>
      <vt:lpstr>4. Communication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Pipes</vt:lpstr>
      <vt:lpstr>Ordinary Pipes</vt:lpstr>
      <vt:lpstr>Named Pipes</vt:lpstr>
      <vt:lpstr>5. Threads</vt:lpstr>
      <vt:lpstr>Single and Multithreaded Processes</vt:lpstr>
      <vt:lpstr>Four Primary Benefits of Threading</vt:lpstr>
      <vt:lpstr>Four Primary Benefits of Threading</vt:lpstr>
      <vt:lpstr>6. Multithreading Models</vt:lpstr>
      <vt:lpstr>Many-to-One Model</vt:lpstr>
      <vt:lpstr>Many-to-One</vt:lpstr>
      <vt:lpstr>One-to-one Model</vt:lpstr>
      <vt:lpstr>One-to-One</vt:lpstr>
      <vt:lpstr>Many-to-Many Model</vt:lpstr>
      <vt:lpstr>Many-to-Many Model</vt:lpstr>
      <vt:lpstr>6. Thread Libraries</vt:lpstr>
      <vt:lpstr>Pthreads</vt:lpstr>
      <vt:lpstr>Pthreads Example</vt:lpstr>
      <vt:lpstr>Pthreads Example (Cont.)</vt:lpstr>
      <vt:lpstr>Pthreads Code for Joining 10 Threads</vt:lpstr>
      <vt:lpstr>Windows  Multithreaded C Program</vt:lpstr>
      <vt:lpstr>Windows  Multithreaded C Program (Cont.)</vt:lpstr>
      <vt:lpstr>Java Threads</vt:lpstr>
      <vt:lpstr>Java Threads</vt:lpstr>
      <vt:lpstr>Java Executor Framework</vt:lpstr>
      <vt:lpstr>Java Executor Framework</vt:lpstr>
      <vt:lpstr>Java Executor Framework (Cont.)</vt:lpstr>
      <vt:lpstr>8. Threading Issues- 1) fork() &amp; exec()</vt:lpstr>
      <vt:lpstr>Threading Issues</vt:lpstr>
      <vt:lpstr>Semantics of fork() and exec()</vt:lpstr>
      <vt:lpstr>Threading Issues- 2)Thread Cancellation</vt:lpstr>
      <vt:lpstr>Threading Issues- 3) Signal Handling</vt:lpstr>
      <vt:lpstr>Threading Issues- 4) Thread Pools</vt:lpstr>
      <vt:lpstr>Threading Issues- 5) Thread-specific Data</vt:lpstr>
      <vt:lpstr>Threading Issues- 6) Scheduler activations</vt:lpstr>
      <vt:lpstr>9. Basic Concepts of CPU Scheduling</vt:lpstr>
      <vt:lpstr>Basic Concepts</vt:lpstr>
      <vt:lpstr>CPU/IO Burst Cycle</vt:lpstr>
      <vt:lpstr>CPU Scheduler</vt:lpstr>
      <vt:lpstr>CPU Scheduler</vt:lpstr>
      <vt:lpstr>Dispatcher</vt:lpstr>
      <vt:lpstr>10. Scheduling Criteria</vt:lpstr>
      <vt:lpstr>Scheduling Criteria (2)</vt:lpstr>
      <vt:lpstr>Optimization Criteria</vt:lpstr>
      <vt:lpstr>11. Scheduling Algorithms</vt:lpstr>
      <vt:lpstr>First-Come, First-Served Scheduling (FCFS) </vt:lpstr>
      <vt:lpstr>First-Come, First-Served Scheduling(FCFS)</vt:lpstr>
      <vt:lpstr>FCFS Scheduling (Cont.)</vt:lpstr>
      <vt:lpstr>FCFS contd.</vt:lpstr>
      <vt:lpstr>Slide 86</vt:lpstr>
      <vt:lpstr>Scheduling Algorithms: SJF and  SRTF</vt:lpstr>
      <vt:lpstr>Shortest-Job-First (SJF)</vt:lpstr>
      <vt:lpstr>SJF</vt:lpstr>
      <vt:lpstr>SJF (Shortest Job First) Scheduling</vt:lpstr>
      <vt:lpstr>Example of Non-Preemptive SJF</vt:lpstr>
      <vt:lpstr>Example of Preemptive SJF</vt:lpstr>
      <vt:lpstr>SRTF</vt:lpstr>
      <vt:lpstr>Scheduling Algorithms: Priority Scheduling</vt:lpstr>
      <vt:lpstr>Priority Scheduling</vt:lpstr>
      <vt:lpstr>Priority Scheduling</vt:lpstr>
      <vt:lpstr>Priority Scheduling (Non Preemptive method)</vt:lpstr>
      <vt:lpstr>Priority Scheduling  (Preemptive method)</vt:lpstr>
      <vt:lpstr>Scheduling Algorithms: Round Robin (RR)</vt:lpstr>
      <vt:lpstr>Round Robin</vt:lpstr>
      <vt:lpstr>Round Robin Scheduling</vt:lpstr>
      <vt:lpstr>Round Robin Scheduling</vt:lpstr>
      <vt:lpstr>Example of RR with Time Quantum = 20</vt:lpstr>
      <vt:lpstr>Turnaround Time Varies With The Time Quantum</vt:lpstr>
      <vt:lpstr>Slide 105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</dc:title>
  <dc:creator>Windows User</dc:creator>
  <cp:lastModifiedBy>Acer</cp:lastModifiedBy>
  <cp:revision>238</cp:revision>
  <dcterms:created xsi:type="dcterms:W3CDTF">2021-08-18T06:33:19Z</dcterms:created>
  <dcterms:modified xsi:type="dcterms:W3CDTF">2026-02-18T03:08:44Z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2021-08-18T00:00:00Z</vt:filetime>
  </property>
</Properties>
</file>