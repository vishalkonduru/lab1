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56"/>
  </p:notesMasterIdLst>
  <p:handoutMasterIdLst>
    <p:handoutMasterId r:id="rId57"/>
  </p:handoutMasterIdLst>
  <p:sldIdLst>
    <p:sldId id="256" r:id="rId5"/>
    <p:sldId id="426" r:id="rId6"/>
    <p:sldId id="465" r:id="rId7"/>
    <p:sldId id="427" r:id="rId8"/>
    <p:sldId id="433" r:id="rId9"/>
    <p:sldId id="428" r:id="rId10"/>
    <p:sldId id="429" r:id="rId11"/>
    <p:sldId id="431" r:id="rId12"/>
    <p:sldId id="441" r:id="rId13"/>
    <p:sldId id="442" r:id="rId14"/>
    <p:sldId id="446" r:id="rId15"/>
    <p:sldId id="447" r:id="rId16"/>
    <p:sldId id="444" r:id="rId17"/>
    <p:sldId id="445" r:id="rId18"/>
    <p:sldId id="448" r:id="rId19"/>
    <p:sldId id="456" r:id="rId20"/>
    <p:sldId id="451" r:id="rId21"/>
    <p:sldId id="453" r:id="rId22"/>
    <p:sldId id="454" r:id="rId23"/>
    <p:sldId id="455" r:id="rId24"/>
    <p:sldId id="457" r:id="rId25"/>
    <p:sldId id="458" r:id="rId26"/>
    <p:sldId id="459" r:id="rId27"/>
    <p:sldId id="460" r:id="rId28"/>
    <p:sldId id="461" r:id="rId29"/>
    <p:sldId id="466" r:id="rId30"/>
    <p:sldId id="467" r:id="rId31"/>
    <p:sldId id="469" r:id="rId32"/>
    <p:sldId id="470" r:id="rId33"/>
    <p:sldId id="472" r:id="rId34"/>
    <p:sldId id="474" r:id="rId35"/>
    <p:sldId id="483" r:id="rId36"/>
    <p:sldId id="481" r:id="rId37"/>
    <p:sldId id="480" r:id="rId38"/>
    <p:sldId id="479" r:id="rId39"/>
    <p:sldId id="478" r:id="rId40"/>
    <p:sldId id="485" r:id="rId41"/>
    <p:sldId id="491" r:id="rId42"/>
    <p:sldId id="490" r:id="rId43"/>
    <p:sldId id="489" r:id="rId44"/>
    <p:sldId id="488" r:id="rId45"/>
    <p:sldId id="487" r:id="rId46"/>
    <p:sldId id="486" r:id="rId47"/>
    <p:sldId id="484" r:id="rId48"/>
    <p:sldId id="477" r:id="rId49"/>
    <p:sldId id="476" r:id="rId50"/>
    <p:sldId id="462" r:id="rId51"/>
    <p:sldId id="496" r:id="rId52"/>
    <p:sldId id="495" r:id="rId53"/>
    <p:sldId id="493" r:id="rId54"/>
    <p:sldId id="300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C5A33-9226-4376-B906-4B0C7752F3F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4AADF8-674F-4E37-AEDC-92DD750D117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B81AED-7B70-496A-A12E-823AEFD5C0BB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27E8D6D-3A91-4BD0-9248-7F8660A8F09B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BBFFE7-CAC9-497A-AAF7-C2922785C649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E3908D-C920-449F-B38A-64963E2B48E8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FBD9F8-5A17-427A-BB04-9A98943668E8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2DEC6A-E0EE-4392-B80F-E55C5E1190FC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A688D0-D902-44CB-BD46-3F634243F429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5CB118-406F-4C5F-971C-D01C2075A44F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91AAB5-29E3-454A-8B27-82FAF9AA8D2C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1075A-DF51-44C7-B71F-F968B902E6D0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CSE-367 Data Visualization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brainkart.com/subject/Web-Technology_169/" TargetMode="Externa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CSE2067 - Web Technology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/>
              <a:t>Module II - Syllabus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244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910"/>
              </a:spcBef>
              <a:spcAft>
                <a:spcPts val="700"/>
              </a:spcAft>
              <a:buNone/>
            </a:pPr>
            <a:endParaRPr lang="en-US" sz="1200" b="1" dirty="0">
              <a:solidFill>
                <a:srgbClr val="00B050"/>
              </a:solidFill>
              <a:latin typeface="+mj-lt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Advanced CSS  </a:t>
            </a:r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                        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+mj-lt"/>
              </a:rPr>
              <a:t>[L-10hrs.,P-10hrs.]</a:t>
            </a:r>
            <a:r>
              <a:rPr lang="en-US" dirty="0"/>
              <a:t>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400" dirty="0">
              <a:latin typeface="+mj-lt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CSS: </a:t>
            </a:r>
            <a:r>
              <a:rPr lang="en-US" sz="2400" dirty="0">
                <a:latin typeface="+mj-lt"/>
              </a:rPr>
              <a:t>Introduction to CSS, Defining &amp; Applying a style, Creating style sheets, types of style sheet, selectors, CSS font properties, border properties, Box model, opacity, CSS pseudo class and pseudo-elements </a:t>
            </a:r>
            <a:endParaRPr lang="en-IN" sz="2400" dirty="0">
              <a:latin typeface="+mj-lt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b="1" dirty="0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629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What is CSS?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457200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rgbClr val="00B050"/>
                </a:solidFill>
              </a:rPr>
              <a:t>Introduction to CSS</a:t>
            </a:r>
          </a:p>
          <a:p>
            <a:pPr marL="0" indent="0" algn="just">
              <a:buNone/>
            </a:pPr>
            <a:r>
              <a:rPr lang="en-IN" sz="2000" b="1" dirty="0"/>
              <a:t>CSS (Cascading Style Sheets)</a:t>
            </a:r>
            <a:r>
              <a:rPr lang="en-IN" sz="2000" dirty="0"/>
              <a:t> is a style sheet language used to describe the </a:t>
            </a:r>
            <a:r>
              <a:rPr lang="en-IN" sz="2000" b="1" dirty="0"/>
              <a:t>presentation and appearance</a:t>
            </a:r>
            <a:r>
              <a:rPr lang="en-IN" sz="2000" dirty="0"/>
              <a:t> of documents written in HTML or XHTML.</a:t>
            </a:r>
          </a:p>
          <a:p>
            <a:pPr marL="0" indent="0" algn="just">
              <a:buNone/>
            </a:pPr>
            <a:r>
              <a:rPr lang="en-IN" sz="2000" dirty="0"/>
              <a:t>CSS controls </a:t>
            </a:r>
            <a:r>
              <a:rPr lang="en-IN" sz="2000" b="1" dirty="0"/>
              <a:t>how web pages look</a:t>
            </a:r>
            <a:r>
              <a:rPr lang="en-IN" sz="2000" dirty="0"/>
              <a:t>, while HTML controls </a:t>
            </a:r>
            <a:r>
              <a:rPr lang="en-IN" sz="2000" b="1" dirty="0"/>
              <a:t>what information is displayed</a:t>
            </a:r>
            <a:r>
              <a:rPr lang="en-IN" sz="2000" dirty="0"/>
              <a:t>.</a:t>
            </a:r>
          </a:p>
          <a:p>
            <a:pPr marL="0" indent="0" algn="just">
              <a:buNone/>
            </a:pPr>
            <a:r>
              <a:rPr lang="en-IN" sz="2000" dirty="0"/>
              <a:t>CSS allows developers to separate the </a:t>
            </a:r>
            <a:r>
              <a:rPr lang="en-IN" sz="2000" b="1" dirty="0"/>
              <a:t>content</a:t>
            </a:r>
            <a:r>
              <a:rPr lang="en-IN" sz="2000" dirty="0"/>
              <a:t> of a webpage from its </a:t>
            </a:r>
            <a:r>
              <a:rPr lang="en-IN" sz="2000" b="1" dirty="0"/>
              <a:t>design</a:t>
            </a:r>
            <a:r>
              <a:rPr lang="en-IN" sz="2000" dirty="0"/>
              <a:t>, making websites easier to maintain and more visually appealing.</a:t>
            </a:r>
          </a:p>
          <a:p>
            <a:pPr marL="0" indent="0" algn="just">
              <a:buNone/>
            </a:pPr>
            <a:endParaRPr lang="en-IN" sz="2000" dirty="0"/>
          </a:p>
          <a:p>
            <a:r>
              <a:rPr lang="en-IN" sz="2400" b="1" dirty="0">
                <a:solidFill>
                  <a:srgbClr val="00B050"/>
                </a:solidFill>
              </a:rPr>
              <a:t>Definition</a:t>
            </a:r>
          </a:p>
          <a:p>
            <a:pPr marL="0" indent="0" algn="just">
              <a:buNone/>
            </a:pPr>
            <a:r>
              <a:rPr lang="en-IN" sz="2000" dirty="0"/>
              <a:t>CSS is a language that controls the layout, </a:t>
            </a:r>
            <a:r>
              <a:rPr lang="en-IN" sz="2000" dirty="0" err="1"/>
              <a:t>colors</a:t>
            </a:r>
            <a:r>
              <a:rPr lang="en-IN" sz="2000" dirty="0"/>
              <a:t>, fonts, spacing, and overall visual appearance of web pages.</a:t>
            </a:r>
          </a:p>
          <a:p>
            <a:endParaRPr lang="en-IN" sz="2400" dirty="0"/>
          </a:p>
          <a:p>
            <a:pPr marL="0" indent="0" algn="just">
              <a:lnSpc>
                <a:spcPct val="119000"/>
              </a:lnSpc>
              <a:buNone/>
            </a:pPr>
            <a:endParaRPr lang="en-IN" sz="2400" dirty="0">
              <a:solidFill>
                <a:srgbClr val="FF0000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9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What is CSS?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0569D4-9327-C958-457D-D6DFEEE26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970370"/>
              </p:ext>
            </p:extLst>
          </p:nvPr>
        </p:nvGraphicFramePr>
        <p:xfrm>
          <a:off x="838200" y="2419981"/>
          <a:ext cx="7086600" cy="2377440"/>
        </p:xfrm>
        <a:graphic>
          <a:graphicData uri="http://schemas.openxmlformats.org/drawingml/2006/table">
            <a:tbl>
              <a:tblPr/>
              <a:tblGrid>
                <a:gridCol w="3546840">
                  <a:extLst>
                    <a:ext uri="{9D8B030D-6E8A-4147-A177-3AD203B41FA5}">
                      <a16:colId xmlns:a16="http://schemas.microsoft.com/office/drawing/2014/main" val="2732695285"/>
                    </a:ext>
                  </a:extLst>
                </a:gridCol>
                <a:gridCol w="3539760">
                  <a:extLst>
                    <a:ext uri="{9D8B030D-6E8A-4147-A177-3AD203B41FA5}">
                      <a16:colId xmlns:a16="http://schemas.microsoft.com/office/drawing/2014/main" val="1821886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Bookman Old Style" panose="02050604050505020204" pitchFamily="18" charset="0"/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Bookman Old Style" panose="02050604050505020204" pitchFamily="18" charset="0"/>
                        </a:rPr>
                        <a:t>Represents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023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Bricks and Walls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HTML (Structure)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668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Paint, Furniture, Decoration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CSS (Presentation)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677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Electricity &amp; Water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JavaScript (Functionality)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7286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C3646D-BF63-85ED-ADC7-E9F789D193F1}"/>
              </a:ext>
            </a:extLst>
          </p:cNvPr>
          <p:cNvSpPr txBox="1"/>
          <p:nvPr/>
        </p:nvSpPr>
        <p:spPr>
          <a:xfrm>
            <a:off x="457200" y="1331290"/>
            <a:ext cx="838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Bookman Old Style" panose="02050604050505020204" pitchFamily="18" charset="0"/>
              </a:rPr>
              <a:t>Real-world Analogy</a:t>
            </a:r>
          </a:p>
          <a:p>
            <a:pPr>
              <a:buNone/>
            </a:pPr>
            <a:r>
              <a:rPr lang="en-IN" sz="2200" dirty="0">
                <a:latin typeface="Bookman Old Style" panose="02050604050505020204" pitchFamily="18" charset="0"/>
              </a:rPr>
              <a:t>Imagine building a house.</a:t>
            </a:r>
          </a:p>
        </p:txBody>
      </p:sp>
    </p:spTree>
    <p:extLst>
      <p:ext uri="{BB962C8B-B14F-4D97-AF65-F5344CB8AC3E}">
        <p14:creationId xmlns:p14="http://schemas.microsoft.com/office/powerpoint/2010/main" val="199184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Why Do We Need CSS?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62782"/>
            <a:ext cx="8610600" cy="3422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Need for CSS</a:t>
            </a:r>
          </a:p>
          <a:p>
            <a:pPr marL="0" indent="0" algn="just">
              <a:buNone/>
            </a:pPr>
            <a:r>
              <a:rPr lang="en-IN" sz="2000" dirty="0"/>
              <a:t>Before CSS, all formatting was written inside HTML tags, making webpages difficult to manage.</a:t>
            </a:r>
          </a:p>
          <a:p>
            <a:pPr marL="0" indent="0" algn="just">
              <a:buNone/>
            </a:pPr>
            <a:r>
              <a:rPr lang="en-IN" sz="2000" dirty="0"/>
              <a:t>CSS solves these problems by separating </a:t>
            </a:r>
            <a:r>
              <a:rPr lang="en-IN" sz="2000" b="1" dirty="0"/>
              <a:t>content</a:t>
            </a:r>
            <a:r>
              <a:rPr lang="en-IN" sz="2000" dirty="0"/>
              <a:t> from </a:t>
            </a:r>
            <a:r>
              <a:rPr lang="en-IN" sz="2000" b="1" dirty="0"/>
              <a:t>presentation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Comparison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US" sz="1600" b="1" i="1" dirty="0">
                <a:solidFill>
                  <a:srgbClr val="00B050"/>
                </a:solidFill>
                <a:ea typeface="+mj-ea"/>
                <a:cs typeface="+mj-cs"/>
              </a:rPr>
              <a:t> </a:t>
            </a:r>
            <a:endParaRPr lang="en-IN" sz="1600" b="1" i="1" dirty="0">
              <a:solidFill>
                <a:srgbClr val="00B050"/>
              </a:solidFill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368FAA-2D1D-E0B7-3180-CCE05A7CE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634778"/>
              </p:ext>
            </p:extLst>
          </p:nvPr>
        </p:nvGraphicFramePr>
        <p:xfrm>
          <a:off x="1215660" y="3614018"/>
          <a:ext cx="6248400" cy="1981200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3605541099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955454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Without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With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538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Plain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Professional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948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Repeated formatting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Reusable styles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60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Difficult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Easy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686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Large HTML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Clean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2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41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How CSS Works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162A-2F46-1C9B-EFB9-C084FD5D1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Working of CSS</a:t>
            </a:r>
          </a:p>
          <a:p>
            <a:pPr marL="0" indent="0" algn="just">
              <a:buNone/>
            </a:pPr>
            <a:r>
              <a:rPr lang="en-IN" sz="2000" dirty="0"/>
              <a:t>CSS works together with HTML to create visually appealing webpages.</a:t>
            </a:r>
          </a:p>
          <a:p>
            <a:pPr marL="0" indent="0" algn="ctr">
              <a:buNone/>
            </a:pPr>
            <a:r>
              <a:rPr lang="en-IN" sz="1600" dirty="0"/>
              <a:t>HTML Document</a:t>
            </a:r>
          </a:p>
          <a:p>
            <a:pPr marL="0" indent="0" algn="ctr">
              <a:buNone/>
            </a:pPr>
            <a:r>
              <a:rPr lang="en-IN" sz="1600" dirty="0"/>
              <a:t>    │</a:t>
            </a:r>
          </a:p>
          <a:p>
            <a:pPr marL="0" indent="0" algn="ctr">
              <a:buNone/>
            </a:pPr>
            <a:r>
              <a:rPr lang="en-IN" sz="1600" dirty="0"/>
              <a:t>     ▼</a:t>
            </a:r>
          </a:p>
          <a:p>
            <a:pPr marL="0" indent="0" algn="ctr">
              <a:buNone/>
            </a:pPr>
            <a:r>
              <a:rPr lang="en-IN" sz="1600" dirty="0"/>
              <a:t>Browser Reads HTML</a:t>
            </a:r>
          </a:p>
          <a:p>
            <a:pPr marL="0" indent="0" algn="ctr">
              <a:buNone/>
            </a:pPr>
            <a:r>
              <a:rPr lang="en-IN" sz="1600" dirty="0"/>
              <a:t>      │</a:t>
            </a:r>
          </a:p>
          <a:p>
            <a:pPr marL="0" indent="0" algn="ctr">
              <a:buNone/>
            </a:pPr>
            <a:r>
              <a:rPr lang="en-IN" sz="1600" dirty="0"/>
              <a:t>      ▼</a:t>
            </a:r>
          </a:p>
          <a:p>
            <a:pPr marL="0" indent="0" algn="ctr">
              <a:buNone/>
            </a:pPr>
            <a:r>
              <a:rPr lang="en-IN" sz="1600" dirty="0"/>
              <a:t>Browser Loads CSS</a:t>
            </a:r>
          </a:p>
          <a:p>
            <a:pPr marL="0" indent="0" algn="ctr">
              <a:buNone/>
            </a:pPr>
            <a:r>
              <a:rPr lang="en-IN" sz="1600" dirty="0"/>
              <a:t>      │</a:t>
            </a:r>
          </a:p>
          <a:p>
            <a:pPr marL="0" indent="0" algn="ctr">
              <a:buNone/>
            </a:pPr>
            <a:r>
              <a:rPr lang="en-IN" sz="1600" dirty="0"/>
              <a:t>      ▼</a:t>
            </a:r>
          </a:p>
          <a:p>
            <a:pPr marL="0" indent="0" algn="ctr">
              <a:buNone/>
            </a:pPr>
            <a:r>
              <a:rPr lang="en-IN" sz="1600" dirty="0"/>
              <a:t>CSS Styles HTML Elements</a:t>
            </a:r>
          </a:p>
          <a:p>
            <a:pPr marL="0" indent="0" algn="ctr">
              <a:buNone/>
            </a:pPr>
            <a:r>
              <a:rPr lang="en-IN" sz="1600" dirty="0"/>
              <a:t>       │</a:t>
            </a:r>
          </a:p>
          <a:p>
            <a:pPr marL="0" indent="0" algn="ctr">
              <a:buNone/>
            </a:pPr>
            <a:r>
              <a:rPr lang="en-IN" sz="1600" dirty="0"/>
              <a:t>       ▼</a:t>
            </a:r>
          </a:p>
          <a:p>
            <a:pPr marL="0" indent="0" algn="ctr">
              <a:buNone/>
            </a:pPr>
            <a:r>
              <a:rPr lang="en-IN" sz="1600" dirty="0"/>
              <a:t>Beautiful Web Page Displayed</a:t>
            </a:r>
          </a:p>
        </p:txBody>
      </p:sp>
    </p:spTree>
    <p:extLst>
      <p:ext uri="{BB962C8B-B14F-4D97-AF65-F5344CB8AC3E}">
        <p14:creationId xmlns:p14="http://schemas.microsoft.com/office/powerpoint/2010/main" val="320777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How CSS Works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62782"/>
            <a:ext cx="8610600" cy="4757018"/>
          </a:xfrm>
        </p:spPr>
        <p:txBody>
          <a:bodyPr>
            <a:noAutofit/>
          </a:bodyPr>
          <a:lstStyle/>
          <a:p>
            <a:pPr marL="627063" indent="0">
              <a:buNone/>
            </a:pPr>
            <a:r>
              <a:rPr lang="en-IN" sz="2000" b="1" dirty="0"/>
              <a:t>Example</a:t>
            </a:r>
          </a:p>
          <a:p>
            <a:pPr marL="627063" indent="0" algn="just">
              <a:buNone/>
            </a:pPr>
            <a:r>
              <a:rPr lang="en-IN" sz="2000" b="1" dirty="0"/>
              <a:t>HTML</a:t>
            </a:r>
          </a:p>
          <a:p>
            <a:pPr marL="627063" indent="0" algn="just">
              <a:buNone/>
            </a:pPr>
            <a:r>
              <a:rPr lang="en-IN" sz="20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&lt;h1&gt;Welcome&lt;/h1&gt;</a:t>
            </a:r>
          </a:p>
          <a:p>
            <a:pPr marL="627063" indent="0" algn="just">
              <a:buNone/>
            </a:pPr>
            <a:r>
              <a:rPr lang="en-IN" sz="2000" b="1" dirty="0"/>
              <a:t>CSS</a:t>
            </a:r>
          </a:p>
          <a:p>
            <a:pPr marL="627063" indent="0" algn="just">
              <a:buNone/>
            </a:pPr>
            <a:r>
              <a:rPr lang="en-US" sz="20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h1{</a:t>
            </a:r>
          </a:p>
          <a:p>
            <a:pPr marL="627063" indent="0" algn="just">
              <a:buNone/>
            </a:pPr>
            <a:r>
              <a:rPr lang="en-US" sz="20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sz="2000" dirty="0" err="1">
                <a:solidFill>
                  <a:srgbClr val="00B05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0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627063" indent="0" algn="just">
              <a:buNone/>
            </a:pPr>
            <a:r>
              <a:rPr lang="en-US" sz="20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    font-size:40px;</a:t>
            </a:r>
          </a:p>
          <a:p>
            <a:pPr marL="627063" indent="0" algn="just">
              <a:buNone/>
            </a:pPr>
            <a:r>
              <a:rPr lang="en-US" sz="20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>
              <a:buNone/>
            </a:pPr>
            <a:r>
              <a:rPr lang="en-IN" sz="2000" b="1" dirty="0"/>
              <a:t>Browser Output</a:t>
            </a:r>
          </a:p>
          <a:p>
            <a:pPr marL="0" indent="0">
              <a:buNone/>
            </a:pPr>
            <a:r>
              <a:rPr lang="en-IN" sz="2000" b="1" dirty="0"/>
              <a:t>Welcome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(Large Blue Heading)</a:t>
            </a:r>
          </a:p>
          <a:p>
            <a:pPr marL="627063" indent="0" algn="just">
              <a:buNone/>
            </a:pPr>
            <a:endParaRPr lang="en-IN" sz="2000" dirty="0">
              <a:solidFill>
                <a:srgbClr val="00B05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`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ED12D-3548-691A-9F21-20614F9E33E9}"/>
              </a:ext>
            </a:extLst>
          </p:cNvPr>
          <p:cNvSpPr txBox="1"/>
          <p:nvPr/>
        </p:nvSpPr>
        <p:spPr>
          <a:xfrm>
            <a:off x="3581400" y="4191000"/>
            <a:ext cx="53304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Key Point</a:t>
            </a:r>
          </a:p>
          <a:p>
            <a:pPr>
              <a:buNone/>
            </a:pPr>
            <a:r>
              <a:rPr lang="en-IN" sz="2000" dirty="0">
                <a:latin typeface="Bookman Old Style" panose="02050604050505020204" pitchFamily="18" charset="0"/>
              </a:rPr>
              <a:t>HTML tells the browser </a:t>
            </a:r>
            <a:r>
              <a:rPr lang="en-IN" sz="2000" b="1" dirty="0">
                <a:latin typeface="Bookman Old Style" panose="02050604050505020204" pitchFamily="18" charset="0"/>
              </a:rPr>
              <a:t>what to display</a:t>
            </a:r>
            <a:r>
              <a:rPr lang="en-IN" sz="2000" dirty="0">
                <a:latin typeface="Bookman Old Style" panose="02050604050505020204" pitchFamily="18" charset="0"/>
              </a:rPr>
              <a:t>.</a:t>
            </a:r>
          </a:p>
          <a:p>
            <a:pPr>
              <a:buNone/>
            </a:pPr>
            <a:r>
              <a:rPr lang="en-IN" sz="2000" dirty="0">
                <a:latin typeface="Bookman Old Style" panose="02050604050505020204" pitchFamily="18" charset="0"/>
              </a:rPr>
              <a:t>CSS tells the browser </a:t>
            </a:r>
            <a:r>
              <a:rPr lang="en-IN" sz="2000" b="1" dirty="0">
                <a:latin typeface="Bookman Old Style" panose="02050604050505020204" pitchFamily="18" charset="0"/>
              </a:rPr>
              <a:t>how to display it</a:t>
            </a:r>
            <a:r>
              <a:rPr lang="en-IN" sz="20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549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474" y="-32479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Syntax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474" y="1295400"/>
            <a:ext cx="8610600" cy="3422176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</a:rPr>
              <a:t>CSS Syntax</a:t>
            </a:r>
          </a:p>
          <a:p>
            <a:r>
              <a:rPr lang="en-IN" sz="2400" dirty="0"/>
              <a:t>Every CSS rule consists of a </a:t>
            </a:r>
            <a:r>
              <a:rPr lang="en-IN" sz="2400" b="1" dirty="0"/>
              <a:t>selector</a:t>
            </a:r>
            <a:r>
              <a:rPr lang="en-IN" sz="2400" dirty="0"/>
              <a:t> and a </a:t>
            </a:r>
            <a:r>
              <a:rPr lang="en-IN" sz="2400" b="1" dirty="0"/>
              <a:t>declaration block</a:t>
            </a:r>
            <a:r>
              <a:rPr lang="en-IN" sz="2400" dirty="0"/>
              <a:t>.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General Syntax    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selector{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property:value</a:t>
            </a: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endParaRPr lang="en-US" sz="18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2060"/>
                </a:solidFill>
              </a:rPr>
              <a:t> </a:t>
            </a:r>
            <a:r>
              <a:rPr lang="en-IN" sz="20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h1{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2060"/>
                </a:solidFill>
              </a:rPr>
              <a:t>color:blue</a:t>
            </a:r>
            <a:r>
              <a:rPr lang="en-US" sz="20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font-size:36px;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2060"/>
                </a:solidFill>
              </a:rPr>
              <a:t>text-align:center</a:t>
            </a:r>
            <a:r>
              <a:rPr lang="en-US" sz="20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}</a:t>
            </a:r>
            <a:r>
              <a:rPr lang="en-IN" sz="2000" b="1" dirty="0"/>
              <a:t> </a:t>
            </a:r>
          </a:p>
          <a:p>
            <a:pPr marL="0" indent="0" algn="just">
              <a:buNone/>
            </a:pPr>
            <a:endParaRPr lang="en-US" sz="18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endParaRPr lang="en-US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8676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First CSS Program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08" y="1143000"/>
            <a:ext cx="8470692" cy="4572000"/>
          </a:xfrm>
        </p:spPr>
        <p:txBody>
          <a:bodyPr numCol="2"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HTML Code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&lt;!DOCTYPE html&gt;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&lt;html&gt;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&lt;head&gt;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&lt;style&gt;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h1{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text-align:center</a:t>
            </a: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p{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color:green</a:t>
            </a: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font-size:20px;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&lt;/style&gt;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&lt;/head&gt;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&lt;body&gt;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&lt;h1&gt;Welcome to CSS&lt;/h1&gt;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&lt;p&gt;CSS makes webpages beautiful.&lt;/p&gt;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&lt;/body&gt;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4223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First CSS Program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08" y="1143000"/>
            <a:ext cx="8470692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Expected Output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Welcome to CSS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         (Blue Heading)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CSS makes webpages beautiful.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(Green paragraph with larger font)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Explanation</a:t>
            </a:r>
          </a:p>
          <a:p>
            <a:r>
              <a:rPr lang="en-IN" sz="2000" dirty="0"/>
              <a:t>&lt;style&gt; tag contains CSS rules. </a:t>
            </a:r>
          </a:p>
          <a:p>
            <a:r>
              <a:rPr lang="en-IN" sz="2000" dirty="0"/>
              <a:t>h1 selector styles all heading elements. </a:t>
            </a:r>
          </a:p>
          <a:p>
            <a:r>
              <a:rPr lang="en-IN" sz="2000" dirty="0"/>
              <a:t>p selector styles all paragraph elements.</a:t>
            </a:r>
          </a:p>
          <a:p>
            <a:pPr marL="0" indent="0" algn="just">
              <a:buNone/>
            </a:pPr>
            <a:endParaRPr lang="en-US" sz="2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2729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Defining and Applying CSS Styles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08" y="1143000"/>
            <a:ext cx="8470692" cy="3422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CSS styles define how HTML elements should appear on a web page.</a:t>
            </a:r>
          </a:p>
          <a:p>
            <a:pPr marL="0" indent="0">
              <a:buNone/>
            </a:pPr>
            <a:r>
              <a:rPr lang="en-IN" sz="2400" dirty="0"/>
              <a:t>A CSS rule consists of:</a:t>
            </a:r>
          </a:p>
          <a:p>
            <a:r>
              <a:rPr lang="en-IN" sz="2000" b="1" dirty="0"/>
              <a:t>Selector</a:t>
            </a:r>
            <a:r>
              <a:rPr lang="en-IN" sz="2000" dirty="0"/>
              <a:t> – Specifies the HTML element(s) to style. </a:t>
            </a:r>
          </a:p>
          <a:p>
            <a:r>
              <a:rPr lang="en-IN" sz="2000" b="1" dirty="0"/>
              <a:t>Declaration Block</a:t>
            </a:r>
            <a:r>
              <a:rPr lang="en-IN" sz="2000" dirty="0"/>
              <a:t> – Contains one or more property-value pairs. 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General Syntax</a:t>
            </a:r>
          </a:p>
          <a:p>
            <a:pPr marL="0" indent="0" algn="just">
              <a:buNone/>
            </a:pPr>
            <a:r>
              <a:rPr lang="en-US" sz="23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selector {</a:t>
            </a:r>
          </a:p>
          <a:p>
            <a:pPr marL="0" indent="0" algn="just">
              <a:buNone/>
            </a:pPr>
            <a:r>
              <a:rPr lang="en-US" sz="23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property: value;</a:t>
            </a:r>
          </a:p>
          <a:p>
            <a:pPr marL="0" indent="0" algn="just">
              <a:buNone/>
            </a:pPr>
            <a:r>
              <a:rPr lang="en-US" sz="23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property: value;</a:t>
            </a:r>
          </a:p>
          <a:p>
            <a:pPr marL="0" indent="0" algn="just">
              <a:buNone/>
            </a:pPr>
            <a:r>
              <a:rPr lang="en-US" sz="23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7767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Defining and Applying CSS Styles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08" y="1143000"/>
            <a:ext cx="8470692" cy="34221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IN" sz="2000" b="1" dirty="0"/>
              <a:t>HTML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&lt;h2&gt;Welcome to CSS&lt;/h2&gt;</a:t>
            </a:r>
          </a:p>
          <a:p>
            <a:pPr marL="0" indent="0" algn="just">
              <a:buNone/>
            </a:pPr>
            <a:r>
              <a:rPr lang="en-IN" sz="2000" b="1" dirty="0"/>
              <a:t>CSS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h2{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color: blue;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text-align: center;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font-size: 30px;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400" b="1" dirty="0"/>
              <a:t>Browser Output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Welcome to CSS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 (Blue, Center-Aligned, Large Text)</a:t>
            </a:r>
          </a:p>
        </p:txBody>
      </p:sp>
    </p:spTree>
    <p:extLst>
      <p:ext uri="{BB962C8B-B14F-4D97-AF65-F5344CB8AC3E}">
        <p14:creationId xmlns:p14="http://schemas.microsoft.com/office/powerpoint/2010/main" val="1878009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Creating Style Sheets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08" y="1143000"/>
            <a:ext cx="8470692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A style sheet is a collection of CSS rules.</a:t>
            </a:r>
          </a:p>
          <a:p>
            <a:pPr marL="0" indent="0" algn="just">
              <a:buNone/>
            </a:pPr>
            <a:r>
              <a:rPr lang="en-IN" sz="2200" dirty="0"/>
              <a:t>There are </a:t>
            </a:r>
            <a:r>
              <a:rPr lang="en-IN" sz="2200" b="1" dirty="0"/>
              <a:t>three methods</a:t>
            </a:r>
            <a:r>
              <a:rPr lang="en-IN" sz="2200" dirty="0"/>
              <a:t> of creating style sheets.</a:t>
            </a:r>
          </a:p>
          <a:p>
            <a:r>
              <a:rPr lang="en-IN" sz="2200" dirty="0"/>
              <a:t>Inline CSS</a:t>
            </a:r>
          </a:p>
          <a:p>
            <a:r>
              <a:rPr lang="en-IN" sz="2200" dirty="0"/>
              <a:t>Internal CSS </a:t>
            </a:r>
          </a:p>
          <a:p>
            <a:r>
              <a:rPr lang="en-IN" sz="2200" dirty="0"/>
              <a:t>External CSS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</a:rPr>
              <a:t>Comparison</a:t>
            </a:r>
          </a:p>
          <a:p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6B213D-EC4F-296F-4C61-1FE808972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086833"/>
              </p:ext>
            </p:extLst>
          </p:nvPr>
        </p:nvGraphicFramePr>
        <p:xfrm>
          <a:off x="1447800" y="3733800"/>
          <a:ext cx="6553200" cy="2194560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1124291207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84571686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965361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Best Used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Inline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Inside HTML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Small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135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Internal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Inside &lt;style&gt;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Single webpage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35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Separate .css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Multiple webpages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958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89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Inline Style Sheet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572" y="1143000"/>
            <a:ext cx="8943428" cy="4876800"/>
          </a:xfrm>
        </p:spPr>
        <p:txBody>
          <a:bodyPr numCol="2">
            <a:noAutofit/>
          </a:bodyPr>
          <a:lstStyle/>
          <a:p>
            <a:pPr marL="0" indent="0" algn="just">
              <a:buNone/>
            </a:pPr>
            <a:r>
              <a:rPr lang="en-IN" sz="2000" dirty="0"/>
              <a:t>Inline CSS is written directly inside an HTML element using the      </a:t>
            </a:r>
            <a:r>
              <a:rPr lang="en-IN" sz="2000" b="1" dirty="0"/>
              <a:t>style</a:t>
            </a:r>
            <a:r>
              <a:rPr lang="en-IN" sz="2000" dirty="0"/>
              <a:t> attribute.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400" dirty="0"/>
              <a:t>&lt;tag style="</a:t>
            </a:r>
            <a:r>
              <a:rPr lang="en-IN" sz="2400" dirty="0" err="1"/>
              <a:t>property:value</a:t>
            </a:r>
            <a:r>
              <a:rPr lang="en-IN" sz="2400" dirty="0"/>
              <a:t>;"&gt;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&lt;h1 style="</a:t>
            </a:r>
            <a:r>
              <a:rPr lang="en-US" sz="24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color:red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;"&gt;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Welcome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&lt;/h1&gt;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 style="font-size:20px;"&gt;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CSS Example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&lt;/p&gt;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  </a:t>
            </a:r>
            <a:r>
              <a:rPr lang="en-IN" sz="2000" b="1" dirty="0">
                <a:solidFill>
                  <a:srgbClr val="00B050"/>
                </a:solidFill>
              </a:rPr>
              <a:t>Output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Welcome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(Red Heading)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CSS Example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(Larger Text)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211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Internal Style Sheet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572" y="1143000"/>
            <a:ext cx="8791028" cy="4648200"/>
          </a:xfrm>
        </p:spPr>
        <p:txBody>
          <a:bodyPr numCol="1">
            <a:noAutofit/>
          </a:bodyPr>
          <a:lstStyle/>
          <a:p>
            <a:pPr marL="0" indent="0" algn="just">
              <a:buNone/>
            </a:pPr>
            <a:r>
              <a:rPr lang="en-IN" sz="2000" dirty="0"/>
              <a:t>Internal CSS is written inside the &lt;style&gt; tag in the &lt;head&gt; section.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&lt;html&gt;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&lt;head&gt;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&lt;style&gt;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CSS Code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&lt;/style&gt;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&lt;/head&gt;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&lt;body&gt;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HTML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&lt;/body&gt;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67049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Internal Style Sheet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86" y="1143000"/>
            <a:ext cx="8791028" cy="3352800"/>
          </a:xfrm>
        </p:spPr>
        <p:txBody>
          <a:bodyPr numCol="1">
            <a:no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&lt;head&gt;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&lt;style&gt;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h1{</a:t>
            </a:r>
          </a:p>
          <a:p>
            <a:pPr marL="0" indent="0">
              <a:buNone/>
            </a:pPr>
            <a:r>
              <a:rPr lang="en-US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p{</a:t>
            </a:r>
          </a:p>
          <a:p>
            <a:pPr marL="0" indent="0">
              <a:buNone/>
            </a:pPr>
            <a:r>
              <a:rPr lang="en-US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color:green</a:t>
            </a: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&lt;/style&gt;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246940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External Style Sheet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86" y="1143000"/>
            <a:ext cx="8791028" cy="4572000"/>
          </a:xfrm>
        </p:spPr>
        <p:txBody>
          <a:bodyPr numCol="2"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External CSS stores styles in a separate file having the extension </a:t>
            </a:r>
            <a:r>
              <a:rPr lang="en-IN" sz="2200" b="1" dirty="0"/>
              <a:t>.</a:t>
            </a:r>
            <a:r>
              <a:rPr lang="en-IN" sz="2200" b="1" dirty="0" err="1"/>
              <a:t>css</a:t>
            </a:r>
            <a:r>
              <a:rPr lang="en-IN" sz="2200" dirty="0"/>
              <a:t>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File Structure  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index.html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style.css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Example</a:t>
            </a:r>
          </a:p>
          <a:p>
            <a:pPr marL="0" indent="0" algn="just">
              <a:buNone/>
            </a:pPr>
            <a:r>
              <a:rPr lang="en-IN" sz="2400" b="1" dirty="0"/>
              <a:t>Html File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</a:t>
            </a:r>
            <a:r>
              <a:rPr lang="en-US" sz="2400" dirty="0">
                <a:solidFill>
                  <a:srgbClr val="002060"/>
                </a:solidFill>
                <a:ea typeface="+mj-ea"/>
                <a:cs typeface="+mj-cs"/>
              </a:rPr>
              <a:t>link </a:t>
            </a:r>
            <a:r>
              <a:rPr lang="en-US" sz="2400" dirty="0" err="1">
                <a:solidFill>
                  <a:srgbClr val="002060"/>
                </a:solidFill>
                <a:ea typeface="+mj-ea"/>
                <a:cs typeface="+mj-cs"/>
              </a:rPr>
              <a:t>rel</a:t>
            </a:r>
            <a:r>
              <a:rPr lang="en-US" sz="2400" dirty="0">
                <a:solidFill>
                  <a:srgbClr val="002060"/>
                </a:solidFill>
                <a:ea typeface="+mj-ea"/>
                <a:cs typeface="+mj-cs"/>
              </a:rPr>
              <a:t>="stylesheet"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002060"/>
                </a:solidFill>
                <a:ea typeface="+mj-ea"/>
                <a:cs typeface="+mj-cs"/>
              </a:rPr>
              <a:t>href</a:t>
            </a:r>
            <a:r>
              <a:rPr lang="en-US" sz="2400" dirty="0">
                <a:solidFill>
                  <a:srgbClr val="002060"/>
                </a:solidFill>
                <a:ea typeface="+mj-ea"/>
                <a:cs typeface="+mj-cs"/>
              </a:rPr>
              <a:t>="style.css"&gt;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</a:t>
            </a:r>
            <a:r>
              <a:rPr lang="en-IN" sz="2400" b="1" dirty="0">
                <a:solidFill>
                  <a:srgbClr val="00B050"/>
                </a:solidFill>
              </a:rPr>
              <a:t>style.css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</a:rPr>
              <a:t>   body{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</a:rPr>
              <a:t>               background-      </a:t>
            </a:r>
            <a:r>
              <a:rPr lang="en-US" sz="2400" dirty="0" err="1">
                <a:solidFill>
                  <a:srgbClr val="002060"/>
                </a:solidFill>
              </a:rPr>
              <a:t>color:lightblue</a:t>
            </a:r>
            <a:r>
              <a:rPr lang="en-US" sz="24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</a:rPr>
              <a:t>}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</a:rPr>
              <a:t>h1{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002060"/>
                </a:solidFill>
              </a:rPr>
              <a:t>color:navy</a:t>
            </a:r>
            <a:r>
              <a:rPr lang="en-US" sz="24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</a:rPr>
              <a:t>}</a:t>
            </a:r>
            <a:endParaRPr lang="en-IN" sz="2400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endParaRPr lang="en-US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5263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Comparison of CSS Types</a:t>
            </a:r>
            <a:endParaRPr lang="en-US" sz="3200" dirty="0">
              <a:solidFill>
                <a:srgbClr val="00B05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E4E163-B424-894F-3362-8A8F2C8EC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389779"/>
              </p:ext>
            </p:extLst>
          </p:nvPr>
        </p:nvGraphicFramePr>
        <p:xfrm>
          <a:off x="469106" y="1584960"/>
          <a:ext cx="8229600" cy="35661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33341931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9477006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70332812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59832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Bookman Old Style" panose="020506040505050202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Bookman Old Style" panose="02050604050505020204" pitchFamily="18" charset="0"/>
                        </a:rPr>
                        <a:t>Inline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Bookman Old Style" panose="02050604050505020204" pitchFamily="18" charset="0"/>
                        </a:rPr>
                        <a:t>Internal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Bookman Old Style" panose="02050604050505020204" pitchFamily="18" charset="0"/>
                        </a:rPr>
                        <a:t>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42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CSS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HTML 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&lt;style&gt;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Separate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62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Reusable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77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Easy 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954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Website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93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Recommended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Small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ookman Old Style" panose="02050604050505020204" pitchFamily="18" charset="0"/>
                        </a:rPr>
                        <a:t>Small Projects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ookman Old Style" panose="02050604050505020204" pitchFamily="18" charset="0"/>
                        </a:rPr>
                        <a:t>Professional Websites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00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10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Cascading Order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34114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Why is it called Cascading Style Sheets?</a:t>
            </a:r>
          </a:p>
          <a:p>
            <a:pPr marL="0" indent="0">
              <a:buNone/>
            </a:pPr>
            <a:r>
              <a:rPr lang="en-IN" sz="2200" dirty="0"/>
              <a:t>Sometimes multiple CSS rules are applied to the same HTML element.</a:t>
            </a:r>
          </a:p>
          <a:p>
            <a:pPr marL="0" indent="0">
              <a:buNone/>
            </a:pPr>
            <a:r>
              <a:rPr lang="en-IN" sz="2200" dirty="0"/>
              <a:t>The browser decides which style should be used.</a:t>
            </a:r>
          </a:p>
          <a:p>
            <a:pPr marL="0" indent="0">
              <a:buNone/>
            </a:pPr>
            <a:r>
              <a:rPr lang="en-IN" sz="2200" dirty="0"/>
              <a:t>This process is called </a:t>
            </a:r>
            <a:r>
              <a:rPr lang="en-IN" sz="2200" b="1" dirty="0"/>
              <a:t>Cascading</a:t>
            </a:r>
            <a:r>
              <a:rPr lang="en-IN" sz="2200" dirty="0"/>
              <a:t>.</a:t>
            </a: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Priority Order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Highest Priority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Inline CSS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Internal CSS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External CSS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Browser Default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Lowest Priority</a:t>
            </a:r>
          </a:p>
        </p:txBody>
      </p:sp>
    </p:spTree>
    <p:extLst>
      <p:ext uri="{BB962C8B-B14F-4D97-AF65-F5344CB8AC3E}">
        <p14:creationId xmlns:p14="http://schemas.microsoft.com/office/powerpoint/2010/main" val="2795956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Comments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86" y="1143000"/>
            <a:ext cx="8434114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Comments make CSS easier to understand.</a:t>
            </a:r>
          </a:p>
          <a:p>
            <a:pPr marL="0" indent="0">
              <a:buNone/>
            </a:pPr>
            <a:r>
              <a:rPr lang="en-IN" sz="2000" dirty="0"/>
              <a:t>They are ignored by the browser.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/* This is a comment */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/* Heading Style */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h1{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  <a:endParaRPr lang="en-IN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7066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Introduction to CSS Selectors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86" y="1143000"/>
            <a:ext cx="84341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/>
              <a:t>CSS Selectors</a:t>
            </a:r>
          </a:p>
          <a:p>
            <a:pPr marL="0" indent="0" algn="just">
              <a:buNone/>
            </a:pPr>
            <a:r>
              <a:rPr lang="en-IN" sz="2000" dirty="0"/>
              <a:t>Selectors tell the browser </a:t>
            </a:r>
            <a:r>
              <a:rPr lang="en-IN" sz="2000" b="1" dirty="0"/>
              <a:t>which HTML elements should receive a style</a:t>
            </a:r>
            <a:r>
              <a:rPr lang="en-IN" sz="2000" dirty="0"/>
              <a:t>.</a:t>
            </a:r>
          </a:p>
          <a:p>
            <a:pPr marL="0" indent="0" algn="just">
              <a:buNone/>
            </a:pPr>
            <a:r>
              <a:rPr lang="en-IN" sz="2000" dirty="0"/>
              <a:t>Without selectors, CSS cannot identify the target element.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  <a:ea typeface="+mj-ea"/>
                <a:cs typeface="+mj-cs"/>
              </a:rPr>
              <a:t>Types</a:t>
            </a:r>
            <a:endParaRPr lang="en-IN" sz="2400" b="1" dirty="0">
              <a:solidFill>
                <a:srgbClr val="00B050"/>
              </a:solidFill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Element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Class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ID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Universal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Grouping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Descendant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Child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Attribute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ea typeface="+mj-ea"/>
                <a:cs typeface="+mj-cs"/>
              </a:rPr>
              <a:t>Pseudo Class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Pseudo Element</a:t>
            </a:r>
          </a:p>
        </p:txBody>
      </p:sp>
    </p:spTree>
    <p:extLst>
      <p:ext uri="{BB962C8B-B14F-4D97-AF65-F5344CB8AC3E}">
        <p14:creationId xmlns:p14="http://schemas.microsoft.com/office/powerpoint/2010/main" val="1426087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Element Selector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6" y="1219200"/>
            <a:ext cx="8586514" cy="3505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An Element Selector selects all HTML elements having the same tag name.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</a:rPr>
              <a:t>Syntax</a:t>
            </a:r>
          </a:p>
          <a:p>
            <a:pPr marL="0" indent="0">
              <a:buNone/>
            </a:pPr>
            <a:r>
              <a:rPr lang="en-IN" sz="24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tagname</a:t>
            </a: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{</a:t>
            </a:r>
          </a:p>
          <a:p>
            <a:pPr marL="0" indent="0">
              <a:buNone/>
            </a:pPr>
            <a:r>
              <a:rPr lang="en-IN" sz="24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property:value</a:t>
            </a: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&lt;p&gt;Paragraph 1&lt;/p&gt;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&lt;p&gt;Paragraph 2&lt;/p&gt;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&lt;p&gt;Paragraph 3&lt;/p&gt;</a:t>
            </a:r>
          </a:p>
        </p:txBody>
      </p:sp>
    </p:spTree>
    <p:extLst>
      <p:ext uri="{BB962C8B-B14F-4D97-AF65-F5344CB8AC3E}">
        <p14:creationId xmlns:p14="http://schemas.microsoft.com/office/powerpoint/2010/main" val="1618806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Element Selector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86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CSS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p{</a:t>
            </a:r>
          </a:p>
          <a:p>
            <a:pPr marL="0" indent="0" algn="just">
              <a:buNone/>
            </a:pPr>
            <a:r>
              <a:rPr lang="en-US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font-size:20px;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Browser Output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Paragraph 1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(Blue)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Paragraph 2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(Blue)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Paragraph 3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(Blue)</a:t>
            </a: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7412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Class Selector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480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/>
              <a:t>A </a:t>
            </a:r>
            <a:r>
              <a:rPr lang="en-IN" sz="2200" b="1" dirty="0"/>
              <a:t>Class Selector</a:t>
            </a:r>
            <a:r>
              <a:rPr lang="en-IN" sz="2200" dirty="0"/>
              <a:t> is used to apply the same style to </a:t>
            </a:r>
            <a:r>
              <a:rPr lang="en-IN" sz="2200" b="1" dirty="0"/>
              <a:t>multiple HTML elements</a:t>
            </a:r>
            <a:r>
              <a:rPr lang="en-IN" sz="2200" dirty="0"/>
              <a:t>.</a:t>
            </a:r>
          </a:p>
          <a:p>
            <a:pPr marL="0" indent="0">
              <a:buNone/>
            </a:pPr>
            <a:r>
              <a:rPr lang="en-IN" sz="2200" dirty="0"/>
              <a:t>A class is defined using a </a:t>
            </a:r>
            <a:r>
              <a:rPr lang="en-IN" sz="2200" b="1" dirty="0"/>
              <a:t>dot (.)</a:t>
            </a:r>
            <a:r>
              <a:rPr lang="en-IN" sz="2200" dirty="0"/>
              <a:t> followed by the class name. </a:t>
            </a:r>
          </a:p>
          <a:p>
            <a:pPr marL="0" indent="0">
              <a:buNone/>
            </a:pPr>
            <a:r>
              <a:rPr lang="en-IN" sz="2200" dirty="0"/>
              <a:t>The class is assigned to HTML elements using the </a:t>
            </a:r>
            <a:r>
              <a:rPr lang="en-IN" sz="2200" b="1" dirty="0"/>
              <a:t>class</a:t>
            </a:r>
            <a:r>
              <a:rPr lang="en-IN" sz="2200" dirty="0"/>
              <a:t> attribute. </a:t>
            </a:r>
          </a:p>
          <a:p>
            <a:pPr marL="0" indent="0">
              <a:buNone/>
            </a:pPr>
            <a:r>
              <a:rPr lang="en-IN" sz="2200" dirty="0"/>
              <a:t>Multiple elements can share the same class.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</a:rPr>
              <a:t>Syntax</a:t>
            </a:r>
          </a:p>
          <a:p>
            <a:pPr marL="0" indent="0">
              <a:buNone/>
            </a:pPr>
            <a:r>
              <a:rPr lang="en-IN" sz="2200" dirty="0"/>
              <a:t>.</a:t>
            </a:r>
            <a:r>
              <a:rPr lang="en-IN" sz="2200" dirty="0" err="1"/>
              <a:t>className</a:t>
            </a:r>
            <a:r>
              <a:rPr lang="en-IN" sz="2200" dirty="0"/>
              <a:t>{</a:t>
            </a:r>
          </a:p>
          <a:p>
            <a:pPr marL="0" indent="0">
              <a:buNone/>
            </a:pPr>
            <a:r>
              <a:rPr lang="en-IN" sz="2200" dirty="0"/>
              <a:t>    property: value;</a:t>
            </a:r>
          </a:p>
          <a:p>
            <a:pPr marL="0" indent="0">
              <a:buNone/>
            </a:pPr>
            <a:r>
              <a:rPr lang="en-IN" sz="2200" dirty="0"/>
              <a:t>}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9645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Example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HTML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&lt;h2 class="title"&gt;CSS Basics&lt;/h2&gt;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 class="title"&gt;Welcome to Web Technologies&lt;/p&gt;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CSS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.title{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color: blue;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font-size: 28px;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text-align: center;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B050"/>
                </a:solidFill>
              </a:rPr>
              <a:t>Expected Output</a:t>
            </a:r>
          </a:p>
          <a:p>
            <a:pPr marL="0" indent="0">
              <a:buNone/>
            </a:pPr>
            <a:r>
              <a:rPr lang="en-IN" sz="1800" dirty="0"/>
              <a:t>"CSS Basics" → Blue, </a:t>
            </a:r>
            <a:r>
              <a:rPr lang="en-IN" sz="1800" dirty="0" err="1"/>
              <a:t>centered</a:t>
            </a:r>
            <a:r>
              <a:rPr lang="en-IN" sz="1800" dirty="0"/>
              <a:t>, large font. </a:t>
            </a:r>
          </a:p>
          <a:p>
            <a:pPr marL="0" indent="0">
              <a:buNone/>
            </a:pPr>
            <a:r>
              <a:rPr lang="en-IN" sz="1800" dirty="0"/>
              <a:t>"Welcome to Web Technologies" → Same style applied.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1352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ID Selector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What is an ID Selector?</a:t>
            </a:r>
          </a:p>
          <a:p>
            <a:pPr marL="0" indent="0">
              <a:buNone/>
            </a:pPr>
            <a:r>
              <a:rPr lang="en-IN" sz="2200" dirty="0"/>
              <a:t>An </a:t>
            </a:r>
            <a:r>
              <a:rPr lang="en-IN" sz="2200" b="1" dirty="0"/>
              <a:t>ID Selector</a:t>
            </a:r>
            <a:r>
              <a:rPr lang="en-IN" sz="2200" dirty="0"/>
              <a:t> styles </a:t>
            </a:r>
            <a:r>
              <a:rPr lang="en-IN" sz="2200" b="1" dirty="0"/>
              <a:t>only one unique HTML element</a:t>
            </a:r>
            <a:r>
              <a:rPr lang="en-IN" sz="2200" dirty="0"/>
              <a:t>.</a:t>
            </a:r>
          </a:p>
          <a:p>
            <a:pPr marL="0" indent="0">
              <a:buNone/>
            </a:pPr>
            <a:r>
              <a:rPr lang="en-IN" sz="2200" dirty="0"/>
              <a:t>Defined using the </a:t>
            </a:r>
            <a:r>
              <a:rPr lang="en-IN" sz="2200" b="1" dirty="0"/>
              <a:t>#</a:t>
            </a:r>
            <a:r>
              <a:rPr lang="en-IN" sz="2200" dirty="0"/>
              <a:t> symbol. </a:t>
            </a:r>
          </a:p>
          <a:p>
            <a:pPr marL="0" indent="0">
              <a:buNone/>
            </a:pPr>
            <a:r>
              <a:rPr lang="en-IN" sz="2200" dirty="0"/>
              <a:t>Assigned using the </a:t>
            </a:r>
            <a:r>
              <a:rPr lang="en-IN" sz="2200" b="1" dirty="0"/>
              <a:t>id</a:t>
            </a:r>
            <a:r>
              <a:rPr lang="en-IN" sz="2200" dirty="0"/>
              <a:t> attribute. </a:t>
            </a:r>
          </a:p>
          <a:p>
            <a:pPr marL="0" indent="0">
              <a:buNone/>
            </a:pPr>
            <a:r>
              <a:rPr lang="en-IN" sz="2200" dirty="0"/>
              <a:t>Each ID should be unique within a webpage.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#header{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property: value;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5172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Example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HTML</a:t>
            </a:r>
          </a:p>
          <a:p>
            <a:pPr marL="0" indent="0" algn="just">
              <a:buNone/>
            </a:pPr>
            <a:r>
              <a:rPr lang="pt-B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&lt;h1 id="header"&gt;CSS Tutorial&lt;/h1&gt;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CSS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#header{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color: </a:t>
            </a:r>
            <a:r>
              <a:rPr lang="en-US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darkgreen</a:t>
            </a: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font-size: 36px;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B050"/>
                </a:solidFill>
              </a:rPr>
              <a:t>Expected Output</a:t>
            </a:r>
          </a:p>
          <a:p>
            <a:pPr marL="0" indent="0">
              <a:buNone/>
            </a:pPr>
            <a:r>
              <a:rPr lang="en-IN" sz="2000" dirty="0"/>
              <a:t>The heading appears in </a:t>
            </a:r>
            <a:r>
              <a:rPr lang="en-IN" sz="2000" b="1" dirty="0"/>
              <a:t>dark green</a:t>
            </a:r>
            <a:r>
              <a:rPr lang="en-IN" sz="2000" dirty="0"/>
              <a:t> with a large font size.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44052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DC93-C992-D5F4-C2A4-0EEA31A6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E765-63A9-BE9D-518A-7FC5B8C0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Universal Selector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6F40-AFC1-BA3C-091E-F78655C6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What is the Universal Selector?</a:t>
            </a:r>
          </a:p>
          <a:p>
            <a:pPr marL="0" indent="0">
              <a:buNone/>
            </a:pPr>
            <a:r>
              <a:rPr lang="en-IN" sz="2200" dirty="0"/>
              <a:t>The </a:t>
            </a:r>
            <a:r>
              <a:rPr lang="en-IN" sz="2200" b="1" dirty="0"/>
              <a:t>Universal Selector</a:t>
            </a:r>
            <a:r>
              <a:rPr lang="en-IN" sz="2200" dirty="0"/>
              <a:t> selects </a:t>
            </a:r>
            <a:r>
              <a:rPr lang="en-IN" sz="2200" b="1" dirty="0"/>
              <a:t>every HTML element</a:t>
            </a:r>
            <a:r>
              <a:rPr lang="en-IN" sz="2200" dirty="0"/>
              <a:t> on a webpage.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*{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property: value;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*{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margin:0;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padding:0;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0546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540D3-3EEF-D724-DD0E-FD4DF3E3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E523-24E2-D7F2-FBAE-471E01DC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Group Selector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70FA5-3EEB-904C-E2E6-D950069C8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5029200"/>
          </a:xfrm>
        </p:spPr>
        <p:txBody>
          <a:bodyPr numCol="2"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A Group Selector applies the </a:t>
            </a:r>
            <a:r>
              <a:rPr lang="en-IN" sz="2200" b="1" dirty="0"/>
              <a:t>same style to multiple    elements</a:t>
            </a:r>
            <a:r>
              <a:rPr lang="en-IN" sz="2200" dirty="0"/>
              <a:t>.  </a:t>
            </a:r>
          </a:p>
          <a:p>
            <a:pPr marL="0" indent="0" algn="just">
              <a:buNone/>
            </a:pPr>
            <a:r>
              <a:rPr lang="en-IN" sz="2200" dirty="0"/>
              <a:t>Instead of writing separate CSS rules, multiple selectors are separated using commas.</a:t>
            </a: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Without Grouping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h1{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h2{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p{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color:blue</a:t>
            </a: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                With Grouping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       h1,h2,p{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              </a:t>
            </a:r>
            <a:r>
              <a:rPr lang="en-US" sz="2000" dirty="0" err="1">
                <a:solidFill>
                  <a:srgbClr val="002060"/>
                </a:solidFill>
              </a:rPr>
              <a:t>color:blue</a:t>
            </a:r>
            <a:r>
              <a:rPr lang="en-US" sz="20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                             }</a:t>
            </a:r>
          </a:p>
          <a:p>
            <a:pPr marL="0" indent="0" algn="just">
              <a:buNone/>
            </a:pPr>
            <a:endParaRPr lang="en-IN" sz="16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en-IN" sz="16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38257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C5D4-C108-F922-7303-55B4B0FD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E22B-124B-345C-1C66-47E88ED8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Descendant Selector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BE2D3-1CF4-5863-80C0-41AA0282D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223" y="1143000"/>
            <a:ext cx="8738914" cy="4572000"/>
          </a:xfrm>
        </p:spPr>
        <p:txBody>
          <a:bodyPr numCol="2"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A Descendant Selector selects elements that are </a:t>
            </a:r>
            <a:r>
              <a:rPr lang="en-IN" sz="2200" b="1" dirty="0"/>
              <a:t>inside another element</a:t>
            </a:r>
            <a:r>
              <a:rPr lang="en-IN" sz="2200" dirty="0"/>
              <a:t>, regardless of the nesting level.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parent child{      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            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B050"/>
                </a:solidFill>
              </a:rPr>
              <a:t>HTML</a:t>
            </a:r>
          </a:p>
          <a:p>
            <a:pPr marL="0" indent="0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&lt;div&gt;</a:t>
            </a:r>
          </a:p>
          <a:p>
            <a:pPr marL="0" indent="0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&lt;p&gt;</a:t>
            </a:r>
            <a:r>
              <a:rPr lang="fr-FR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Paragraph</a:t>
            </a: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1&lt;/p&gt;</a:t>
            </a:r>
          </a:p>
          <a:p>
            <a:pPr marL="0" indent="0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&lt;section&gt;</a:t>
            </a:r>
          </a:p>
          <a:p>
            <a:pPr marL="0" indent="0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&lt;p&gt;</a:t>
            </a:r>
            <a:r>
              <a:rPr lang="fr-FR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Paragraph</a:t>
            </a: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2&lt;/p&gt;</a:t>
            </a:r>
          </a:p>
          <a:p>
            <a:pPr marL="0" indent="0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&lt;/section&gt;</a:t>
            </a:r>
          </a:p>
          <a:p>
            <a:pPr marL="0" indent="0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     &lt;/div&gt;</a:t>
            </a:r>
          </a:p>
          <a:p>
            <a:pPr marL="0" indent="0" algn="just">
              <a:buNone/>
            </a:pPr>
            <a:r>
              <a:rPr lang="en-IN" sz="2000" dirty="0"/>
              <a:t>       </a:t>
            </a:r>
            <a:r>
              <a:rPr lang="en-IN" sz="2000" dirty="0">
                <a:solidFill>
                  <a:srgbClr val="00B050"/>
                </a:solidFill>
              </a:rPr>
              <a:t>CSS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2060"/>
                </a:solidFill>
              </a:rPr>
              <a:t>       div p{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2060"/>
                </a:solidFill>
              </a:rPr>
              <a:t>           </a:t>
            </a:r>
            <a:r>
              <a:rPr lang="en-IN" sz="2000" dirty="0" err="1">
                <a:solidFill>
                  <a:srgbClr val="002060"/>
                </a:solidFill>
              </a:rPr>
              <a:t>color:red</a:t>
            </a:r>
            <a:r>
              <a:rPr lang="en-IN" sz="20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2060"/>
                </a:solidFill>
              </a:rPr>
              <a:t>             }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B050"/>
                </a:solidFill>
              </a:rPr>
              <a:t>Result</a:t>
            </a:r>
          </a:p>
          <a:p>
            <a:pPr marL="0" indent="0" algn="just">
              <a:buNone/>
            </a:pPr>
            <a:r>
              <a:rPr lang="en-IN" sz="2000" dirty="0"/>
              <a:t>Both paragraphs become </a:t>
            </a:r>
            <a:r>
              <a:rPr lang="en-IN" sz="2000" b="1" dirty="0"/>
              <a:t>red</a:t>
            </a:r>
            <a:r>
              <a:rPr lang="en-IN" sz="2000" dirty="0"/>
              <a:t> because both are inside the </a:t>
            </a:r>
            <a:r>
              <a:rPr lang="en-IN" sz="2400" dirty="0"/>
              <a:t>&lt;div&gt;</a:t>
            </a:r>
            <a:r>
              <a:rPr lang="en-IN" sz="2000" dirty="0"/>
              <a:t>.</a:t>
            </a:r>
          </a:p>
          <a:p>
            <a:pPr marL="0" indent="0" algn="ctr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2217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B963-99EC-0FC8-8B9A-DCE445C5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2951-E090-6C74-6FD6-B5E6834B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Child Selector (&gt;)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67373-E0BB-9E60-D8E6-37CB0C50F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47244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Definition</a:t>
            </a:r>
          </a:p>
          <a:p>
            <a:pPr marL="0" indent="0">
              <a:buNone/>
            </a:pPr>
            <a:r>
              <a:rPr lang="en-IN" sz="2200" dirty="0"/>
              <a:t>A Child Selector selects </a:t>
            </a:r>
            <a:r>
              <a:rPr lang="en-IN" sz="2200" b="1" dirty="0"/>
              <a:t>only direct children</a:t>
            </a:r>
            <a:r>
              <a:rPr lang="en-IN" sz="2200" dirty="0"/>
              <a:t> of an element.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parent &gt; child{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00B050"/>
                </a:solidFill>
              </a:rPr>
              <a:t>HTML</a:t>
            </a:r>
          </a:p>
          <a:p>
            <a:pPr marL="0" indent="0" algn="just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&lt;div&gt;</a:t>
            </a:r>
          </a:p>
          <a:p>
            <a:pPr marL="0" indent="0" algn="just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&lt;p&gt;</a:t>
            </a:r>
            <a:r>
              <a:rPr lang="fr-FR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Paragraph</a:t>
            </a: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1&lt;/p&gt;</a:t>
            </a:r>
          </a:p>
          <a:p>
            <a:pPr marL="0" indent="0" algn="just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&lt;section&gt;</a:t>
            </a:r>
          </a:p>
          <a:p>
            <a:pPr marL="0" indent="0" algn="just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&lt;p&gt;</a:t>
            </a:r>
            <a:r>
              <a:rPr lang="fr-FR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Paragraph</a:t>
            </a: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2&lt;/p&gt;</a:t>
            </a:r>
          </a:p>
          <a:p>
            <a:pPr marL="0" indent="0" algn="just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&lt;/section&gt;</a:t>
            </a:r>
          </a:p>
          <a:p>
            <a:pPr marL="0" indent="0" algn="just">
              <a:buNone/>
            </a:pPr>
            <a:r>
              <a:rPr lang="fr-FR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&lt;/div&gt;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B050"/>
                </a:solidFill>
              </a:rPr>
              <a:t>CSS: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2060"/>
                </a:solidFill>
              </a:rPr>
              <a:t>div &gt; p{</a:t>
            </a:r>
          </a:p>
          <a:p>
            <a:pPr marL="0" indent="0" algn="just">
              <a:buNone/>
            </a:pPr>
            <a:r>
              <a:rPr lang="en-IN" sz="2000" dirty="0" err="1">
                <a:solidFill>
                  <a:srgbClr val="002060"/>
                </a:solidFill>
              </a:rPr>
              <a:t>color:blue</a:t>
            </a:r>
            <a:r>
              <a:rPr lang="en-IN" sz="20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2060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B050"/>
                </a:solidFill>
              </a:rPr>
              <a:t>Result</a:t>
            </a:r>
          </a:p>
          <a:p>
            <a:pPr marL="0" indent="0">
              <a:buNone/>
            </a:pPr>
            <a:r>
              <a:rPr lang="en-IN" sz="2000" dirty="0"/>
              <a:t>Paragraph 1 → Blue ✔</a:t>
            </a:r>
          </a:p>
          <a:p>
            <a:pPr marL="0" indent="0">
              <a:buNone/>
            </a:pPr>
            <a:r>
              <a:rPr lang="en-IN" sz="2000" dirty="0"/>
              <a:t>Paragraph 2 → Not selected ❌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26491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8EDF-534E-F1F2-9F0E-2F455B8A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2EA0-3B28-7B82-8C24-2324BBD4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Attribute Selector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FBFE3-76C8-A493-069E-48FAC7C81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44196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Definition</a:t>
            </a:r>
          </a:p>
          <a:p>
            <a:pPr marL="0" indent="0">
              <a:buNone/>
            </a:pPr>
            <a:r>
              <a:rPr lang="en-IN" sz="2200" dirty="0"/>
              <a:t>Selects elements based on their HTML attributes.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input[type="text"]{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IN" sz="24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HTML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&lt;input type="text"&gt;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&lt;input type="password"&gt;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B050"/>
                </a:solidFill>
              </a:rPr>
              <a:t>CSS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input[type="text"]{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2060"/>
                </a:solidFill>
              </a:rPr>
              <a:t>background-color:yellow</a:t>
            </a:r>
            <a:r>
              <a:rPr lang="en-US" sz="20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B050"/>
                </a:solidFill>
              </a:rPr>
              <a:t>Output</a:t>
            </a:r>
          </a:p>
          <a:p>
            <a:pPr marL="0" indent="0">
              <a:buNone/>
            </a:pPr>
            <a:r>
              <a:rPr lang="en-IN" sz="2000" dirty="0"/>
              <a:t>Text box → Yellow background</a:t>
            </a:r>
          </a:p>
          <a:p>
            <a:pPr marL="0" indent="0">
              <a:buNone/>
            </a:pPr>
            <a:r>
              <a:rPr lang="en-IN" sz="2000" dirty="0"/>
              <a:t>Password box → No change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52923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909D-3DD3-BD0E-EE94-F09FA255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3DB5-CE67-DEF7-F0D9-730C9506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Selector Specificity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1DBD9-DC58-B1E0-8EBC-9206465D1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/>
              <a:t>CSS Specificity</a:t>
            </a:r>
          </a:p>
          <a:p>
            <a:pPr marL="0" indent="0" algn="just">
              <a:buNone/>
            </a:pPr>
            <a:r>
              <a:rPr lang="en-IN" sz="2200" dirty="0"/>
              <a:t>Sometimes multiple selectors target the same element.</a:t>
            </a:r>
          </a:p>
          <a:p>
            <a:pPr marL="0" indent="0" algn="just">
              <a:buNone/>
            </a:pPr>
            <a:r>
              <a:rPr lang="en-IN" sz="2200" dirty="0"/>
              <a:t>The browser chooses the selector with the </a:t>
            </a:r>
            <a:r>
              <a:rPr lang="en-IN" sz="2200" b="1" dirty="0"/>
              <a:t>highest priority</a:t>
            </a:r>
            <a:r>
              <a:rPr lang="en-IN" sz="2200" dirty="0"/>
              <a:t>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Priority Order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Inline Style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ID Selector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Class Selector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Element Selector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↓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Universal Selector</a:t>
            </a:r>
          </a:p>
        </p:txBody>
      </p:sp>
    </p:spTree>
    <p:extLst>
      <p:ext uri="{BB962C8B-B14F-4D97-AF65-F5344CB8AC3E}">
        <p14:creationId xmlns:p14="http://schemas.microsoft.com/office/powerpoint/2010/main" val="3515383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CC65-C6E9-5653-DAF2-539BEED99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725D-098D-3ACE-E76E-329848E7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Comparison of CSS Selectors</a:t>
            </a:r>
            <a:endParaRPr lang="en-US" sz="3200" dirty="0">
              <a:solidFill>
                <a:srgbClr val="00B05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27849C-D064-D19B-3344-BDA9F74028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596332"/>
              </p:ext>
            </p:extLst>
          </p:nvPr>
        </p:nvGraphicFramePr>
        <p:xfrm>
          <a:off x="533400" y="1371600"/>
          <a:ext cx="8305803" cy="4284612"/>
        </p:xfrm>
        <a:graphic>
          <a:graphicData uri="http://schemas.openxmlformats.org/drawingml/2006/table">
            <a:tbl>
              <a:tblPr/>
              <a:tblGrid>
                <a:gridCol w="2128290">
                  <a:extLst>
                    <a:ext uri="{9D8B030D-6E8A-4147-A177-3AD203B41FA5}">
                      <a16:colId xmlns:a16="http://schemas.microsoft.com/office/drawing/2014/main" val="3649722960"/>
                    </a:ext>
                  </a:extLst>
                </a:gridCol>
                <a:gridCol w="2059171">
                  <a:extLst>
                    <a:ext uri="{9D8B030D-6E8A-4147-A177-3AD203B41FA5}">
                      <a16:colId xmlns:a16="http://schemas.microsoft.com/office/drawing/2014/main" val="136516437"/>
                    </a:ext>
                  </a:extLst>
                </a:gridCol>
                <a:gridCol w="2059171">
                  <a:extLst>
                    <a:ext uri="{9D8B030D-6E8A-4147-A177-3AD203B41FA5}">
                      <a16:colId xmlns:a16="http://schemas.microsoft.com/office/drawing/2014/main" val="2669991039"/>
                    </a:ext>
                  </a:extLst>
                </a:gridCol>
                <a:gridCol w="2059171">
                  <a:extLst>
                    <a:ext uri="{9D8B030D-6E8A-4147-A177-3AD203B41FA5}">
                      <a16:colId xmlns:a16="http://schemas.microsoft.com/office/drawing/2014/main" val="185316628"/>
                    </a:ext>
                  </a:extLst>
                </a:gridCol>
              </a:tblGrid>
              <a:tr h="31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Bookman Old Style" panose="02050604050505020204" pitchFamily="18" charset="0"/>
                        </a:rPr>
                        <a:t>Selector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Bookman Old Style" panose="02050604050505020204" pitchFamily="18" charset="0"/>
                        </a:rPr>
                        <a:t>Symbol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Bookman Old Style" panose="02050604050505020204" pitchFamily="18" charset="0"/>
                        </a:rPr>
                        <a:t>Used For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Bookman Old Style" panose="02050604050505020204" pitchFamily="18" charset="0"/>
                        </a:rPr>
                        <a:t>Reusable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26765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Element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p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All paragraphs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363848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Class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.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Multiple elements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3987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ID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#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One unique element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No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849793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Universal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*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All elements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800692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Group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,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Multiple selectors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094899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Descendant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Space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Nested elements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130701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Child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&gt;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Direct children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52787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Attribute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[ ]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Elements with attributes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Yes</a:t>
                      </a:r>
                    </a:p>
                  </a:txBody>
                  <a:tcPr marL="79829" marR="79829" marT="39914" marB="39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38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569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9F67-45F4-EC4E-D23B-B02F0920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A8BE-FF29-3A83-6120-45892A99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Font Properties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3B0C-BB88-5022-6265-E3C848261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Font properties are used to change the appearance of text on a webpage. They improve readability, accessibility, and the overall visual design.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Common Font Properties</a:t>
            </a:r>
          </a:p>
          <a:p>
            <a:endParaRPr lang="en-IN" sz="2400" dirty="0"/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2746CC-D584-62EC-2DD5-2AF6CB38A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711548"/>
              </p:ext>
            </p:extLst>
          </p:nvPr>
        </p:nvGraphicFramePr>
        <p:xfrm>
          <a:off x="685800" y="2839092"/>
          <a:ext cx="7779735" cy="3017520"/>
        </p:xfrm>
        <a:graphic>
          <a:graphicData uri="http://schemas.openxmlformats.org/drawingml/2006/table">
            <a:tbl>
              <a:tblPr/>
              <a:tblGrid>
                <a:gridCol w="2593245">
                  <a:extLst>
                    <a:ext uri="{9D8B030D-6E8A-4147-A177-3AD203B41FA5}">
                      <a16:colId xmlns:a16="http://schemas.microsoft.com/office/drawing/2014/main" val="988203043"/>
                    </a:ext>
                  </a:extLst>
                </a:gridCol>
                <a:gridCol w="2593245">
                  <a:extLst>
                    <a:ext uri="{9D8B030D-6E8A-4147-A177-3AD203B41FA5}">
                      <a16:colId xmlns:a16="http://schemas.microsoft.com/office/drawing/2014/main" val="3164388491"/>
                    </a:ext>
                  </a:extLst>
                </a:gridCol>
                <a:gridCol w="2593245">
                  <a:extLst>
                    <a:ext uri="{9D8B030D-6E8A-4147-A177-3AD203B41FA5}">
                      <a16:colId xmlns:a16="http://schemas.microsoft.com/office/drawing/2014/main" val="273340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man Old Style" panose="02050604050505020204" pitchFamily="18" charset="0"/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man Old Style" panose="020506040505050202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man Old Style" panose="020506040505050202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83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font-family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Specifies the font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Arial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635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font-size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Sets text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20px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158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font-style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Makes text italic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italic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318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font-weight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Controls text thickness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bold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250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font-variant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Displays small capital letters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small-caps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83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472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97B1-4AE2-B7B8-1A64-9131D026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6FB5-4055-D302-8992-88B34A2A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Text Properties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4C906-D84A-9D18-1975-99E30CD13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Text properties control the alignment, decoration, spacing, transformation, and appearance of text.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Common Text Properties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B6C588-F5DD-695A-F30C-2470695AC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021737"/>
              </p:ext>
            </p:extLst>
          </p:nvPr>
        </p:nvGraphicFramePr>
        <p:xfrm>
          <a:off x="914400" y="2274870"/>
          <a:ext cx="7696200" cy="3439450"/>
        </p:xfrm>
        <a:graphic>
          <a:graphicData uri="http://schemas.openxmlformats.org/drawingml/2006/table">
            <a:tbl>
              <a:tblPr/>
              <a:tblGrid>
                <a:gridCol w="3848100">
                  <a:extLst>
                    <a:ext uri="{9D8B030D-6E8A-4147-A177-3AD203B41FA5}">
                      <a16:colId xmlns:a16="http://schemas.microsoft.com/office/drawing/2014/main" val="117517685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575721176"/>
                    </a:ext>
                  </a:extLst>
                </a:gridCol>
              </a:tblGrid>
              <a:tr h="32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man Old Style" panose="02050604050505020204" pitchFamily="18" charset="0"/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man Old Style" panose="020506040505050202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736813"/>
                  </a:ext>
                </a:extLst>
              </a:tr>
              <a:tr h="32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color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ookman Old Style" panose="02050604050505020204" pitchFamily="18" charset="0"/>
                        </a:rPr>
                        <a:t>Changes text </a:t>
                      </a:r>
                      <a:r>
                        <a:rPr lang="en-IN" sz="1600" dirty="0" err="1">
                          <a:latin typeface="Bookman Old Style" panose="02050604050505020204" pitchFamily="18" charset="0"/>
                        </a:rPr>
                        <a:t>color</a:t>
                      </a:r>
                      <a:endParaRPr lang="en-IN" sz="1600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909550"/>
                  </a:ext>
                </a:extLst>
              </a:tr>
              <a:tr h="574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ookman Old Style" panose="02050604050505020204" pitchFamily="18" charset="0"/>
                        </a:rPr>
                        <a:t>text-align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Aligns text (left, center, right, justify)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395323"/>
                  </a:ext>
                </a:extLst>
              </a:tr>
              <a:tr h="574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ookman Old Style" panose="02050604050505020204" pitchFamily="18" charset="0"/>
                        </a:rPr>
                        <a:t>text-decoration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Adds or removes underline, overline,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012839"/>
                  </a:ext>
                </a:extLst>
              </a:tr>
              <a:tr h="574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text-transform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Converts text to uppercase/lowercase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911517"/>
                  </a:ext>
                </a:extLst>
              </a:tr>
              <a:tr h="32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letter-spacing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Adds space between letters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557471"/>
                  </a:ext>
                </a:extLst>
              </a:tr>
              <a:tr h="32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ookman Old Style" panose="02050604050505020204" pitchFamily="18" charset="0"/>
                        </a:rPr>
                        <a:t>word-spacing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Adds space between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986640"/>
                  </a:ext>
                </a:extLst>
              </a:tr>
              <a:tr h="328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ookman Old Style" panose="02050604050505020204" pitchFamily="18" charset="0"/>
                        </a:rPr>
                        <a:t>line-height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ookman Old Style" panose="02050604050505020204" pitchFamily="18" charset="0"/>
                        </a:rPr>
                        <a:t>Sets distance between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609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241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13AF-ADEC-7238-3C4F-A648A870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C825-F596-2B5B-E1AF-1ABCC20A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Border Properties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8CBA0-1239-BFAA-7371-5076EE46D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A border is the outline drawn around an HTML element. It visually separates content from other elements.</a:t>
            </a:r>
          </a:p>
          <a:p>
            <a:pPr marL="0" indent="0" algn="just">
              <a:buNone/>
            </a:pPr>
            <a:endParaRPr lang="en-IN" sz="2200" dirty="0"/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Border Properties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63F805-D2EA-4C63-2E8E-FBE7F816C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8086"/>
              </p:ext>
            </p:extLst>
          </p:nvPr>
        </p:nvGraphicFramePr>
        <p:xfrm>
          <a:off x="457200" y="2855360"/>
          <a:ext cx="8229600" cy="1981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59920471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473373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29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border-width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Thickness of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51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border-style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Style of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70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border-color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Border color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23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Shorthand 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666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692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6C24-C785-3B24-8920-3A9EF0E9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4EA94-F05E-4367-8FE3-85DA2E58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Rounded Borders (border-radius)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7CD87-F415-B3E8-4D14-B749C185C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The border-radius property creates rounded corners for HTML elements.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border-radius:20px;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CSS: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button{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border:2px solid blue;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border-radius:15px;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89000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4334D-190B-C274-A060-276C6767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1C03-C348-9156-463B-BFED81F9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Box Model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839C4-5612-5683-4DBD-7F057634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/>
              <a:t>Every HTML element is treated as a </a:t>
            </a:r>
            <a:r>
              <a:rPr lang="en-IN" sz="2200" b="1" dirty="0"/>
              <a:t>rectangular box</a:t>
            </a:r>
            <a:r>
              <a:rPr lang="en-IN" sz="2200" dirty="0"/>
              <a:t>.</a:t>
            </a:r>
          </a:p>
          <a:p>
            <a:pPr marL="0" indent="0">
              <a:buNone/>
            </a:pPr>
            <a:r>
              <a:rPr lang="en-IN" sz="2200" dirty="0"/>
              <a:t>The CSS Box Model defines the space occupied by an element.</a:t>
            </a:r>
          </a:p>
          <a:p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DBFFBD-2813-DD0C-109D-90151AD37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636068"/>
              </p:ext>
            </p:extLst>
          </p:nvPr>
        </p:nvGraphicFramePr>
        <p:xfrm>
          <a:off x="533400" y="2286000"/>
          <a:ext cx="8229600" cy="2895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20447708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4934514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man Old Style" panose="02050604050505020204" pitchFamily="18" charset="0"/>
                        </a:rPr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man Old Style" panose="020506040505050202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4852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Actual text/image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76371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Padding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Space inside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10273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man Old Style" panose="02050604050505020204" pitchFamily="18" charset="0"/>
                        </a:rPr>
                        <a:t>Boundary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45703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man Old Style" panose="02050604050505020204" pitchFamily="18" charset="0"/>
                        </a:rPr>
                        <a:t>Space outside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805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562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6A8A-1817-F456-BDFD-0AAE103D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DB91-3593-626B-42BE-67441EA2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Margin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CD582-3C68-3BA5-F0AB-6DE83D7E6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/>
              <a:t>Margin is the </a:t>
            </a:r>
            <a:r>
              <a:rPr lang="en-IN" sz="2200" b="1" dirty="0"/>
              <a:t>outer space</a:t>
            </a:r>
            <a:r>
              <a:rPr lang="en-IN" sz="2200" dirty="0"/>
              <a:t> around an HTML element.</a:t>
            </a:r>
          </a:p>
          <a:p>
            <a:pPr marL="0" indent="0">
              <a:buNone/>
            </a:pPr>
            <a:r>
              <a:rPr lang="en-IN" sz="2200" dirty="0"/>
              <a:t>It creates distance between </a:t>
            </a:r>
            <a:r>
              <a:rPr lang="en-IN" sz="2200" dirty="0" err="1"/>
              <a:t>neighboring</a:t>
            </a:r>
            <a:r>
              <a:rPr lang="en-IN" sz="2200" dirty="0"/>
              <a:t> elements.</a:t>
            </a:r>
          </a:p>
          <a:p>
            <a:pPr marL="0" indent="0">
              <a:buNone/>
            </a:pPr>
            <a:r>
              <a:rPr lang="en-US" sz="2200" b="1" dirty="0"/>
              <a:t>Element A</a:t>
            </a:r>
          </a:p>
          <a:p>
            <a:pPr marL="0" indent="0">
              <a:buNone/>
            </a:pPr>
            <a:r>
              <a:rPr lang="en-US" sz="2200" b="1" dirty="0"/>
              <a:t>&lt;------ Margin ------&gt;</a:t>
            </a:r>
          </a:p>
          <a:p>
            <a:pPr marL="0" indent="0">
              <a:buNone/>
            </a:pPr>
            <a:r>
              <a:rPr lang="en-US" sz="2200" b="1" dirty="0"/>
              <a:t>Element B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IN" sz="2200" b="1" dirty="0">
                <a:solidFill>
                  <a:srgbClr val="00B050"/>
                </a:solidFill>
              </a:rPr>
              <a:t>Individual Margins</a:t>
            </a:r>
          </a:p>
          <a:p>
            <a:r>
              <a:rPr lang="en-IN" sz="2200" dirty="0"/>
              <a:t>margin-top</a:t>
            </a:r>
          </a:p>
          <a:p>
            <a:r>
              <a:rPr lang="en-IN" sz="2200" dirty="0"/>
              <a:t>margin-right</a:t>
            </a:r>
          </a:p>
          <a:p>
            <a:r>
              <a:rPr lang="en-IN" sz="2200" dirty="0"/>
              <a:t>margin-bottom</a:t>
            </a:r>
          </a:p>
          <a:p>
            <a:r>
              <a:rPr lang="en-IN" sz="2400" dirty="0"/>
              <a:t>margin-left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9260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A233E-30D1-653E-7B0E-E1C23E05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C6C9-D86C-D348-F9E6-FD5F8789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Padding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9ADC-E7EF-DE84-8C79-A6983E602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Padding is the </a:t>
            </a:r>
            <a:r>
              <a:rPr lang="en-IN" sz="2200" b="1" dirty="0"/>
              <a:t>space between the content and the border</a:t>
            </a:r>
            <a:r>
              <a:rPr lang="en-IN" sz="2200" dirty="0"/>
              <a:t>.</a:t>
            </a:r>
          </a:p>
          <a:p>
            <a:pPr marL="0" indent="0" algn="just">
              <a:buNone/>
            </a:pPr>
            <a:r>
              <a:rPr lang="en-IN" sz="2200" dirty="0"/>
              <a:t>It increases the internal spacing of an element.</a:t>
            </a: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div{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padding:20px;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Difference</a:t>
            </a:r>
          </a:p>
          <a:p>
            <a:pPr marL="0" indent="0" algn="just">
              <a:buNone/>
            </a:pPr>
            <a:endParaRPr lang="en-IN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B0F23C-1BD4-9D85-ED01-7EAF26DAF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761141"/>
              </p:ext>
            </p:extLst>
          </p:nvPr>
        </p:nvGraphicFramePr>
        <p:xfrm>
          <a:off x="304800" y="4191000"/>
          <a:ext cx="8229600" cy="11887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28188056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300819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Padding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679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Outside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Inside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77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Creates distance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Creates inner 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942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0407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C50EB-A009-2BA5-7F22-DB2F9BC5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7DB2-405F-F394-808D-EAFB27E49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Width and Height Properties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508D-3803-D5E9-66BD-EDEA0EAC4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These properties define the size of HTML elements.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div{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width:300px;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height:150px;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95282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0249-55BD-12C6-BB96-8B1B754A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10392-D94C-D099-1648-17068CA6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Box Model Example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D27F1-1597-7547-82D0-CA82CD081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b="1" dirty="0">
                <a:solidFill>
                  <a:srgbClr val="00B050"/>
                </a:solidFill>
              </a:rPr>
              <a:t>HTML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&lt;div class="box"&gt;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CSS Box Model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&lt;/div&gt;</a:t>
            </a:r>
          </a:p>
          <a:p>
            <a:pPr marL="0" indent="0" algn="just">
              <a:buNone/>
            </a:pPr>
            <a:r>
              <a:rPr lang="en-IN" sz="1800" b="1" dirty="0">
                <a:solidFill>
                  <a:srgbClr val="00B050"/>
                </a:solidFill>
              </a:rPr>
              <a:t>CSS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.box{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width:250px;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padding:20px;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border:5px solid blue;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margin:30px;</a:t>
            </a:r>
          </a:p>
          <a:p>
            <a:pPr marL="0" indent="0" algn="just">
              <a:buNone/>
            </a:pPr>
            <a:r>
              <a:rPr lang="en-IN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box-sizing:border-box</a:t>
            </a: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65373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D8F1-7E25-5406-9931-77807221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C03F-BC89-F40E-7484-3154537B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Opacity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21F83-A0EF-34EC-EB4F-37DEBE85D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4419600"/>
          </a:xfrm>
        </p:spPr>
        <p:txBody>
          <a:bodyPr numCol="2"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The </a:t>
            </a:r>
            <a:r>
              <a:rPr lang="en-IN" sz="2200" b="1" dirty="0"/>
              <a:t>opacity</a:t>
            </a:r>
            <a:r>
              <a:rPr lang="en-IN" sz="2200" dirty="0"/>
              <a:t> property specifies the transparency level of an HTML element.</a:t>
            </a:r>
          </a:p>
          <a:p>
            <a:pPr marL="0" indent="0" algn="just">
              <a:buNone/>
            </a:pPr>
            <a:r>
              <a:rPr lang="en-IN" sz="2200" dirty="0"/>
              <a:t>Opacity values range from </a:t>
            </a:r>
            <a:r>
              <a:rPr lang="en-IN" sz="2200" b="1" dirty="0"/>
              <a:t>0.0 to 1.0</a:t>
            </a:r>
            <a:r>
              <a:rPr lang="en-IN" sz="2200" dirty="0"/>
              <a:t> </a:t>
            </a:r>
          </a:p>
          <a:p>
            <a:pPr marL="0" indent="0" algn="just">
              <a:buNone/>
            </a:pPr>
            <a:r>
              <a:rPr lang="en-IN" sz="2200" b="1" dirty="0"/>
              <a:t>0</a:t>
            </a:r>
            <a:r>
              <a:rPr lang="en-IN" sz="2200" dirty="0"/>
              <a:t> → Completely transparent (Invisible)  </a:t>
            </a:r>
          </a:p>
          <a:p>
            <a:pPr marL="0" indent="0" algn="just">
              <a:buNone/>
            </a:pPr>
            <a:r>
              <a:rPr lang="en-IN" sz="2200" b="1" dirty="0"/>
              <a:t>1</a:t>
            </a:r>
            <a:r>
              <a:rPr lang="en-IN" sz="2200" dirty="0"/>
              <a:t> → Completely visible (Default)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400" dirty="0"/>
              <a:t>selector{</a:t>
            </a:r>
          </a:p>
          <a:p>
            <a:pPr marL="0" indent="0" algn="just">
              <a:buNone/>
            </a:pPr>
            <a:r>
              <a:rPr lang="en-IN" sz="2400" dirty="0"/>
              <a:t>    </a:t>
            </a:r>
            <a:r>
              <a:rPr lang="en-IN" sz="2400" dirty="0" err="1"/>
              <a:t>opacity:value</a:t>
            </a:r>
            <a:r>
              <a:rPr lang="en-IN" sz="2400" dirty="0"/>
              <a:t>;</a:t>
            </a:r>
          </a:p>
          <a:p>
            <a:pPr marL="0" indent="0" algn="just">
              <a:buNone/>
            </a:pPr>
            <a:r>
              <a:rPr lang="en-IN" sz="2400" dirty="0"/>
              <a:t>       }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    Example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ea typeface="+mj-ea"/>
                <a:cs typeface="+mj-cs"/>
              </a:rPr>
              <a:t>          </a:t>
            </a:r>
            <a:r>
              <a:rPr lang="en-IN" sz="2200" dirty="0" err="1">
                <a:solidFill>
                  <a:srgbClr val="002060"/>
                </a:solidFill>
                <a:ea typeface="+mj-ea"/>
                <a:cs typeface="+mj-cs"/>
              </a:rPr>
              <a:t>img</a:t>
            </a:r>
            <a:r>
              <a:rPr lang="en-IN" sz="2200" dirty="0">
                <a:solidFill>
                  <a:srgbClr val="002060"/>
                </a:solidFill>
                <a:ea typeface="+mj-ea"/>
                <a:cs typeface="+mj-cs"/>
              </a:rPr>
              <a:t>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ea typeface="+mj-ea"/>
                <a:cs typeface="+mj-cs"/>
              </a:rPr>
              <a:t>                opacity:0.5;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ea typeface="+mj-ea"/>
                <a:cs typeface="+mj-cs"/>
              </a:rPr>
              <a:t>           }</a:t>
            </a:r>
          </a:p>
        </p:txBody>
      </p:sp>
    </p:spTree>
    <p:extLst>
      <p:ext uri="{BB962C8B-B14F-4D97-AF65-F5344CB8AC3E}">
        <p14:creationId xmlns:p14="http://schemas.microsoft.com/office/powerpoint/2010/main" val="1789619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B921-394A-526F-E87B-7D39FD1E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5618-6196-7C27-8C04-B62AFFBF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Opacity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CE127-6361-8F16-1770-8CE2E56F4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3352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800" b="1" dirty="0">
                <a:solidFill>
                  <a:srgbClr val="00B050"/>
                </a:solidFill>
              </a:rPr>
              <a:t>Visual Representation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Opacity = 1.0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████████████████</a:t>
            </a:r>
          </a:p>
          <a:p>
            <a:pPr marL="0" indent="0" algn="ctr">
              <a:buNone/>
            </a:pPr>
            <a:endParaRPr lang="en-IN" sz="18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Opacity = 0.75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▓▓▓▓▓▓▓▓▓▓▓▓▓▓</a:t>
            </a:r>
          </a:p>
          <a:p>
            <a:pPr marL="0" indent="0" algn="ctr">
              <a:buNone/>
            </a:pPr>
            <a:endParaRPr lang="en-IN" sz="18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Opacity = 0.5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▒▒▒▒▒▒▒▒▒▒▒▒▒▒</a:t>
            </a:r>
          </a:p>
          <a:p>
            <a:pPr marL="0" indent="0" algn="ctr">
              <a:buNone/>
            </a:pPr>
            <a:endParaRPr lang="en-IN" sz="18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Opacity = 0.25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░░░░░░░░░░░░░░</a:t>
            </a:r>
          </a:p>
          <a:p>
            <a:pPr marL="0" indent="0" algn="ctr">
              <a:buNone/>
            </a:pPr>
            <a:endParaRPr lang="en-IN" sz="18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Opacity = 0</a:t>
            </a:r>
          </a:p>
          <a:p>
            <a:pPr marL="0" indent="0" algn="ctr">
              <a:buNone/>
            </a:pPr>
            <a:r>
              <a:rPr lang="en-IN" sz="18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Invisible</a:t>
            </a:r>
          </a:p>
        </p:txBody>
      </p:sp>
    </p:spTree>
    <p:extLst>
      <p:ext uri="{BB962C8B-B14F-4D97-AF65-F5344CB8AC3E}">
        <p14:creationId xmlns:p14="http://schemas.microsoft.com/office/powerpoint/2010/main" val="38484866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BC9B-02F6-761A-B27A-467AFCB72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5A40-0ED2-336B-23E4-A1E828A7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Pseudo Classes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DA55-4708-67CC-2FE3-3D4F0077B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3" y="1143000"/>
            <a:ext cx="8738914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A </a:t>
            </a:r>
            <a:r>
              <a:rPr lang="en-IN" sz="2200" b="1" dirty="0"/>
              <a:t>Pseudo Class</a:t>
            </a:r>
            <a:r>
              <a:rPr lang="en-IN" sz="2200" dirty="0"/>
              <a:t> is used to define the </a:t>
            </a:r>
            <a:r>
              <a:rPr lang="en-IN" sz="2200" b="1" dirty="0"/>
              <a:t>special state of an HTML element</a:t>
            </a:r>
            <a:r>
              <a:rPr lang="en-IN" sz="2200" dirty="0"/>
              <a:t>.</a:t>
            </a:r>
          </a:p>
          <a:p>
            <a:pPr marL="0" indent="0" algn="just">
              <a:buNone/>
            </a:pPr>
            <a:r>
              <a:rPr lang="en-IN" sz="2200" dirty="0"/>
              <a:t>It applies styles based on </a:t>
            </a:r>
            <a:r>
              <a:rPr lang="en-IN" sz="2200" b="1" dirty="0"/>
              <a:t>user interaction</a:t>
            </a:r>
            <a:r>
              <a:rPr lang="en-IN" sz="2200" dirty="0"/>
              <a:t> or </a:t>
            </a:r>
            <a:r>
              <a:rPr lang="en-IN" sz="2200" b="1" dirty="0"/>
              <a:t>element position</a:t>
            </a:r>
            <a:r>
              <a:rPr lang="en-IN" sz="2200" dirty="0"/>
              <a:t>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IN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selector:pseudo-class</a:t>
            </a: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{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IN" sz="22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property:value</a:t>
            </a: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IN" sz="2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Examples</a:t>
            </a:r>
          </a:p>
          <a:p>
            <a:pPr marL="0" indent="0">
              <a:buNone/>
            </a:pPr>
            <a:r>
              <a:rPr lang="en-US" sz="2200" dirty="0" err="1">
                <a:solidFill>
                  <a:srgbClr val="002060"/>
                </a:solidFill>
                <a:ea typeface="+mj-ea"/>
                <a:cs typeface="+mj-cs"/>
              </a:rPr>
              <a:t>button:hover</a:t>
            </a:r>
            <a:r>
              <a:rPr lang="en-US" sz="2200" dirty="0">
                <a:solidFill>
                  <a:srgbClr val="002060"/>
                </a:solidFill>
                <a:ea typeface="+mj-ea"/>
                <a:cs typeface="+mj-cs"/>
              </a:rPr>
              <a:t>,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dirty="0" err="1">
                <a:solidFill>
                  <a:srgbClr val="002060"/>
                </a:solidFill>
              </a:rPr>
              <a:t>input:focus</a:t>
            </a:r>
            <a:r>
              <a:rPr lang="en-US" sz="2200" dirty="0">
                <a:solidFill>
                  <a:srgbClr val="002060"/>
                </a:solidFill>
              </a:rPr>
              <a:t>, a:visited, a:active, </a:t>
            </a:r>
            <a:r>
              <a:rPr lang="en-US" sz="2200" dirty="0" err="1">
                <a:solidFill>
                  <a:srgbClr val="002060"/>
                </a:solidFill>
              </a:rPr>
              <a:t>li:first-child</a:t>
            </a:r>
            <a:endParaRPr lang="en-IN" sz="22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9374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Frequently Used Pseudo Classes</a:t>
            </a:r>
            <a:endParaRPr lang="en-US" sz="3200" dirty="0">
              <a:solidFill>
                <a:srgbClr val="00B05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711880-68AC-B670-F641-031497D0C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001707"/>
              </p:ext>
            </p:extLst>
          </p:nvPr>
        </p:nvGraphicFramePr>
        <p:xfrm>
          <a:off x="457200" y="1539240"/>
          <a:ext cx="8229600" cy="356180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5860589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305751581"/>
                    </a:ext>
                  </a:extLst>
                </a:gridCol>
              </a:tblGrid>
              <a:tr h="47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Pseudo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Bookman Old Style" panose="020506040505050202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06477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:hover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Mouse pointer moves over an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326675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:focus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Input field receives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881113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:active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Element is being clicked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27493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:visited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Visited hyperlinks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517394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:link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ookman Old Style" panose="02050604050505020204" pitchFamily="18" charset="0"/>
                        </a:rPr>
                        <a:t>Unvisited hyperlinks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819038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:first-child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ookman Old Style" panose="02050604050505020204" pitchFamily="18" charset="0"/>
                        </a:rPr>
                        <a:t>First child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193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504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663C4-C5FA-C385-0AF3-E4141C63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A1E5-F7C6-B05E-ED6C-FF27AA7F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15" y="22261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CSS Pseudo Elements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4231-11D9-6B32-9534-9F3A95D7C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4" y="1143000"/>
            <a:ext cx="8738914" cy="3352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Pseudo Elements style </a:t>
            </a:r>
            <a:r>
              <a:rPr lang="en-IN" sz="2200" b="1" dirty="0"/>
              <a:t>specific parts</a:t>
            </a:r>
            <a:r>
              <a:rPr lang="en-IN" sz="2200" dirty="0"/>
              <a:t> of an HTML element instead of the whole element.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50"/>
                </a:solidFill>
              </a:rPr>
              <a:t>Syntax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selector::pseudo-element{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A00EB2-2872-1BE6-DD91-0916AC8E6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98805"/>
              </p:ext>
            </p:extLst>
          </p:nvPr>
        </p:nvGraphicFramePr>
        <p:xfrm>
          <a:off x="457200" y="3276600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53962205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75051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Bookman Old Style" panose="02050604050505020204" pitchFamily="18" charset="0"/>
                        </a:rPr>
                        <a:t>Pseudo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Bookman Old Style" panose="020506040505050202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95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::before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Inserts content before an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740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::after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Inserts content after an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063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::first-letter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Styles the first 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324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::first-line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ookman Old Style" panose="02050604050505020204" pitchFamily="18" charset="0"/>
                        </a:rPr>
                        <a:t>Styles the first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99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::selection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ookman Old Style" panose="02050604050505020204" pitchFamily="18" charset="0"/>
                        </a:rPr>
                        <a:t>Styles selected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28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155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7D77-BDAF-7E91-264C-30D156CF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CC9A-C91A-DDC4-B35C-D9DB7424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44" y="-29110"/>
            <a:ext cx="8019978" cy="994741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Examples of Pseudo Elements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3985-F6A3-3C79-9019-5AC4E3297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44" y="1143000"/>
            <a:ext cx="8738914" cy="4419600"/>
          </a:xfrm>
        </p:spPr>
        <p:txBody>
          <a:bodyPr numCol="2">
            <a:no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 1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p::first-letter{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font-size:40px;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color:red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}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</a:rPr>
              <a:t>Output</a:t>
            </a:r>
          </a:p>
          <a:p>
            <a:pPr marL="0" indent="0">
              <a:buNone/>
            </a:pPr>
            <a:r>
              <a:rPr lang="en-IN" sz="2400" dirty="0"/>
              <a:t>The </a:t>
            </a:r>
            <a:r>
              <a:rPr lang="en-IN" sz="2400" b="1" dirty="0"/>
              <a:t>first letter</a:t>
            </a:r>
            <a:r>
              <a:rPr lang="en-IN" sz="2400" dirty="0"/>
              <a:t> becomes large and red.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b="1" dirty="0">
                <a:solidFill>
                  <a:srgbClr val="00B050"/>
                </a:solidFill>
              </a:rPr>
              <a:t>Example 2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</a:rPr>
              <a:t>p::first-line{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002060"/>
                </a:solidFill>
              </a:rPr>
              <a:t>font-weight:bold</a:t>
            </a:r>
            <a:r>
              <a:rPr lang="en-US" sz="2400" dirty="0">
                <a:solidFill>
                  <a:srgbClr val="00206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002060"/>
                </a:solidFill>
              </a:rPr>
              <a:t>}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B050"/>
                </a:solidFill>
              </a:rPr>
              <a:t>Output:</a:t>
            </a:r>
          </a:p>
          <a:p>
            <a:pPr marL="0" indent="0" algn="just">
              <a:buNone/>
            </a:pPr>
            <a:r>
              <a:rPr lang="en-IN" sz="2400" dirty="0"/>
              <a:t>Only the first line becomes bold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395083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7ADA-41A1-467D-6AEB-15192075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Common Mistakes in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B3A1F-D24B-9B3A-363A-FB4DCBF69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n-IN" sz="2400" dirty="0"/>
              <a:t>❌ </a:t>
            </a:r>
            <a:r>
              <a:rPr lang="en-IN" sz="2400" b="1" dirty="0"/>
              <a:t>Missing semicolon</a:t>
            </a:r>
          </a:p>
          <a:p>
            <a:pPr marL="0" indent="0">
              <a:buNone/>
            </a:pPr>
            <a:r>
              <a:rPr lang="en-IN" sz="2400" dirty="0" err="1"/>
              <a:t>color:red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Correct</a:t>
            </a:r>
          </a:p>
          <a:p>
            <a:pPr marL="0" indent="0">
              <a:buNone/>
            </a:pPr>
            <a:r>
              <a:rPr lang="en-IN" sz="2400" dirty="0" err="1"/>
              <a:t>color:red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❌ </a:t>
            </a:r>
            <a:r>
              <a:rPr lang="en-IN" sz="2400" b="1" dirty="0"/>
              <a:t>Wrong Selector</a:t>
            </a:r>
          </a:p>
          <a:p>
            <a:pPr marL="0" indent="0">
              <a:buNone/>
            </a:pPr>
            <a:r>
              <a:rPr lang="en-IN" sz="2400" dirty="0"/>
              <a:t>heading{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r>
              <a:rPr lang="en-IN" sz="2400" b="1" dirty="0"/>
              <a:t>Correct</a:t>
            </a:r>
          </a:p>
          <a:p>
            <a:pPr marL="0" indent="0">
              <a:buNone/>
            </a:pPr>
            <a:r>
              <a:rPr lang="en-IN" sz="2400" dirty="0"/>
              <a:t>h1{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r>
              <a:rPr lang="en-IN" sz="2400" dirty="0"/>
              <a:t>❌ </a:t>
            </a:r>
            <a:r>
              <a:rPr lang="en-IN" sz="2400" b="1" dirty="0"/>
              <a:t>Forgetting units</a:t>
            </a:r>
          </a:p>
          <a:p>
            <a:pPr marL="0" indent="0">
              <a:buNone/>
            </a:pPr>
            <a:r>
              <a:rPr lang="en-IN" sz="2400" dirty="0"/>
              <a:t>width:200;</a:t>
            </a:r>
          </a:p>
          <a:p>
            <a:pPr marL="0" indent="0">
              <a:buNone/>
            </a:pPr>
            <a:r>
              <a:rPr lang="en-IN" sz="2400" dirty="0"/>
              <a:t>Correct</a:t>
            </a:r>
          </a:p>
          <a:p>
            <a:pPr marL="0" indent="0">
              <a:buNone/>
            </a:pPr>
            <a:r>
              <a:rPr lang="en-IN" sz="2400" dirty="0"/>
              <a:t>width:200px;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EFCFD-564A-8825-84B1-5A073837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CSE-367 Data Visualization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7676E-27FE-38B2-10D3-254B8058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37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7410" name="Picture 2" descr="Clustering of graphs and search of assemblag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17778"/>
          <a:stretch/>
        </p:blipFill>
        <p:spPr bwMode="auto">
          <a:xfrm>
            <a:off x="-1" y="457200"/>
            <a:ext cx="9134477" cy="518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D4F69F-5146-49E3-921C-42C19CDF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CSE-367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639119821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olstice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175299C810F543A894A18A31124B54" ma:contentTypeVersion="0" ma:contentTypeDescription="Create a new document." ma:contentTypeScope="" ma:versionID="22d0fca2b855f7653c56128679ddcbb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bc2f382e08b3cfae9557b5bec588dd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068A015-EA2A-4F9C-ACA1-E3AB1F8E79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4358</TotalTime>
  <Words>2506</Words>
  <Application>Microsoft Office PowerPoint</Application>
  <PresentationFormat>On-screen Show (4:3)</PresentationFormat>
  <Paragraphs>729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Bookman Old Style</vt:lpstr>
      <vt:lpstr>Calibri</vt:lpstr>
      <vt:lpstr>Cambria</vt:lpstr>
      <vt:lpstr>Times New Roman</vt:lpstr>
      <vt:lpstr>Thiru_Regular</vt:lpstr>
      <vt:lpstr>PowerPoint Presentation</vt:lpstr>
      <vt:lpstr>Module II - Syllabus </vt:lpstr>
      <vt:lpstr>What is CSS?</vt:lpstr>
      <vt:lpstr>What is CSS?</vt:lpstr>
      <vt:lpstr>Why Do We Need CSS?</vt:lpstr>
      <vt:lpstr>How CSS Works</vt:lpstr>
      <vt:lpstr>How CSS Works</vt:lpstr>
      <vt:lpstr>CSS Syntax</vt:lpstr>
      <vt:lpstr>First CSS Program</vt:lpstr>
      <vt:lpstr>First CSS Program</vt:lpstr>
      <vt:lpstr>Defining and Applying CSS Styles</vt:lpstr>
      <vt:lpstr>Defining and Applying CSS Styles</vt:lpstr>
      <vt:lpstr>Creating Style Sheets</vt:lpstr>
      <vt:lpstr>Inline Style Sheet</vt:lpstr>
      <vt:lpstr>Internal Style Sheet</vt:lpstr>
      <vt:lpstr>Internal Style Sheet</vt:lpstr>
      <vt:lpstr>External Style Sheet</vt:lpstr>
      <vt:lpstr>Comparison of CSS Types</vt:lpstr>
      <vt:lpstr>CSS Cascading Order</vt:lpstr>
      <vt:lpstr>CSS Comments</vt:lpstr>
      <vt:lpstr>Introduction to CSS Selectors</vt:lpstr>
      <vt:lpstr>Element Selector</vt:lpstr>
      <vt:lpstr>Element Selector</vt:lpstr>
      <vt:lpstr>Class Selector</vt:lpstr>
      <vt:lpstr>Example</vt:lpstr>
      <vt:lpstr>ID Selector</vt:lpstr>
      <vt:lpstr>Example</vt:lpstr>
      <vt:lpstr>Universal Selector</vt:lpstr>
      <vt:lpstr>Group Selector</vt:lpstr>
      <vt:lpstr>Descendant Selector</vt:lpstr>
      <vt:lpstr>Child Selector (&gt;)</vt:lpstr>
      <vt:lpstr>Attribute Selector</vt:lpstr>
      <vt:lpstr>Selector Specificity</vt:lpstr>
      <vt:lpstr>Comparison of CSS Selectors</vt:lpstr>
      <vt:lpstr>CSS Font Properties</vt:lpstr>
      <vt:lpstr>CSS Text Properties</vt:lpstr>
      <vt:lpstr>CSS Border Properties</vt:lpstr>
      <vt:lpstr>Rounded Borders (border-radius)</vt:lpstr>
      <vt:lpstr>CSS Box Model</vt:lpstr>
      <vt:lpstr>Margin</vt:lpstr>
      <vt:lpstr>Padding</vt:lpstr>
      <vt:lpstr>Width and Height Properties</vt:lpstr>
      <vt:lpstr>Box Model Example</vt:lpstr>
      <vt:lpstr>CSS Opacity</vt:lpstr>
      <vt:lpstr>CSS Opacity</vt:lpstr>
      <vt:lpstr>CSS Pseudo Classes</vt:lpstr>
      <vt:lpstr>Frequently Used Pseudo Classes</vt:lpstr>
      <vt:lpstr>CSS Pseudo Elements</vt:lpstr>
      <vt:lpstr>Examples of Pseudo Elements</vt:lpstr>
      <vt:lpstr>Common Mistakes in CSS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dhivya</dc:creator>
  <cp:lastModifiedBy>Dhivya Sai</cp:lastModifiedBy>
  <cp:revision>375</cp:revision>
  <dcterms:created xsi:type="dcterms:W3CDTF">2006-08-16T00:00:00Z</dcterms:created>
  <dcterms:modified xsi:type="dcterms:W3CDTF">2026-07-23T06:45:53Z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0x0101001E175299C810F543A894A18A31124B54</vt:lpwstr>
  </property>
</Properties>
</file>