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30"/>
  </p:notesMasterIdLst>
  <p:handoutMasterIdLst>
    <p:handoutMasterId r:id="rId31"/>
  </p:handoutMasterIdLst>
  <p:sldIdLst>
    <p:sldId id="256" r:id="rId5"/>
    <p:sldId id="426" r:id="rId6"/>
    <p:sldId id="481" r:id="rId7"/>
    <p:sldId id="465" r:id="rId8"/>
    <p:sldId id="482" r:id="rId9"/>
    <p:sldId id="483" r:id="rId10"/>
    <p:sldId id="484" r:id="rId11"/>
    <p:sldId id="485" r:id="rId12"/>
    <p:sldId id="486" r:id="rId13"/>
    <p:sldId id="468" r:id="rId14"/>
    <p:sldId id="469" r:id="rId15"/>
    <p:sldId id="470" r:id="rId16"/>
    <p:sldId id="471" r:id="rId17"/>
    <p:sldId id="472" r:id="rId18"/>
    <p:sldId id="473" r:id="rId19"/>
    <p:sldId id="475" r:id="rId20"/>
    <p:sldId id="474" r:id="rId21"/>
    <p:sldId id="476" r:id="rId22"/>
    <p:sldId id="478" r:id="rId23"/>
    <p:sldId id="477" r:id="rId24"/>
    <p:sldId id="479" r:id="rId25"/>
    <p:sldId id="490" r:id="rId26"/>
    <p:sldId id="492" r:id="rId27"/>
    <p:sldId id="491" r:id="rId28"/>
    <p:sldId id="480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24494-34C8-4B85-95EC-EFB8BC02FE7F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0F90C-8AF4-4E3E-8FFD-30D2A3D62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80529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911B5A-781F-4560-A1CC-D59FB8C1A7F6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4ADE7-A6F4-4046-A847-5DCBEEEA6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11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24ADE7-A6F4-4046-A847-5DCBEEEA65F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980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AC5A33-9226-4376-B906-4B0C7752F3F3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652140-DF33-42B2-90EF-9E9B8553CD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51"/>
          <a:stretch/>
        </p:blipFill>
        <p:spPr bwMode="auto">
          <a:xfrm>
            <a:off x="0" y="5616575"/>
            <a:ext cx="9144000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9957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24AADF8-674F-4E37-AEDC-92DD750D1173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227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0B81AED-7B70-496A-A12E-823AEFD5C0BB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071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27E8D6D-3A91-4BD0-9248-7F8660A8F09B}" type="datetime1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585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BBFFE7-CAC9-497A-AAF7-C2922785C649}" type="datetime1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612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E3908D-C920-449F-B38A-64963E2B48E8}" type="datetime1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03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EFBD9F8-5A17-427A-BB04-9A98943668E8}" type="datetime1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572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2DEC6A-E0EE-4392-B80F-E55C5E1190FC}" type="datetime1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676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2A688D0-D902-44CB-BD46-3F634243F429}" type="datetime1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32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95CB118-406F-4C5F-971C-D01C2075A44F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76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891AAB5-29E3-454A-8B27-82FAF9AA8D2C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411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306878"/>
            <a:ext cx="82296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10762"/>
            <a:ext cx="8229600" cy="4680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81075A-DF51-44C7-B71F-F968B902E6D0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56AC99-D25B-44D7-B4D4-56DFBA9A94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51"/>
          <a:stretch/>
        </p:blipFill>
        <p:spPr bwMode="auto">
          <a:xfrm>
            <a:off x="0" y="5616575"/>
            <a:ext cx="9144000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B5F36A5-15D8-4D7C-9B1D-11E3C685F0D5}"/>
              </a:ext>
            </a:extLst>
          </p:cNvPr>
          <p:cNvCxnSpPr>
            <a:cxnSpLocks/>
          </p:cNvCxnSpPr>
          <p:nvPr userDrawn="1"/>
        </p:nvCxnSpPr>
        <p:spPr>
          <a:xfrm>
            <a:off x="72000" y="1066800"/>
            <a:ext cx="9000000" cy="0"/>
          </a:xfrm>
          <a:prstGeom prst="line">
            <a:avLst/>
          </a:prstGeom>
          <a:ln w="50800" cmpd="thinThick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922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Bookman Old Style" panose="02050604050505020204" pitchFamily="18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brainkart.com/subject/Web-Technology_169/" TargetMode="Externa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6E4517-6C23-48B3-9024-02BD16E62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99F73C4-29F8-4839-BE55-9531647113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2460" y="0"/>
            <a:ext cx="7779079" cy="130935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5994CEF-AC9F-45F1-B856-7E13245F08BF}"/>
              </a:ext>
            </a:extLst>
          </p:cNvPr>
          <p:cNvSpPr txBox="1">
            <a:spLocks/>
          </p:cNvSpPr>
          <p:nvPr/>
        </p:nvSpPr>
        <p:spPr bwMode="auto">
          <a:xfrm>
            <a:off x="0" y="1329546"/>
            <a:ext cx="9144000" cy="1219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none" lIns="63500" tIns="25400" rIns="63500" bIns="254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Bookman Old Style" panose="02050604050505020204" pitchFamily="18" charset="0"/>
                <a:ea typeface="+mj-ea"/>
                <a:cs typeface="+mj-cs"/>
              </a:defRPr>
            </a:lvl1pPr>
            <a:lvl2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2pPr>
            <a:lvl3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3pPr>
            <a:lvl4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4pPr>
            <a:lvl5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5pPr>
            <a:lvl6pPr marL="3429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6pPr>
            <a:lvl7pPr marL="6858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7pPr>
            <a:lvl8pPr marL="10287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8pPr>
            <a:lvl9pPr marL="13716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IN" sz="28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CSE2067 - Web Technology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67D772C-CE7C-4E6F-8FFF-BDAD62483336}"/>
              </a:ext>
            </a:extLst>
          </p:cNvPr>
          <p:cNvSpPr txBox="1">
            <a:spLocks/>
          </p:cNvSpPr>
          <p:nvPr/>
        </p:nvSpPr>
        <p:spPr bwMode="auto">
          <a:xfrm>
            <a:off x="706474" y="5613718"/>
            <a:ext cx="7772400" cy="8996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152400" indent="-152400" algn="l" rtl="0" eaLnBrk="0" fontAlgn="base" hangingPunct="0">
              <a:lnSpc>
                <a:spcPct val="75000"/>
              </a:lnSpc>
              <a:spcBef>
                <a:spcPct val="65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1800" b="1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514350" indent="-142875" algn="l" rtl="0" eaLnBrk="0" fontAlgn="base" hangingPunct="0">
              <a:lnSpc>
                <a:spcPct val="85000"/>
              </a:lnSpc>
              <a:spcBef>
                <a:spcPct val="40000"/>
              </a:spcBef>
              <a:spcAft>
                <a:spcPct val="0"/>
              </a:spcAft>
              <a:buSzPct val="100000"/>
              <a:buFont typeface="Courier New" pitchFamily="49" charset="0"/>
              <a:buChar char="o"/>
              <a:defRPr sz="1800" b="1">
                <a:solidFill>
                  <a:schemeClr val="tx1"/>
                </a:solidFill>
                <a:latin typeface="Bookman Old Style" panose="02050604050505020204" pitchFamily="18" charset="0"/>
              </a:defRPr>
            </a:lvl2pPr>
            <a:lvl3pPr marL="942975" indent="-257175" algn="l" rtl="0" eaLnBrk="0" fontAlgn="base" hangingPunct="0">
              <a:lnSpc>
                <a:spcPct val="85000"/>
              </a:lnSpc>
              <a:spcBef>
                <a:spcPct val="4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sz="1800" b="1">
                <a:solidFill>
                  <a:schemeClr val="tx1"/>
                </a:solidFill>
                <a:latin typeface="Bookman Old Style" panose="02050604050505020204" pitchFamily="18" charset="0"/>
              </a:defRPr>
            </a:lvl3pPr>
            <a:lvl4pPr marL="12858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Bookman Old Style" panose="02050604050505020204" pitchFamily="18" charset="0"/>
              </a:defRPr>
            </a:lvl4pPr>
            <a:lvl5pPr marL="16287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Bookman Old Style" panose="02050604050505020204" pitchFamily="18" charset="0"/>
              </a:defRPr>
            </a:lvl5pPr>
            <a:lvl6pPr marL="19716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6pPr>
            <a:lvl7pPr marL="23145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7pPr>
            <a:lvl8pPr marL="26574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8pPr>
            <a:lvl9pPr marL="30003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kern="0" dirty="0"/>
              <a:t>Department of Computer Science Engineering</a:t>
            </a: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3600" kern="0" dirty="0"/>
              <a:t>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3470910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/>
              <a:t>Module II - Syllabus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3422176"/>
          </a:xfrm>
        </p:spPr>
        <p:txBody>
          <a:bodyPr>
            <a:noAutofit/>
          </a:bodyPr>
          <a:lstStyle/>
          <a:p>
            <a:pPr marL="0" indent="0" algn="just">
              <a:spcBef>
                <a:spcPts val="910"/>
              </a:spcBef>
              <a:spcAft>
                <a:spcPts val="700"/>
              </a:spcAft>
              <a:buNone/>
            </a:pPr>
            <a:endParaRPr lang="en-US" sz="1200" b="1" dirty="0">
              <a:solidFill>
                <a:srgbClr val="00B050"/>
              </a:solidFill>
              <a:latin typeface="+mj-lt"/>
            </a:endParaRPr>
          </a:p>
          <a:p>
            <a:pPr marL="0" indent="0" algn="just">
              <a:spcBef>
                <a:spcPts val="910"/>
              </a:spcBef>
              <a:spcAft>
                <a:spcPts val="700"/>
              </a:spcAft>
              <a:buNone/>
            </a:pPr>
            <a:r>
              <a:rPr lang="en-US" sz="2800" b="1" dirty="0">
                <a:solidFill>
                  <a:srgbClr val="00B050"/>
                </a:solidFill>
                <a:latin typeface="+mj-lt"/>
              </a:rPr>
              <a:t>MODULE II: Advanced CSS 		</a:t>
            </a:r>
            <a:r>
              <a:rPr lang="en-US" sz="2800" dirty="0">
                <a:latin typeface="+mj-lt"/>
              </a:rPr>
              <a:t> </a:t>
            </a:r>
            <a:r>
              <a:rPr lang="en-US" sz="2800" b="1" dirty="0">
                <a:solidFill>
                  <a:srgbClr val="00B050"/>
                </a:solidFill>
                <a:latin typeface="+mj-lt"/>
              </a:rPr>
              <a:t>[L-8hrs.,P- 8hrs.]</a:t>
            </a:r>
          </a:p>
          <a:p>
            <a:pPr algn="just">
              <a:lnSpc>
                <a:spcPct val="150000"/>
              </a:lnSpc>
              <a:spcBef>
                <a:spcPts val="20"/>
              </a:spcBef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Advanced CSS</a:t>
            </a:r>
            <a:r>
              <a:rPr lang="en-US" sz="2400" dirty="0">
                <a:latin typeface="+mj-lt"/>
              </a:rPr>
              <a:t>: Layout, Normal Flow, Positioning Elements, Floating Elements, Constructing Multicolumn Layouts, Approaches to CSS Layout, Responsive Design, CSS Frameworks</a:t>
            </a:r>
            <a:endParaRPr lang="en-IN" sz="2400" dirty="0">
              <a:latin typeface="+mj-lt"/>
            </a:endParaRPr>
          </a:p>
          <a:p>
            <a:pPr algn="just"/>
            <a:r>
              <a:rPr lang="en-US" sz="2400" b="1" dirty="0">
                <a:solidFill>
                  <a:srgbClr val="FF0000"/>
                </a:solidFill>
                <a:latin typeface="+mj-lt"/>
              </a:rPr>
              <a:t>XML: </a:t>
            </a:r>
            <a:r>
              <a:rPr lang="en-US" sz="2400" dirty="0">
                <a:latin typeface="+mj-lt"/>
              </a:rPr>
              <a:t>Basics, demonstration of applications using XML</a:t>
            </a:r>
            <a:endParaRPr lang="en-IN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96290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US" sz="3200" dirty="0">
                <a:solidFill>
                  <a:srgbClr val="C00000"/>
                </a:solidFill>
              </a:rPr>
              <a:t>XML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34221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The Extensible Markup Language (XML) was developed in 1996 by the World Wide Web Consortium’s (W3C’s) XML Working Group, and it became a W3C recommendation in 1998.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2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/>
              <a:t>There are two versions of XML.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XML 1.0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XML 1.1</a:t>
            </a:r>
          </a:p>
          <a:p>
            <a:pPr algn="just">
              <a:lnSpc>
                <a:spcPct val="119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99838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US" sz="3200" dirty="0">
                <a:solidFill>
                  <a:srgbClr val="C00000"/>
                </a:solidFill>
              </a:rPr>
              <a:t>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3422176"/>
          </a:xfrm>
        </p:spPr>
        <p:txBody>
          <a:bodyPr>
            <a:noAutofit/>
          </a:bodyPr>
          <a:lstStyle/>
          <a:p>
            <a:pPr algn="just">
              <a:lnSpc>
                <a:spcPct val="119000"/>
              </a:lnSpc>
            </a:pP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44BB58-CC1D-C747-F1AA-A32956874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83058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93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US" sz="3200" dirty="0">
                <a:solidFill>
                  <a:srgbClr val="C00000"/>
                </a:solidFill>
              </a:rPr>
              <a:t>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3422176"/>
          </a:xfrm>
        </p:spPr>
        <p:txBody>
          <a:bodyPr>
            <a:noAutofit/>
          </a:bodyPr>
          <a:lstStyle/>
          <a:p>
            <a:pPr algn="just">
              <a:lnSpc>
                <a:spcPct val="119000"/>
              </a:lnSpc>
            </a:pP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ED2943-15A2-D7B5-63CA-8EE994970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68" y="1371600"/>
            <a:ext cx="7544853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172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US" sz="3200" dirty="0">
                <a:solidFill>
                  <a:srgbClr val="C00000"/>
                </a:solidFill>
              </a:rPr>
              <a:t>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3422176"/>
          </a:xfrm>
        </p:spPr>
        <p:txBody>
          <a:bodyPr>
            <a:noAutofit/>
          </a:bodyPr>
          <a:lstStyle/>
          <a:p>
            <a:pPr algn="just">
              <a:lnSpc>
                <a:spcPct val="119000"/>
              </a:lnSpc>
            </a:pP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1F0835-66E0-DB69-FA41-EAB6F3FB8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36" y="1799997"/>
            <a:ext cx="7535327" cy="325800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7B1C9F6-7A35-0A7E-393A-95B5EDD51CAE}"/>
              </a:ext>
            </a:extLst>
          </p:cNvPr>
          <p:cNvCxnSpPr/>
          <p:nvPr/>
        </p:nvCxnSpPr>
        <p:spPr>
          <a:xfrm>
            <a:off x="5105400" y="4267200"/>
            <a:ext cx="1371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1629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US" sz="3200" dirty="0">
                <a:solidFill>
                  <a:srgbClr val="C00000"/>
                </a:solidFill>
              </a:rPr>
              <a:t>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3422176"/>
          </a:xfrm>
        </p:spPr>
        <p:txBody>
          <a:bodyPr>
            <a:noAutofit/>
          </a:bodyPr>
          <a:lstStyle/>
          <a:p>
            <a:pPr algn="just">
              <a:lnSpc>
                <a:spcPct val="119000"/>
              </a:lnSpc>
            </a:pP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AECDC6-456E-7FD6-5F95-712FA95DF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31" y="1704734"/>
            <a:ext cx="7611537" cy="34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986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US" sz="3200" dirty="0">
                <a:solidFill>
                  <a:srgbClr val="C00000"/>
                </a:solidFill>
              </a:rPr>
              <a:t>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3422176"/>
          </a:xfrm>
        </p:spPr>
        <p:txBody>
          <a:bodyPr>
            <a:noAutofit/>
          </a:bodyPr>
          <a:lstStyle/>
          <a:p>
            <a:pPr algn="just">
              <a:lnSpc>
                <a:spcPct val="119000"/>
              </a:lnSpc>
            </a:pP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A02BE5-39EC-F96E-7446-513C8A1C7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15" y="1576129"/>
            <a:ext cx="7659169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853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US" sz="3200" dirty="0">
                <a:solidFill>
                  <a:srgbClr val="C00000"/>
                </a:solidFill>
              </a:rPr>
              <a:t>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3422176"/>
          </a:xfrm>
        </p:spPr>
        <p:txBody>
          <a:bodyPr>
            <a:noAutofit/>
          </a:bodyPr>
          <a:lstStyle/>
          <a:p>
            <a:pPr algn="just">
              <a:lnSpc>
                <a:spcPct val="119000"/>
              </a:lnSpc>
            </a:pP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654231-EECE-D33C-B4AF-432DA85AC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205" y="1571366"/>
            <a:ext cx="7449590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412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C00000"/>
                </a:solidFill>
              </a:rPr>
              <a:t>XML Features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3422176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It is extensible and human-readable.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It is platform and language independent.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It separates data from HTML.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XML tags are not predefined. You need to define your customized tags.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XML was designed to carry data, not to display that data.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Mark-up code of XML is easy to understand for a human.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Well-structured format is easy to read and write from programs.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XML is an extensible markup language like HTML</a:t>
            </a:r>
          </a:p>
          <a:p>
            <a:pPr algn="just">
              <a:lnSpc>
                <a:spcPct val="15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69933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C00000"/>
                </a:solidFill>
              </a:rPr>
              <a:t>XML Encoding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3422176"/>
          </a:xfrm>
        </p:spPr>
        <p:txBody>
          <a:bodyPr>
            <a:noAutofit/>
          </a:bodyPr>
          <a:lstStyle/>
          <a:p>
            <a:pPr algn="just"/>
            <a:r>
              <a:rPr lang="en-US" sz="2000" dirty="0"/>
              <a:t>Encoding is the conversion of Unicode characters to their binary representation. UTF is use for XML encoding. UTF stands for UCS (UCS stands for Universal Character Set) Transformation Format.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Mainly, there are two types of UTF encoding.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UTF-8 : UTF-8 uses 8-bits to represent the characters.</a:t>
            </a:r>
          </a:p>
          <a:p>
            <a:pPr algn="just"/>
            <a:endParaRPr lang="en-US" sz="2000" dirty="0"/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</a:rPr>
              <a:t>	&lt;?xml version="1.0" encoding="UTF-8"?&gt;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UTF-16 : It uses 16-bits to represent the characters.</a:t>
            </a:r>
          </a:p>
          <a:p>
            <a:pPr algn="just"/>
            <a:endParaRPr lang="en-US" sz="2000" dirty="0"/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</a:rPr>
              <a:t>	&lt;?xml version="1.0" encoding="UTF-16"?&gt;</a:t>
            </a:r>
          </a:p>
        </p:txBody>
      </p:sp>
    </p:spTree>
    <p:extLst>
      <p:ext uri="{BB962C8B-B14F-4D97-AF65-F5344CB8AC3E}">
        <p14:creationId xmlns:p14="http://schemas.microsoft.com/office/powerpoint/2010/main" val="794322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C00000"/>
                </a:solidFill>
              </a:rPr>
              <a:t>XML Syntax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342217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002060"/>
                </a:solidFill>
              </a:rPr>
              <a:t>&lt;?xml version = "1.0" encoding = "UTF-8" ?&gt;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002060"/>
                </a:solidFill>
              </a:rPr>
              <a:t>&lt;root&gt;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002060"/>
                </a:solidFill>
              </a:rPr>
              <a:t>    &lt;child&gt;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002060"/>
                </a:solidFill>
              </a:rPr>
              <a:t>        &lt;</a:t>
            </a:r>
            <a:r>
              <a:rPr lang="en-US" sz="2000" b="1" dirty="0" err="1">
                <a:solidFill>
                  <a:srgbClr val="002060"/>
                </a:solidFill>
              </a:rPr>
              <a:t>subchild</a:t>
            </a:r>
            <a:r>
              <a:rPr lang="en-US" sz="2000" b="1" dirty="0">
                <a:solidFill>
                  <a:srgbClr val="002060"/>
                </a:solidFill>
              </a:rPr>
              <a:t>&gt;.....&lt;/</a:t>
            </a:r>
            <a:r>
              <a:rPr lang="en-US" sz="2000" b="1" dirty="0" err="1">
                <a:solidFill>
                  <a:srgbClr val="002060"/>
                </a:solidFill>
              </a:rPr>
              <a:t>subchild</a:t>
            </a:r>
            <a:r>
              <a:rPr lang="en-US" sz="2000" b="1" dirty="0">
                <a:solidFill>
                  <a:srgbClr val="002060"/>
                </a:solidFill>
              </a:rPr>
              <a:t>&gt;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002060"/>
                </a:solidFill>
              </a:rPr>
              <a:t>    &lt;/child&gt;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002060"/>
                </a:solidFill>
              </a:rPr>
              <a:t>&lt;/root&gt;</a:t>
            </a:r>
          </a:p>
          <a:p>
            <a:pPr marL="0" indent="0" algn="just">
              <a:buNone/>
            </a:pPr>
            <a:endParaRPr lang="en-US" sz="2000" b="1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IN" b="1" dirty="0">
                <a:solidFill>
                  <a:srgbClr val="C00000"/>
                </a:solidFill>
                <a:ea typeface="+mj-ea"/>
                <a:cs typeface="+mj-cs"/>
              </a:rPr>
              <a:t>XML Declaration</a:t>
            </a:r>
          </a:p>
          <a:p>
            <a:pPr marL="0" indent="0" algn="just">
              <a:buNone/>
            </a:pPr>
            <a:endParaRPr lang="en-IN" b="1" dirty="0">
              <a:solidFill>
                <a:srgbClr val="C00000"/>
              </a:solidFill>
              <a:ea typeface="+mj-ea"/>
              <a:cs typeface="+mj-cs"/>
            </a:endParaRPr>
          </a:p>
          <a:p>
            <a:pPr marL="0" indent="0" algn="just">
              <a:buNone/>
            </a:pPr>
            <a:r>
              <a:rPr lang="en-IN" sz="2000" b="1" dirty="0">
                <a:solidFill>
                  <a:srgbClr val="002060"/>
                </a:solidFill>
              </a:rPr>
              <a:t>&lt;?xml version="1.0" encoding="UTF-8" standalone="no" ?&gt;</a:t>
            </a:r>
          </a:p>
          <a:p>
            <a:pPr marL="0" indent="0" algn="just">
              <a:buNone/>
            </a:pP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4393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C00000"/>
                </a:solidFill>
              </a:rPr>
              <a:t>XML Elements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DA81D5-653E-F9E0-8606-40ABF01AF9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4800" y="587515"/>
            <a:ext cx="8534400" cy="48474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en-US" altLang="en-US" sz="2000" dirty="0">
                <a:solidFill>
                  <a:srgbClr val="002060"/>
                </a:solidFill>
              </a:rPr>
              <a:t>Opening tag, content, and closing tag, altogether, is referred to as an element.</a:t>
            </a:r>
          </a:p>
          <a:p>
            <a:pPr eaLnBrk="0" hangingPunct="0">
              <a:spcBef>
                <a:spcPct val="0"/>
              </a:spcBef>
            </a:pPr>
            <a:endParaRPr lang="en-US" altLang="en-US" sz="2000" dirty="0">
              <a:solidFill>
                <a:srgbClr val="002060"/>
              </a:solidFill>
            </a:endParaRPr>
          </a:p>
          <a:p>
            <a:pPr marL="0" indent="0" eaLnBrk="0" hangingPunct="0">
              <a:spcBef>
                <a:spcPct val="0"/>
              </a:spcBef>
              <a:buNone/>
            </a:pPr>
            <a:r>
              <a:rPr lang="en-US" altLang="en-US" sz="2000" b="1" dirty="0">
                <a:solidFill>
                  <a:srgbClr val="00B050"/>
                </a:solidFill>
              </a:rPr>
              <a:t>	Opening tag + content + closing tag = an element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rgbClr val="002060"/>
              </a:solidFill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>
                <a:solidFill>
                  <a:srgbClr val="00B050"/>
                </a:solidFill>
              </a:rPr>
              <a:t>		&lt;age&gt;     20        &lt;/age&gt;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b="1" dirty="0">
              <a:solidFill>
                <a:srgbClr val="00B050"/>
              </a:solidFill>
            </a:endParaRPr>
          </a:p>
          <a:p>
            <a:pPr marL="0" indent="0" eaLnBrk="0" hangingPunct="0">
              <a:spcBef>
                <a:spcPct val="0"/>
              </a:spcBef>
              <a:buNone/>
            </a:pPr>
            <a:r>
              <a:rPr lang="en-US" sz="2000" b="1" dirty="0">
                <a:solidFill>
                  <a:srgbClr val="00B050"/>
                </a:solidFill>
              </a:rPr>
              <a:t>	age  - </a:t>
            </a:r>
            <a:r>
              <a:rPr lang="en-US" sz="2000" b="1" dirty="0">
                <a:solidFill>
                  <a:srgbClr val="002060"/>
                </a:solidFill>
              </a:rPr>
              <a:t>is the name of the element.</a:t>
            </a:r>
          </a:p>
          <a:p>
            <a:pPr marL="0" indent="0" eaLnBrk="0" hangingPunct="0">
              <a:spcBef>
                <a:spcPct val="0"/>
              </a:spcBef>
              <a:buNone/>
            </a:pPr>
            <a:endParaRPr lang="en-US" sz="2000" b="1" dirty="0">
              <a:solidFill>
                <a:srgbClr val="002060"/>
              </a:solidFill>
            </a:endParaRPr>
          </a:p>
          <a:p>
            <a:pPr marL="0" indent="0" eaLnBrk="0" hangingPunct="0">
              <a:spcBef>
                <a:spcPct val="0"/>
              </a:spcBef>
              <a:buNone/>
            </a:pPr>
            <a:endParaRPr lang="en-US" altLang="en-US" sz="2000" dirty="0">
              <a:solidFill>
                <a:srgbClr val="002060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</a:rPr>
              <a:t>&lt;age&gt; – opening tag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</a:rPr>
              <a:t>25 – content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</a:rPr>
              <a:t>&lt;/age&gt; – closing tag.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rgbClr val="00206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2060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C00000"/>
                </a:solidFill>
              </a:rPr>
              <a:t>XML Elements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DA81D5-653E-F9E0-8606-40ABF01AF9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4800" y="1313036"/>
            <a:ext cx="8534400" cy="4231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2060"/>
                </a:solidFill>
              </a:rPr>
              <a:t>Element Rules</a:t>
            </a:r>
          </a:p>
          <a:p>
            <a:pPr algn="l"/>
            <a:r>
              <a:rPr lang="en-US" sz="2000" dirty="0">
                <a:solidFill>
                  <a:srgbClr val="002060"/>
                </a:solidFill>
              </a:rPr>
              <a:t>Following list shows XML tag and element rules.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Tags are case sensitive.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All XML documents must contain a single root element.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All elements must have a closing tag (except for declarations).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A tag name must begin with a letter or an underscore, and it cannot start with the XML.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A tag name can contain letters, digits, hyphens, underscores, and periods. Hyphens underscore, and periods are the only punctuation marks allowed.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A tag name cannot contain spaces.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All elements must be nested properly.</a:t>
            </a:r>
            <a:endParaRPr lang="en-US" altLang="en-US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894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C00000"/>
                </a:solidFill>
              </a:rPr>
              <a:t>XML Attributes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342217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rgbClr val="002060"/>
                </a:solidFill>
              </a:rPr>
              <a:t>Attribute for an element is placed after the tag name in the start tag. You can add more than one attribute for a single element with different attribute names.</a:t>
            </a:r>
          </a:p>
          <a:p>
            <a:pPr marL="625475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rgbClr val="00B050"/>
                </a:solidFill>
              </a:rPr>
              <a:t>&lt;company name="ABC Holdings" location="London"&gt;  </a:t>
            </a:r>
          </a:p>
          <a:p>
            <a:pPr marL="625475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rgbClr val="00B050"/>
                </a:solidFill>
              </a:rPr>
              <a:t>    &lt;chairman&gt;Mr. John&lt;/chairman&gt;  </a:t>
            </a:r>
          </a:p>
          <a:p>
            <a:pPr marL="625475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rgbClr val="00B050"/>
                </a:solidFill>
              </a:rPr>
              <a:t>    &lt;gm&gt;Mr. Wood&lt;/gm&gt;  </a:t>
            </a:r>
          </a:p>
          <a:p>
            <a:pPr marL="625475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rgbClr val="00B050"/>
                </a:solidFill>
              </a:rPr>
              <a:t>&lt;/company&gt;</a:t>
            </a:r>
          </a:p>
          <a:p>
            <a:pPr marL="0" indent="0" algn="just">
              <a:buNone/>
            </a:pPr>
            <a:r>
              <a:rPr lang="en-US" sz="2400" b="0" i="0" dirty="0">
                <a:effectLst/>
                <a:latin typeface="Source Sans Pro" panose="020B0503030403020204" pitchFamily="34" charset="0"/>
              </a:rPr>
              <a:t>There are two attributes in the </a:t>
            </a:r>
            <a:r>
              <a:rPr lang="en-US" sz="2400" b="1" i="0" dirty="0">
                <a:effectLst/>
                <a:latin typeface="Source Sans Pro" panose="020B0503030403020204" pitchFamily="34" charset="0"/>
              </a:rPr>
              <a:t>company</a:t>
            </a:r>
            <a:r>
              <a:rPr lang="en-US" sz="2400" b="0" i="0" dirty="0">
                <a:effectLst/>
                <a:latin typeface="Source Sans Pro" panose="020B0503030403020204" pitchFamily="34" charset="0"/>
              </a:rPr>
              <a:t> element, i.e. </a:t>
            </a:r>
            <a:r>
              <a:rPr lang="en-US" sz="2400" b="1" i="0" dirty="0">
                <a:effectLst/>
                <a:latin typeface="Source Sans Pro" panose="020B0503030403020204" pitchFamily="34" charset="0"/>
              </a:rPr>
              <a:t>name</a:t>
            </a:r>
            <a:r>
              <a:rPr lang="en-US" sz="2400" b="0" i="0" dirty="0">
                <a:effectLst/>
                <a:latin typeface="Source Sans Pro" panose="020B0503030403020204" pitchFamily="34" charset="0"/>
              </a:rPr>
              <a:t> and </a:t>
            </a:r>
            <a:r>
              <a:rPr lang="en-US" sz="2400" b="1" i="0" dirty="0">
                <a:effectLst/>
                <a:latin typeface="Source Sans Pro" panose="020B0503030403020204" pitchFamily="34" charset="0"/>
              </a:rPr>
              <a:t>location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57054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C00000"/>
                </a:solidFill>
              </a:rPr>
              <a:t>XML - Validation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34221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002060"/>
                </a:solidFill>
              </a:rPr>
              <a:t>Validation is a process by which an XML document is validated. An XML document is said to be valid if its contents match with the elements, attributes and associated </a:t>
            </a:r>
            <a:r>
              <a:rPr lang="en-US" sz="2000" b="1" dirty="0">
                <a:solidFill>
                  <a:srgbClr val="002060"/>
                </a:solidFill>
              </a:rPr>
              <a:t>document type declaration(DTD</a:t>
            </a:r>
            <a:r>
              <a:rPr lang="en-US" sz="2000" dirty="0">
                <a:solidFill>
                  <a:srgbClr val="002060"/>
                </a:solidFill>
              </a:rPr>
              <a:t>), and if the document complies with the constraints expressed in it. Validation is dealt in two ways by the XML parser.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2060"/>
                </a:solidFill>
              </a:rPr>
              <a:t>They are −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Well-formed XML document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Valid XML document</a:t>
            </a:r>
          </a:p>
          <a:p>
            <a:pPr marL="0" indent="0" algn="just">
              <a:buNone/>
            </a:pPr>
            <a:endParaRPr lang="en-US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039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C00000"/>
                </a:solidFill>
              </a:rPr>
              <a:t>XML DTD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3422176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002060"/>
                </a:solidFill>
              </a:rPr>
              <a:t>DTD stands for Document Type Definition. It defines the structure of an XML document using some legal elements. XML DTD is optional.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2060"/>
                </a:solidFill>
              </a:rPr>
              <a:t>DTD Rules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If DTD is present, it must appear at the start of the document (only the XML declaration can appear above the DTD).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The element declaration must start with an ! mark.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The DTD name and element type of the root element must be the same.</a:t>
            </a:r>
          </a:p>
          <a:p>
            <a:pPr marL="0" indent="0" algn="just">
              <a:buNone/>
            </a:pPr>
            <a:endParaRPr lang="en-US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257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C00000"/>
                </a:solidFill>
              </a:rPr>
              <a:t>XML Namespaces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342217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</a:rPr>
              <a:t>Namespaces help to </a:t>
            </a:r>
            <a:r>
              <a:rPr lang="en-US" sz="2000" b="1" dirty="0">
                <a:solidFill>
                  <a:srgbClr val="0070C0"/>
                </a:solidFill>
              </a:rPr>
              <a:t>avoid element name conflicts</a:t>
            </a:r>
            <a:r>
              <a:rPr lang="en-US" sz="2000" dirty="0">
                <a:solidFill>
                  <a:srgbClr val="002060"/>
                </a:solidFill>
              </a:rPr>
              <a:t>.</a:t>
            </a:r>
          </a:p>
          <a:p>
            <a:pPr marL="0" indent="0" algn="just">
              <a:buNone/>
            </a:pPr>
            <a:endParaRPr lang="en-US" sz="2000" dirty="0">
              <a:solidFill>
                <a:srgbClr val="002060"/>
              </a:solidFill>
            </a:endParaRPr>
          </a:p>
          <a:p>
            <a:pPr marL="0" indent="0" algn="just">
              <a:buNone/>
            </a:pPr>
            <a:r>
              <a:rPr lang="en-IN" sz="2000" b="1" dirty="0">
                <a:solidFill>
                  <a:srgbClr val="C00000"/>
                </a:solidFill>
              </a:rPr>
              <a:t>Namespace Declaration -   </a:t>
            </a:r>
          </a:p>
          <a:p>
            <a:pPr marL="0" indent="0" algn="just">
              <a:buNone/>
            </a:pPr>
            <a:endParaRPr lang="en-IN" sz="2000" b="1" dirty="0">
              <a:solidFill>
                <a:srgbClr val="C00000"/>
              </a:solidFill>
            </a:endParaRPr>
          </a:p>
          <a:p>
            <a:pPr marL="0" indent="0" algn="just">
              <a:buNone/>
            </a:pPr>
            <a:r>
              <a:rPr lang="en-IN" sz="2000" b="1" dirty="0">
                <a:solidFill>
                  <a:srgbClr val="C00000"/>
                </a:solidFill>
              </a:rPr>
              <a:t> </a:t>
            </a:r>
            <a:r>
              <a:rPr lang="en-US" sz="2000" b="1" dirty="0">
                <a:solidFill>
                  <a:srgbClr val="00B050"/>
                </a:solidFill>
              </a:rPr>
              <a:t>&lt;element </a:t>
            </a:r>
            <a:r>
              <a:rPr lang="en-US" sz="2000" b="1" dirty="0" err="1">
                <a:solidFill>
                  <a:srgbClr val="00B050"/>
                </a:solidFill>
              </a:rPr>
              <a:t>xmlns:name</a:t>
            </a:r>
            <a:r>
              <a:rPr lang="en-US" sz="2000" b="1" dirty="0">
                <a:solidFill>
                  <a:srgbClr val="00B050"/>
                </a:solidFill>
              </a:rPr>
              <a:t>="URL"&gt;</a:t>
            </a:r>
          </a:p>
          <a:p>
            <a:pPr marL="0" indent="0" algn="just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002060"/>
                </a:solidFill>
              </a:rPr>
              <a:t>In the above declaration,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The </a:t>
            </a:r>
            <a:r>
              <a:rPr lang="en-US" sz="2000" b="1" dirty="0" err="1">
                <a:solidFill>
                  <a:srgbClr val="002060"/>
                </a:solidFill>
              </a:rPr>
              <a:t>xmlns</a:t>
            </a:r>
            <a:r>
              <a:rPr lang="en-US" sz="2000" dirty="0">
                <a:solidFill>
                  <a:srgbClr val="002060"/>
                </a:solidFill>
              </a:rPr>
              <a:t> keyword indicates the beginning of the namespace.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The </a:t>
            </a:r>
            <a:r>
              <a:rPr lang="en-US" sz="2000" b="1" dirty="0">
                <a:solidFill>
                  <a:srgbClr val="002060"/>
                </a:solidFill>
              </a:rPr>
              <a:t>name</a:t>
            </a:r>
            <a:r>
              <a:rPr lang="en-US" sz="2000" dirty="0">
                <a:solidFill>
                  <a:srgbClr val="002060"/>
                </a:solidFill>
              </a:rPr>
              <a:t> is the prefix of the namespace.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The </a:t>
            </a:r>
            <a:r>
              <a:rPr lang="en-US" sz="2000" b="1" dirty="0">
                <a:solidFill>
                  <a:srgbClr val="002060"/>
                </a:solidFill>
              </a:rPr>
              <a:t>URL</a:t>
            </a:r>
            <a:r>
              <a:rPr lang="en-US" sz="2000" dirty="0">
                <a:solidFill>
                  <a:srgbClr val="002060"/>
                </a:solidFill>
              </a:rPr>
              <a:t> is the namespace identifier.</a:t>
            </a:r>
          </a:p>
          <a:p>
            <a:pPr marL="0" indent="0" algn="just">
              <a:buNone/>
            </a:pPr>
            <a:endParaRPr lang="en-US" sz="2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03197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C00000"/>
                </a:solidFill>
              </a:rPr>
              <a:t>XML Namespaces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342217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000" b="1" dirty="0">
                <a:solidFill>
                  <a:srgbClr val="0070C0"/>
                </a:solidFill>
              </a:rPr>
              <a:t>Examples of Namespaces</a:t>
            </a:r>
          </a:p>
          <a:p>
            <a:pPr marL="0" indent="0" algn="just">
              <a:buNone/>
            </a:pPr>
            <a:endParaRPr lang="en-IN" sz="2000" dirty="0">
              <a:solidFill>
                <a:srgbClr val="0070C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rgbClr val="002060"/>
                </a:solidFill>
              </a:rPr>
              <a:t>&lt;?xml version="1.0" encoding="UTF-8" ?&gt;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rgbClr val="002060"/>
                </a:solidFill>
              </a:rPr>
              <a:t>&lt;</a:t>
            </a:r>
            <a:r>
              <a:rPr lang="en-US" sz="2000" dirty="0" err="1">
                <a:solidFill>
                  <a:srgbClr val="00B050"/>
                </a:solidFill>
              </a:rPr>
              <a:t>abt:person</a:t>
            </a:r>
            <a:r>
              <a:rPr lang="en-US" sz="2000" dirty="0">
                <a:solidFill>
                  <a:srgbClr val="00B050"/>
                </a:solidFill>
              </a:rPr>
              <a:t>  </a:t>
            </a:r>
            <a:r>
              <a:rPr lang="en-US" sz="2000" b="1" dirty="0" err="1">
                <a:solidFill>
                  <a:srgbClr val="002060"/>
                </a:solidFill>
              </a:rPr>
              <a:t>xmlns:abt</a:t>
            </a:r>
            <a:r>
              <a:rPr lang="en-US" sz="2000" dirty="0">
                <a:solidFill>
                  <a:srgbClr val="002060"/>
                </a:solidFill>
              </a:rPr>
              <a:t>="https://www.guru99.com/about-us.html"&gt;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rgbClr val="002060"/>
                </a:solidFill>
              </a:rPr>
              <a:t>    &lt;</a:t>
            </a:r>
            <a:r>
              <a:rPr lang="en-US" sz="2000" dirty="0" err="1">
                <a:solidFill>
                  <a:srgbClr val="002060"/>
                </a:solidFill>
              </a:rPr>
              <a:t>abt:founder</a:t>
            </a:r>
            <a:r>
              <a:rPr lang="en-US" sz="2000" dirty="0">
                <a:solidFill>
                  <a:srgbClr val="002060"/>
                </a:solidFill>
              </a:rPr>
              <a:t>&gt;Krishna&lt;/</a:t>
            </a:r>
            <a:r>
              <a:rPr lang="en-US" sz="2000" dirty="0" err="1">
                <a:solidFill>
                  <a:srgbClr val="002060"/>
                </a:solidFill>
              </a:rPr>
              <a:t>abt:founder</a:t>
            </a:r>
            <a:r>
              <a:rPr lang="en-US" sz="2000" dirty="0">
                <a:solidFill>
                  <a:srgbClr val="002060"/>
                </a:solidFill>
              </a:rPr>
              <a:t>&gt;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rgbClr val="002060"/>
                </a:solidFill>
              </a:rPr>
              <a:t>    &lt;</a:t>
            </a:r>
            <a:r>
              <a:rPr lang="en-US" sz="2000" dirty="0" err="1">
                <a:solidFill>
                  <a:srgbClr val="002060"/>
                </a:solidFill>
              </a:rPr>
              <a:t>abt:vision</a:t>
            </a:r>
            <a:r>
              <a:rPr lang="en-US" sz="2000" dirty="0">
                <a:solidFill>
                  <a:srgbClr val="002060"/>
                </a:solidFill>
              </a:rPr>
              <a:t>&gt;Fun and Free Education for ALL&lt;/</a:t>
            </a:r>
            <a:r>
              <a:rPr lang="en-US" sz="2000" dirty="0" err="1">
                <a:solidFill>
                  <a:srgbClr val="002060"/>
                </a:solidFill>
              </a:rPr>
              <a:t>abt:vision</a:t>
            </a:r>
            <a:r>
              <a:rPr lang="en-US" sz="2000" dirty="0">
                <a:solidFill>
                  <a:srgbClr val="002060"/>
                </a:solidFill>
              </a:rPr>
              <a:t>&gt;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rgbClr val="00B050"/>
                </a:solidFill>
              </a:rPr>
              <a:t>&lt;/</a:t>
            </a:r>
            <a:r>
              <a:rPr lang="en-US" sz="2000" dirty="0" err="1">
                <a:solidFill>
                  <a:srgbClr val="00B050"/>
                </a:solidFill>
              </a:rPr>
              <a:t>abt:person</a:t>
            </a:r>
            <a:r>
              <a:rPr lang="en-US" sz="2000" dirty="0">
                <a:solidFill>
                  <a:srgbClr val="00B050"/>
                </a:solidFill>
              </a:rPr>
              <a:t>&gt; </a:t>
            </a:r>
          </a:p>
        </p:txBody>
      </p:sp>
    </p:spTree>
    <p:extLst>
      <p:ext uri="{BB962C8B-B14F-4D97-AF65-F5344CB8AC3E}">
        <p14:creationId xmlns:p14="http://schemas.microsoft.com/office/powerpoint/2010/main" val="20845326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C00000"/>
                </a:solidFill>
              </a:rPr>
              <a:t>XML Schemas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991600" cy="3422176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400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XML 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schema 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(also known as 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XML schema definition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or 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XSD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) use to describe the XML document structure. It is an 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alternative to DTD.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400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Why Schema is Important?</a:t>
            </a:r>
          </a:p>
          <a:p>
            <a:pPr algn="l"/>
            <a:r>
              <a:rPr lang="en-US" sz="2400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DTD is not powerful as schema as it is not extensible and flexible enough. So, it may not be suitable for some situations. In such a situation schema is important.</a:t>
            </a:r>
          </a:p>
          <a:p>
            <a:pPr algn="l"/>
            <a:r>
              <a:rPr lang="en-US" sz="2400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The main purpose of using XML schema is to define the elements and attributes of an XML document.</a:t>
            </a:r>
          </a:p>
          <a:p>
            <a:pPr marL="0" indent="0" algn="just">
              <a:buNone/>
            </a:pPr>
            <a:endParaRPr lang="en-US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410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C00000"/>
                </a:solidFill>
              </a:rPr>
              <a:t>XML Schemas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991600" cy="3422176"/>
          </a:xfrm>
        </p:spPr>
        <p:txBody>
          <a:bodyPr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u="sng" dirty="0">
                <a:solidFill>
                  <a:srgbClr val="0070C0"/>
                </a:solidFill>
              </a:rPr>
              <a:t>Following code segment shows an example of XML schema.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0B050"/>
                </a:solidFill>
              </a:rPr>
              <a:t>&lt;</a:t>
            </a:r>
            <a:r>
              <a:rPr lang="en-US" sz="2000" dirty="0" err="1">
                <a:solidFill>
                  <a:srgbClr val="00B050"/>
                </a:solidFill>
              </a:rPr>
              <a:t>xs:schema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 err="1">
                <a:solidFill>
                  <a:srgbClr val="00B050"/>
                </a:solidFill>
              </a:rPr>
              <a:t>xmlns:xs</a:t>
            </a:r>
            <a:r>
              <a:rPr lang="en-US" sz="2000" dirty="0">
                <a:solidFill>
                  <a:srgbClr val="00B050"/>
                </a:solidFill>
              </a:rPr>
              <a:t> = "http://www.w3.org/2001/XMLSchema"&gt;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0B050"/>
                </a:solidFill>
              </a:rPr>
              <a:t>    &lt;</a:t>
            </a:r>
            <a:r>
              <a:rPr lang="en-US" sz="2000" dirty="0" err="1">
                <a:solidFill>
                  <a:srgbClr val="00B050"/>
                </a:solidFill>
              </a:rPr>
              <a:t>xs:element</a:t>
            </a:r>
            <a:r>
              <a:rPr lang="en-US" sz="2000" dirty="0">
                <a:solidFill>
                  <a:srgbClr val="00B050"/>
                </a:solidFill>
              </a:rPr>
              <a:t> name = "employee"&gt;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0B050"/>
                </a:solidFill>
              </a:rPr>
              <a:t>        &lt;</a:t>
            </a:r>
            <a:r>
              <a:rPr lang="en-US" sz="2000" dirty="0" err="1">
                <a:solidFill>
                  <a:srgbClr val="00B050"/>
                </a:solidFill>
              </a:rPr>
              <a:t>xs:complexType</a:t>
            </a:r>
            <a:r>
              <a:rPr lang="en-US" sz="2000" dirty="0">
                <a:solidFill>
                  <a:srgbClr val="00B050"/>
                </a:solidFill>
              </a:rPr>
              <a:t>&gt;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0B050"/>
                </a:solidFill>
              </a:rPr>
              <a:t>            &lt;</a:t>
            </a:r>
            <a:r>
              <a:rPr lang="en-US" sz="2000" dirty="0" err="1">
                <a:solidFill>
                  <a:srgbClr val="00B050"/>
                </a:solidFill>
              </a:rPr>
              <a:t>xs:sequence</a:t>
            </a:r>
            <a:r>
              <a:rPr lang="en-US" sz="2000" dirty="0">
                <a:solidFill>
                  <a:srgbClr val="00B050"/>
                </a:solidFill>
              </a:rPr>
              <a:t>&gt;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0B050"/>
                </a:solidFill>
              </a:rPr>
              <a:t>                &lt;</a:t>
            </a:r>
            <a:r>
              <a:rPr lang="en-US" sz="2000" dirty="0" err="1">
                <a:solidFill>
                  <a:srgbClr val="00B050"/>
                </a:solidFill>
              </a:rPr>
              <a:t>xs:element</a:t>
            </a:r>
            <a:r>
              <a:rPr lang="en-US" sz="2000" dirty="0">
                <a:solidFill>
                  <a:srgbClr val="00B050"/>
                </a:solidFill>
              </a:rPr>
              <a:t> name = "</a:t>
            </a:r>
            <a:r>
              <a:rPr lang="en-US" sz="2000" dirty="0" err="1">
                <a:solidFill>
                  <a:srgbClr val="00B050"/>
                </a:solidFill>
              </a:rPr>
              <a:t>firstname</a:t>
            </a:r>
            <a:r>
              <a:rPr lang="en-US" sz="2000" dirty="0">
                <a:solidFill>
                  <a:srgbClr val="00B050"/>
                </a:solidFill>
              </a:rPr>
              <a:t>" type = "</a:t>
            </a:r>
            <a:r>
              <a:rPr lang="en-US" sz="2000" dirty="0" err="1">
                <a:solidFill>
                  <a:srgbClr val="00B050"/>
                </a:solidFill>
              </a:rPr>
              <a:t>xs:string</a:t>
            </a:r>
            <a:r>
              <a:rPr lang="en-US" sz="2000" dirty="0">
                <a:solidFill>
                  <a:srgbClr val="00B050"/>
                </a:solidFill>
              </a:rPr>
              <a:t>" /&gt;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0B050"/>
                </a:solidFill>
              </a:rPr>
              <a:t>                &lt;</a:t>
            </a:r>
            <a:r>
              <a:rPr lang="en-US" sz="2000" dirty="0" err="1">
                <a:solidFill>
                  <a:srgbClr val="00B050"/>
                </a:solidFill>
              </a:rPr>
              <a:t>xs:element</a:t>
            </a:r>
            <a:r>
              <a:rPr lang="en-US" sz="2000" dirty="0">
                <a:solidFill>
                  <a:srgbClr val="00B050"/>
                </a:solidFill>
              </a:rPr>
              <a:t> name = "</a:t>
            </a:r>
            <a:r>
              <a:rPr lang="en-US" sz="2000" dirty="0" err="1">
                <a:solidFill>
                  <a:srgbClr val="00B050"/>
                </a:solidFill>
              </a:rPr>
              <a:t>lastname</a:t>
            </a:r>
            <a:r>
              <a:rPr lang="en-US" sz="2000" dirty="0">
                <a:solidFill>
                  <a:srgbClr val="00B050"/>
                </a:solidFill>
              </a:rPr>
              <a:t>" type = "</a:t>
            </a:r>
            <a:r>
              <a:rPr lang="en-US" sz="2000" dirty="0" err="1">
                <a:solidFill>
                  <a:srgbClr val="00B050"/>
                </a:solidFill>
              </a:rPr>
              <a:t>xs:string</a:t>
            </a:r>
            <a:r>
              <a:rPr lang="en-US" sz="2000" dirty="0">
                <a:solidFill>
                  <a:srgbClr val="00B050"/>
                </a:solidFill>
              </a:rPr>
              <a:t>" /&gt;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0B050"/>
                </a:solidFill>
              </a:rPr>
              <a:t>                &lt;</a:t>
            </a:r>
            <a:r>
              <a:rPr lang="en-US" sz="2000" dirty="0" err="1">
                <a:solidFill>
                  <a:srgbClr val="00B050"/>
                </a:solidFill>
              </a:rPr>
              <a:t>xs:element</a:t>
            </a:r>
            <a:r>
              <a:rPr lang="en-US" sz="2000" dirty="0">
                <a:solidFill>
                  <a:srgbClr val="00B050"/>
                </a:solidFill>
              </a:rPr>
              <a:t> name = "phone" type = "</a:t>
            </a:r>
            <a:r>
              <a:rPr lang="en-US" sz="2000" dirty="0" err="1">
                <a:solidFill>
                  <a:srgbClr val="00B050"/>
                </a:solidFill>
              </a:rPr>
              <a:t>xs:int</a:t>
            </a:r>
            <a:r>
              <a:rPr lang="en-US" sz="2000" dirty="0">
                <a:solidFill>
                  <a:srgbClr val="00B050"/>
                </a:solidFill>
              </a:rPr>
              <a:t>" /&gt;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0B050"/>
                </a:solidFill>
              </a:rPr>
              <a:t>            &lt;/</a:t>
            </a:r>
            <a:r>
              <a:rPr lang="en-US" sz="2000" dirty="0" err="1">
                <a:solidFill>
                  <a:srgbClr val="00B050"/>
                </a:solidFill>
              </a:rPr>
              <a:t>xs:sequence</a:t>
            </a:r>
            <a:r>
              <a:rPr lang="en-US" sz="2000" dirty="0">
                <a:solidFill>
                  <a:srgbClr val="00B050"/>
                </a:solidFill>
              </a:rPr>
              <a:t>&gt;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0B050"/>
                </a:solidFill>
              </a:rPr>
              <a:t>        &lt;/</a:t>
            </a:r>
            <a:r>
              <a:rPr lang="en-US" sz="2000" dirty="0" err="1">
                <a:solidFill>
                  <a:srgbClr val="00B050"/>
                </a:solidFill>
              </a:rPr>
              <a:t>xs:complexType</a:t>
            </a:r>
            <a:r>
              <a:rPr lang="en-US" sz="2000" dirty="0">
                <a:solidFill>
                  <a:srgbClr val="00B050"/>
                </a:solidFill>
              </a:rPr>
              <a:t>&gt;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0B050"/>
                </a:solidFill>
              </a:rPr>
              <a:t>    &lt;/</a:t>
            </a:r>
            <a:r>
              <a:rPr lang="en-US" sz="2000" dirty="0" err="1">
                <a:solidFill>
                  <a:srgbClr val="00B050"/>
                </a:solidFill>
              </a:rPr>
              <a:t>xs:element</a:t>
            </a:r>
            <a:r>
              <a:rPr lang="en-US" sz="2000" dirty="0">
                <a:solidFill>
                  <a:srgbClr val="00B050"/>
                </a:solidFill>
              </a:rPr>
              <a:t>&gt;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0B050"/>
                </a:solidFill>
              </a:rPr>
              <a:t>&lt;/</a:t>
            </a:r>
            <a:r>
              <a:rPr lang="en-US" sz="2000" dirty="0" err="1">
                <a:solidFill>
                  <a:srgbClr val="00B050"/>
                </a:solidFill>
              </a:rPr>
              <a:t>xs:schema</a:t>
            </a:r>
            <a:r>
              <a:rPr lang="en-US" sz="2000" dirty="0">
                <a:solidFill>
                  <a:srgbClr val="00B050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8224438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382000" cy="994741"/>
          </a:xfrm>
        </p:spPr>
        <p:txBody>
          <a:bodyPr/>
          <a:lstStyle/>
          <a:p>
            <a:r>
              <a:rPr lang="en-IN" sz="3200" dirty="0">
                <a:solidFill>
                  <a:srgbClr val="C00000"/>
                </a:solidFill>
              </a:rPr>
              <a:t>XSL - </a:t>
            </a:r>
            <a:r>
              <a:rPr lang="en-IN" sz="3200" dirty="0" err="1">
                <a:solidFill>
                  <a:srgbClr val="C00000"/>
                </a:solidFill>
              </a:rPr>
              <a:t>EXtensible</a:t>
            </a:r>
            <a:r>
              <a:rPr lang="en-IN" sz="3200" dirty="0">
                <a:solidFill>
                  <a:srgbClr val="C00000"/>
                </a:solidFill>
              </a:rPr>
              <a:t> Stylesheet Language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991600" cy="3422176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2000" b="1" i="0" dirty="0">
                <a:solidFill>
                  <a:srgbClr val="FF0000"/>
                </a:solidFill>
                <a:effectLst/>
                <a:cs typeface="Heebo" pitchFamily="2" charset="-79"/>
              </a:rPr>
              <a:t>Need for XSL</a:t>
            </a:r>
          </a:p>
          <a:p>
            <a:pPr algn="just">
              <a:lnSpc>
                <a:spcPct val="150000"/>
              </a:lnSpc>
            </a:pPr>
            <a:r>
              <a:rPr lang="en-US" sz="2000" b="0" i="0" dirty="0">
                <a:solidFill>
                  <a:srgbClr val="000000"/>
                </a:solidFill>
                <a:effectLst/>
              </a:rPr>
              <a:t>HTML document, tags are predefined such as table, div, and span; and the browser knows how to add style to them and display those using CSS styles. </a:t>
            </a:r>
          </a:p>
          <a:p>
            <a:pPr algn="just">
              <a:lnSpc>
                <a:spcPct val="150000"/>
              </a:lnSpc>
            </a:pPr>
            <a:r>
              <a:rPr lang="en-US" sz="2000" b="0" i="0" dirty="0">
                <a:solidFill>
                  <a:srgbClr val="000000"/>
                </a:solidFill>
                <a:effectLst/>
              </a:rPr>
              <a:t>But in case of XML documents, tags are not predefined. </a:t>
            </a:r>
          </a:p>
          <a:p>
            <a:pPr algn="just">
              <a:lnSpc>
                <a:spcPct val="150000"/>
              </a:lnSpc>
            </a:pPr>
            <a:r>
              <a:rPr lang="en-US" sz="2000" b="0" i="0" dirty="0">
                <a:solidFill>
                  <a:srgbClr val="000000"/>
                </a:solidFill>
                <a:effectLst/>
              </a:rPr>
              <a:t>In order to understand and style an XML document, World Wide Web Consortium (W3C) developed XSL which can act as XML based Stylesheet Language. </a:t>
            </a:r>
          </a:p>
          <a:p>
            <a:pPr algn="just">
              <a:lnSpc>
                <a:spcPct val="150000"/>
              </a:lnSpc>
            </a:pPr>
            <a:r>
              <a:rPr lang="en-US" sz="2000" b="0" i="0" dirty="0">
                <a:solidFill>
                  <a:srgbClr val="000000"/>
                </a:solidFill>
                <a:effectLst/>
              </a:rPr>
              <a:t>An XSL document specifies how a browser should render an XML document.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2000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94597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382000" cy="994741"/>
          </a:xfrm>
        </p:spPr>
        <p:txBody>
          <a:bodyPr/>
          <a:lstStyle/>
          <a:p>
            <a:r>
              <a:rPr lang="en-IN" sz="3200" dirty="0">
                <a:solidFill>
                  <a:srgbClr val="C00000"/>
                </a:solidFill>
              </a:rPr>
              <a:t>XSL - </a:t>
            </a:r>
            <a:r>
              <a:rPr lang="en-IN" sz="3200" dirty="0" err="1">
                <a:solidFill>
                  <a:srgbClr val="C00000"/>
                </a:solidFill>
              </a:rPr>
              <a:t>EXtensible</a:t>
            </a:r>
            <a:r>
              <a:rPr lang="en-IN" sz="3200" dirty="0">
                <a:solidFill>
                  <a:srgbClr val="C00000"/>
                </a:solidFill>
              </a:rPr>
              <a:t> Stylesheet Language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991600" cy="342217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i="0" dirty="0">
                <a:solidFill>
                  <a:srgbClr val="FF0000"/>
                </a:solidFill>
                <a:effectLst/>
              </a:rPr>
              <a:t>Following are the main parts of XSL −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000000"/>
                </a:solidFill>
                <a:effectLst/>
              </a:rPr>
              <a:t>XSLT</a:t>
            </a:r>
            <a:r>
              <a:rPr lang="en-US" sz="2000" b="0" i="0" dirty="0">
                <a:solidFill>
                  <a:srgbClr val="000000"/>
                </a:solidFill>
                <a:effectLst/>
              </a:rPr>
              <a:t> − used to transform XML document into various other types of document.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000000"/>
                </a:solidFill>
                <a:effectLst/>
              </a:rPr>
              <a:t>XPath</a:t>
            </a:r>
            <a:r>
              <a:rPr lang="en-US" sz="2000" b="0" i="0" dirty="0">
                <a:solidFill>
                  <a:srgbClr val="000000"/>
                </a:solidFill>
                <a:effectLst/>
              </a:rPr>
              <a:t> − used to navigate XML document.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000000"/>
                </a:solidFill>
                <a:effectLst/>
              </a:rPr>
              <a:t>XSL-FO</a:t>
            </a:r>
            <a:r>
              <a:rPr lang="en-US" sz="2000" b="0" i="0" dirty="0">
                <a:solidFill>
                  <a:srgbClr val="000000"/>
                </a:solidFill>
                <a:effectLst/>
              </a:rPr>
              <a:t> − used to format XML document.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FF0000"/>
                </a:solidFill>
              </a:rPr>
              <a:t>What is XSLT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</a:rPr>
              <a:t>XSLT, Extensible Stylesheet Language Transformations, provides the ability to transform XML data from one format to another automatically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000000"/>
              </a:solidFill>
              <a:effectLst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000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21634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382000" cy="994741"/>
          </a:xfrm>
        </p:spPr>
        <p:txBody>
          <a:bodyPr/>
          <a:lstStyle/>
          <a:p>
            <a:r>
              <a:rPr lang="en-IN" sz="3200" dirty="0">
                <a:solidFill>
                  <a:srgbClr val="C00000"/>
                </a:solidFill>
              </a:rPr>
              <a:t>XSL - </a:t>
            </a:r>
            <a:r>
              <a:rPr lang="en-IN" sz="3200" dirty="0" err="1">
                <a:solidFill>
                  <a:srgbClr val="C00000"/>
                </a:solidFill>
              </a:rPr>
              <a:t>EXtensible</a:t>
            </a:r>
            <a:r>
              <a:rPr lang="en-IN" sz="3200" dirty="0">
                <a:solidFill>
                  <a:srgbClr val="C00000"/>
                </a:solidFill>
              </a:rPr>
              <a:t> Stylesheet Language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991600" cy="3422176"/>
          </a:xfrm>
        </p:spPr>
        <p:txBody>
          <a:bodyPr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0070C0"/>
                </a:solidFill>
              </a:rPr>
              <a:t>XSL Execution Procedure refer the link -</a:t>
            </a:r>
            <a:r>
              <a:rPr lang="en-US" sz="2000" u="sng" dirty="0">
                <a:solidFill>
                  <a:srgbClr val="0070C0"/>
                </a:solidFill>
              </a:rPr>
              <a:t> https://www.tutorialspoint.com/xslt/xslt_syntax.htm</a:t>
            </a:r>
          </a:p>
        </p:txBody>
      </p:sp>
    </p:spTree>
    <p:extLst>
      <p:ext uri="{BB962C8B-B14F-4D97-AF65-F5344CB8AC3E}">
        <p14:creationId xmlns:p14="http://schemas.microsoft.com/office/powerpoint/2010/main" val="27700010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C00000"/>
                </a:solidFill>
              </a:rPr>
              <a:t>XML Reference 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828800"/>
            <a:ext cx="8991600" cy="3422176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IN" b="1" dirty="0">
                <a:solidFill>
                  <a:srgbClr val="C00000"/>
                </a:solidFill>
                <a:ea typeface="+mj-ea"/>
                <a:cs typeface="+mj-cs"/>
              </a:rPr>
              <a:t>https://www.guru99.com/xml-tutorials.html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2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428369"/>
      </p:ext>
    </p:extLst>
  </p:cSld>
  <p:clrMapOvr>
    <a:masterClrMapping/>
  </p:clrMapOvr>
</p:sld>
</file>

<file path=ppt/theme/theme1.xml><?xml version="1.0" encoding="utf-8"?>
<a:theme xmlns:a="http://schemas.openxmlformats.org/drawingml/2006/main" name="Thiru_Regular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ru_Regular" id="{8307898E-903F-4964-A0DF-A6DCECB060AB}" vid="{55A8074A-D5AE-4568-A496-E28AC65B10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175299C810F543A894A18A31124B54" ma:contentTypeVersion="0" ma:contentTypeDescription="Create a new document." ma:contentTypeScope="" ma:versionID="22d0fca2b855f7653c56128679ddcbb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bc2f382e08b3cfae9557b5bec588dd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FDA373-D5CF-4F0F-A826-9892AA050C9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5DFE7C8-44AE-4CA0-BC1C-D7A115A2224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A925D1E-80FA-4AC6-8348-DA36244E7C1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4580</TotalTime>
  <Words>1283</Words>
  <Application>Microsoft Office PowerPoint</Application>
  <PresentationFormat>On-screen Show (4:3)</PresentationFormat>
  <Paragraphs>149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Bookman Old Style</vt:lpstr>
      <vt:lpstr>Calibri</vt:lpstr>
      <vt:lpstr>Cambria</vt:lpstr>
      <vt:lpstr>Heebo</vt:lpstr>
      <vt:lpstr>Source Sans Pro</vt:lpstr>
      <vt:lpstr>Thiru_Regular</vt:lpstr>
      <vt:lpstr>PowerPoint Presentation</vt:lpstr>
      <vt:lpstr>Module II - Syllabus </vt:lpstr>
      <vt:lpstr>XML Introduction</vt:lpstr>
      <vt:lpstr>XML</vt:lpstr>
      <vt:lpstr>XML</vt:lpstr>
      <vt:lpstr>XML</vt:lpstr>
      <vt:lpstr>XML</vt:lpstr>
      <vt:lpstr>XML</vt:lpstr>
      <vt:lpstr>XML</vt:lpstr>
      <vt:lpstr>XML Features</vt:lpstr>
      <vt:lpstr>XML Encoding</vt:lpstr>
      <vt:lpstr>XML Syntax</vt:lpstr>
      <vt:lpstr>XML Elements</vt:lpstr>
      <vt:lpstr>XML Elements</vt:lpstr>
      <vt:lpstr>XML Attributes</vt:lpstr>
      <vt:lpstr>XML - Validation</vt:lpstr>
      <vt:lpstr>XML DTD</vt:lpstr>
      <vt:lpstr>XML Namespaces</vt:lpstr>
      <vt:lpstr>XML Namespaces</vt:lpstr>
      <vt:lpstr>XML Schemas</vt:lpstr>
      <vt:lpstr>XML Schemas</vt:lpstr>
      <vt:lpstr>XSL - EXtensible Stylesheet Language</vt:lpstr>
      <vt:lpstr>XSL - EXtensible Stylesheet Language</vt:lpstr>
      <vt:lpstr>XSL - EXtensible Stylesheet Language</vt:lpstr>
      <vt:lpstr>XML Reference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dhivya</dc:creator>
  <cp:lastModifiedBy>Dhivya Sai</cp:lastModifiedBy>
  <cp:revision>314</cp:revision>
  <dcterms:created xsi:type="dcterms:W3CDTF">2006-08-16T00:00:00Z</dcterms:created>
  <dcterms:modified xsi:type="dcterms:W3CDTF">2026-07-25T08:16:55Z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0x0101001E175299C810F543A894A18A31124B54</vt:lpwstr>
  </property>
</Properties>
</file>